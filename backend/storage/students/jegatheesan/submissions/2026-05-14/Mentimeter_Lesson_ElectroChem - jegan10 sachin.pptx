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B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2926080"/>
            <a:ext cx="3657600" cy="3657600"/>
          </a:xfrm>
          <a:prstGeom prst="ellipse">
            <a:avLst/>
          </a:prstGeom>
          <a:solidFill>
            <a:srgbClr val="EC4899">
              <a:alpha val="20000"/>
            </a:srgbClr>
          </a:solidFill>
          <a:ln w="12700">
            <a:solidFill>
              <a:srgbClr val="EC4899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0" y="4114800"/>
            <a:ext cx="2286000" cy="2286000"/>
          </a:xfrm>
          <a:prstGeom prst="ellipse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1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CBSE Class 12 | Chemistry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078992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Electrochemistry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Chemical Kinetics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731520" y="2971800"/>
            <a:ext cx="2514600" cy="475488"/>
          </a:xfrm>
          <a:prstGeom prst="rect">
            <a:avLst/>
          </a:prstGeom>
          <a:solidFill>
            <a:srgbClr val="7C3AED">
              <a:alpha val="70000"/>
            </a:srgbClr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99008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Energy from Reactions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2971800"/>
            <a:ext cx="2514600" cy="475488"/>
          </a:xfrm>
          <a:prstGeom prst="rect">
            <a:avLst/>
          </a:prstGeom>
          <a:solidFill>
            <a:srgbClr val="7C3AED">
              <a:alpha val="70000"/>
            </a:srgbClr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299008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🔋 Electricity &amp; Cells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971800"/>
            <a:ext cx="2514600" cy="475488"/>
          </a:xfrm>
          <a:prstGeom prst="rect">
            <a:avLst/>
          </a:prstGeom>
          <a:solidFill>
            <a:srgbClr val="7C3AED">
              <a:alpha val="70000"/>
            </a:srgbClr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299008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Reaction Speed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48056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40–60 Minutes  |  Mentimeter Interactive Lesson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Around You! — Icebreaker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132320" y="109728"/>
            <a:ext cx="1783080" cy="7132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50608" y="13716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Word Cloud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123444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61288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you see chemistry producing energy in daily life?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194560" y="26060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566160" y="24871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54880" y="25786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Candle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852160" y="2514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315200" y="25786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Fireworks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71600" y="3246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926080" y="3291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Rocket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327355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Heat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3200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solidFill>
            <a:srgbClr val="EDE9FE"/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95020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Go to menti.com | Enter code | Type your answer!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1B69">
              <a:alpha val="15000"/>
            </a:srgbClr>
          </a:solidFill>
          <a:ln w="12700">
            <a:solidFill>
              <a:srgbClr val="2D1B69">
                <a:alpha val="1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Teacher Note: Read the largest words aloud and connect them to electrochemistry or kinetics.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Electrochemistry?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8288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24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CONTENT SLIDE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4114800" cy="1188720"/>
          </a:xfrm>
          <a:prstGeom prst="rect">
            <a:avLst/>
          </a:prstGeom>
          <a:solidFill>
            <a:srgbClr val="F5F3FF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54480"/>
            <a:ext cx="822960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1051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80160" y="16642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Conversion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208483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chemical energy ↔ electrical energy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00600" y="1554480"/>
            <a:ext cx="4114800" cy="1188720"/>
          </a:xfrm>
          <a:prstGeom prst="rect">
            <a:avLst/>
          </a:prstGeom>
          <a:solidFill>
            <a:srgbClr val="F5F3FF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554480"/>
            <a:ext cx="822960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81051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715000" y="16642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Redox Reactions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715000" y="208483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Oxidation &amp; reduction happen simultaneously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2971800"/>
            <a:ext cx="4114800" cy="1188720"/>
          </a:xfrm>
          <a:prstGeom prst="rect">
            <a:avLst/>
          </a:prstGeom>
          <a:solidFill>
            <a:srgbClr val="F5F3FF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971800"/>
            <a:ext cx="822960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22783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80160" y="30815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Transfer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350215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Electrons move from anode → cathode via wire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00600" y="2971800"/>
            <a:ext cx="4114800" cy="1188720"/>
          </a:xfrm>
          <a:prstGeom prst="rect">
            <a:avLst/>
          </a:prstGeom>
          <a:solidFill>
            <a:srgbClr val="F5F3FF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2971800"/>
            <a:ext cx="822960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322783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🔋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715000" y="30815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Batteries &amp; Cells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715000" y="350215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of all batteries and fuel cells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1B69">
              <a:alpha val="15000"/>
            </a:srgbClr>
          </a:solidFill>
          <a:ln w="12700">
            <a:solidFill>
              <a:srgbClr val="2D1B69">
                <a:alpha val="1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Teacher Note: Use a phone battery example — students already understand it!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Galvanic Cell — The Original Battery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8288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24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CONTENT SLIDE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3931920" cy="91440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544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Mnemonic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85623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 Ox, Red Cat"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4871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Anode = Oxidation  |  Cathode = Reduction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1508760"/>
            <a:ext cx="2057400" cy="306324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1508760"/>
            <a:ext cx="2057400" cy="4754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517904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ANODE (–)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20848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Zinc electrode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2468880"/>
            <a:ext cx="1874520" cy="502920"/>
          </a:xfrm>
          <a:prstGeom prst="rect">
            <a:avLst/>
          </a:prstGeom>
          <a:solidFill>
            <a:srgbClr val="F97316">
              <a:alpha val="20000"/>
            </a:srgbClr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4688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 → Zn²⁺ + 2e⁻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9160" y="306324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Oxidation occurs here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Electrons flow OUT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766560" y="1508760"/>
            <a:ext cx="2057400" cy="3063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0" y="1508760"/>
            <a:ext cx="2057400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517904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CATHODE (+)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0" y="20848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 electrode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0" y="2468880"/>
            <a:ext cx="1874520" cy="502920"/>
          </a:xfrm>
          <a:prstGeom prst="rect">
            <a:avLst/>
          </a:prstGeom>
          <a:solidFill>
            <a:srgbClr val="10B981">
              <a:alpha val="2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24688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Cu²⁺ + 2e⁻ → Cu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306324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occurs here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Electrons flow IN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577840" y="2834640"/>
            <a:ext cx="1188720" cy="320040"/>
          </a:xfrm>
          <a:prstGeom prst="rect">
            <a:avLst/>
          </a:prstGeom>
          <a:solidFill>
            <a:srgbClr val="A78BFA">
              <a:alpha val="6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0" y="28529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Bridge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1B69">
              <a:alpha val="15000"/>
            </a:srgbClr>
          </a:solidFill>
          <a:ln w="12700">
            <a:solidFill>
              <a:srgbClr val="2D1B69">
                <a:alpha val="1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Teacher Note: Daniell Cell demo visual recommended. Use 'An Ox, Red Cat' for students to memorize.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Concept Poll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132320" y="109728"/>
            <a:ext cx="1783080" cy="7132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50608" y="13716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Multiple Choice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430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OXIDATION occur in a galvanic cell?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3931920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286000"/>
            <a:ext cx="50292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8600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3774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286000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2286000"/>
            <a:ext cx="50292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28600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12080" y="23774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Cathode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71800"/>
            <a:ext cx="50292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7180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0632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Bridge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2971800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971800"/>
            <a:ext cx="50292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97180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12080" y="30632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Electrolyte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8229600" cy="685800"/>
          </a:xfrm>
          <a:prstGeom prst="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81304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Correct Answer: A — Anode (Oxidation). Remember: An Ox, Red Cat!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1B69">
              <a:alpha val="15000"/>
            </a:srgbClr>
          </a:solidFill>
          <a:ln w="12700">
            <a:solidFill>
              <a:srgbClr val="2D1B69">
                <a:alpha val="1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Teacher Note: Discuss why students selected wrong answers. Ask volunteers to justify their choices.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Potential &amp; Energy (EMF)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8288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24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CONTENT SLIDE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4069080" cy="1143000"/>
          </a:xfrm>
          <a:prstGeom prst="rect">
            <a:avLst/>
          </a:prstGeom>
          <a:solidFill>
            <a:srgbClr val="F5F3FF"/>
          </a:solidFill>
          <a:ln w="1016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21208" y="1755648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7556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16002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34440" y="2011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Volts (V)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00600" y="1508760"/>
            <a:ext cx="4069080" cy="1143000"/>
          </a:xfrm>
          <a:prstGeom prst="rect">
            <a:avLst/>
          </a:prstGeom>
          <a:solidFill>
            <a:srgbClr val="F5F3FF"/>
          </a:solidFill>
          <a:ln w="1016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10328" y="1755648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17556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23560" y="16002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E°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23560" y="2011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Spontaneous ✅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11480" y="2880360"/>
            <a:ext cx="4069080" cy="1143000"/>
          </a:xfrm>
          <a:prstGeom prst="rect">
            <a:avLst/>
          </a:prstGeom>
          <a:solidFill>
            <a:srgbClr val="F5F3FF"/>
          </a:solidFill>
          <a:ln w="1016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1208" y="3127248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31272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29718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voltage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34440" y="3383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energy stored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00600" y="2880360"/>
            <a:ext cx="4069080" cy="1143000"/>
          </a:xfrm>
          <a:prstGeom prst="rect">
            <a:avLst/>
          </a:prstGeom>
          <a:solidFill>
            <a:srgbClr val="F5F3FF"/>
          </a:solidFill>
          <a:ln w="1016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10328" y="3127248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0328" y="31272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⚗️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623560" y="29718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23560" y="3383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Reactants used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1B69">
              <a:alpha val="15000"/>
            </a:srgbClr>
          </a:solidFill>
          <a:ln w="12700">
            <a:solidFill>
              <a:srgbClr val="2D1B69">
                <a:alpha val="1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Teacher Note: Relate voltage to phone battery performance — higher mAh &amp; voltage = more usage time.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Electrolysis — Using Electricity to Drive Reactions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8288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24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CONTENT SLIDE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59436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36192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Energy → Chemical Energy (Non-spontaneous reaction forced by external source)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417320" y="2359152"/>
            <a:ext cx="822960" cy="8229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235915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💎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66928" y="329184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Electroplating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3721608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Jewelry coated in gold/silver; rust-proofing car parts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37560" y="228600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97680" y="2359152"/>
            <a:ext cx="822960" cy="8229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235915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🏗️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47288" y="329184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Extraction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47288" y="3721608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Aluminum extracted from bauxite using electrolysis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228600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78040" y="2359152"/>
            <a:ext cx="822960" cy="8229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78040" y="235915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27648" y="329184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Purification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27648" y="3721608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 purified to 99.9% purity in industry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1B69">
              <a:alpha val="15000"/>
            </a:srgbClr>
          </a:solidFill>
          <a:ln w="12700">
            <a:solidFill>
              <a:srgbClr val="2D1B69">
                <a:alpha val="1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Teacher Note: Connect to jewelry coating and aluminum extraction in everyday contexts.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1B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Application Challenge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132320" y="109728"/>
            <a:ext cx="1783080" cy="7132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50608" y="13716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Open Question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0" y="457200"/>
            <a:ext cx="3200400" cy="32004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43000"/>
            <a:ext cx="8046720" cy="141732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207008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electrochemistry important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electric vehicles?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1920240" cy="548640"/>
          </a:xfrm>
          <a:prstGeom prst="rect">
            <a:avLst/>
          </a:prstGeom>
          <a:solidFill>
            <a:srgbClr val="7C3AED">
              <a:alpha val="60000"/>
            </a:srgbClr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761488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Think about batteries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6040" y="2743200"/>
            <a:ext cx="1920240" cy="548640"/>
          </a:xfrm>
          <a:prstGeom prst="rect">
            <a:avLst/>
          </a:prstGeom>
          <a:solidFill>
            <a:srgbClr val="7C3AED">
              <a:alpha val="60000"/>
            </a:srgbClr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2761488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Sustainability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743200"/>
            <a:ext cx="1920240" cy="548640"/>
          </a:xfrm>
          <a:prstGeom prst="rect">
            <a:avLst/>
          </a:prstGeom>
          <a:solidFill>
            <a:srgbClr val="7C3AED">
              <a:alpha val="60000"/>
            </a:srgbClr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761488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Energy storage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20840" y="2743200"/>
            <a:ext cx="1920240" cy="548640"/>
          </a:xfrm>
          <a:prstGeom prst="rect">
            <a:avLst/>
          </a:prstGeom>
          <a:solidFill>
            <a:srgbClr val="7C3AED">
              <a:alpha val="60000"/>
            </a:srgbClr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2761488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Charging process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8046720" cy="594360"/>
          </a:xfrm>
          <a:prstGeom prst="rect">
            <a:avLst/>
          </a:prstGeom>
          <a:solidFill>
            <a:srgbClr val="EC4899">
              <a:alpha val="8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511296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Type your answer on Mentimeter! Share your thoughts.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1B69">
              <a:alpha val="15000"/>
            </a:srgbClr>
          </a:solidFill>
          <a:ln w="12700">
            <a:solidFill>
              <a:srgbClr val="2D1B69">
                <a:alpha val="1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Teacher Note: Encourage students to think about sustainability, batteries, charging, and energy storage.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Chemical Kinetics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828800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24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CONTENT SLIDE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 Reaction Rates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3931920" cy="2560320"/>
          </a:xfrm>
          <a:prstGeom prst="rect">
            <a:avLst/>
          </a:prstGeom>
          <a:solidFill>
            <a:srgbClr val="F5F3FF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03120"/>
            <a:ext cx="3931920" cy="59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2140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 FAST REACTIONS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Explosions, burning, acid reactions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79476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collision frequency &amp; energy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3931920" cy="2560320"/>
          </a:xfrm>
          <a:prstGeom prst="rect">
            <a:avLst/>
          </a:prstGeom>
          <a:solidFill>
            <a:srgbClr val="F5F3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2103120"/>
            <a:ext cx="393192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12140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🦀  SLOW REACTIONS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7760" y="2834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Rusting iron, food spoiling, rock weathering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379476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collision frequency &amp; energy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1B69">
              <a:alpha val="15000"/>
            </a:srgbClr>
          </a:solidFill>
          <a:ln w="12700">
            <a:solidFill>
              <a:srgbClr val="2D1B69">
                <a:alpha val="1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Teacher Note: Compare rusting vs explosion — ask: which reaction would you want to control and why?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Affecting Reaction Rate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8288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24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CONTENT SLIDE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4160520" cy="1536192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63040"/>
            <a:ext cx="685800" cy="15361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847088"/>
            <a:ext cx="658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155448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93852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Temp → ↑ kinetic energy → more effective collisions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24688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Refrigeration slows food spoilage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463040"/>
            <a:ext cx="4160520" cy="1536192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463040"/>
            <a:ext cx="685800" cy="15361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847088"/>
            <a:ext cx="658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⚗️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532120" y="155448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532120" y="193852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Conc → ↑ collision frequency → faster reaction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532120" y="24688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Concentrated acid reacts faster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182112"/>
            <a:ext cx="4160520" cy="1536192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182112"/>
            <a:ext cx="685800" cy="15361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3566160"/>
            <a:ext cx="658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97280" y="327355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Area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365760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area exposed → more reaction sites available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7280" y="418795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Powdered sugar burns faster than lumps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182112"/>
            <a:ext cx="4160520" cy="1536192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182112"/>
            <a:ext cx="685800" cy="15361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3566160"/>
            <a:ext cx="658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532120" y="327355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Catalyst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32120" y="365760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Lowers activation energy — provides alternate pathway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32120" y="418795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Enzymes in our body speed up reactions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1B69">
              <a:alpha val="15000"/>
            </a:srgbClr>
          </a:solidFill>
          <a:ln w="12700">
            <a:solidFill>
              <a:srgbClr val="2D1B69">
                <a:alpha val="1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Teacher Note: Use relatable examples — refrigeration, powdered sugar, enzyme digestion, catalytic converters.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1B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Rate Quiz — Knowledge Check #1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132320" y="109728"/>
            <a:ext cx="1783080" cy="7132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50608" y="13716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Quiz 🏆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8229600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15568"/>
            <a:ext cx="79552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factor increases reaction rate MOST by lowering activation energy?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3977640" cy="658368"/>
          </a:xfrm>
          <a:prstGeom prst="rect">
            <a:avLst/>
          </a:prstGeom>
          <a:solidFill>
            <a:srgbClr val="2D3561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42316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Temperature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54880" y="2331720"/>
            <a:ext cx="397764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242316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Catalyst ⭐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3977640" cy="658368"/>
          </a:xfrm>
          <a:prstGeom prst="rect">
            <a:avLst/>
          </a:prstGeom>
          <a:solidFill>
            <a:srgbClr val="2D3561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24612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Pressure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754880" y="3154680"/>
            <a:ext cx="3977640" cy="658368"/>
          </a:xfrm>
          <a:prstGeom prst="rect">
            <a:avLst/>
          </a:prstGeom>
          <a:solidFill>
            <a:srgbClr val="2D3561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324612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Concentration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1605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Enable leaderboard for excitement! Celebrate top scorers.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1B69">
              <a:alpha val="15000"/>
            </a:srgbClr>
          </a:solidFill>
          <a:ln w="12700">
            <a:solidFill>
              <a:srgbClr val="2D1B69">
                <a:alpha val="1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Teacher Note: Answer: B — Catalyst. Temperature speeds reactions but doesn't lower Ea; catalysts do.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Energy — The Energy Barrier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8288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24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CONTENT SLIDE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029200" cy="3246120"/>
          </a:xfrm>
          <a:prstGeom prst="rect">
            <a:avLst/>
          </a:prstGeom>
          <a:solidFill>
            <a:srgbClr val="F5F3FF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002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⛰️  The Hill Analogy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931920"/>
            <a:ext cx="448056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2560320"/>
            <a:ext cx="1920240" cy="1371600"/>
          </a:xfrm>
          <a:prstGeom prst="ellipse">
            <a:avLst/>
          </a:prstGeom>
          <a:solidFill>
            <a:srgbClr val="A78BFA">
              <a:alpha val="5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27889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3657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Reactants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66160" y="36576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Catalyst path (lower hill)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0" y="160020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energy needed for a reaction to occur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669280" y="2350008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collisions must have energy ≥ Ea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669280" y="3099816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Catalysts lower Ea → alternate reaction pathway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669280" y="3849624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Ea = faster reaction at same temperature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1B69">
              <a:alpha val="15000"/>
            </a:srgbClr>
          </a:solidFill>
          <a:ln w="12700">
            <a:solidFill>
              <a:srgbClr val="2D1B69">
                <a:alpha val="1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Teacher Note: Use hill-climbing analogy — you need energy to get over the hill before rolling down.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Theory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8288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24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CONTENT SLIDE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731520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0876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98448" y="147218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Must Collide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98448" y="181965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collision = no reaction, no matter how much energy is present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258568"/>
            <a:ext cx="822960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EC489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258568"/>
            <a:ext cx="731520" cy="7132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350008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98448" y="23134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Orientation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98448" y="266090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Molecules must approach at the right angle for bonds to break/form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99816"/>
            <a:ext cx="822960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99816"/>
            <a:ext cx="731520" cy="7132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91256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98448" y="31546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Sufficient Energy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98448" y="350215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energy must be ≥ Activation Energy (Ea)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941064"/>
            <a:ext cx="822960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941064"/>
            <a:ext cx="73152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032504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98448" y="39959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Collisions = Faster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98448" y="434340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Temperature / ↑ Concentration → more frequent collisions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1B69">
              <a:alpha val="15000"/>
            </a:srgbClr>
          </a:solidFill>
          <a:ln w="12700">
            <a:solidFill>
              <a:srgbClr val="2D1B69">
                <a:alpha val="1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Teacher Note: Demonstrate with students using soft balls — show collision angle matters!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Your Confidence!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132320" y="109728"/>
            <a:ext cx="1783080" cy="7132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50608" y="13716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Scale Rating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114300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43000"/>
            <a:ext cx="7955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confident are you in explaining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catalysts speed up reactions?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94360" y="2423160"/>
            <a:ext cx="1280160" cy="12801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4688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" y="37947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Confused 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58568" y="2423160"/>
            <a:ext cx="1280160" cy="12801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258568" y="24688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167128" y="37947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Unsure 😟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922776" y="2423160"/>
            <a:ext cx="1280160" cy="1280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922776" y="24688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831336" y="37947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86984" y="2423160"/>
            <a:ext cx="1280160" cy="1280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86984" y="24688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495544" y="37947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😊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51192" y="2423160"/>
            <a:ext cx="1280160" cy="12801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51192" y="24688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159752" y="37947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🎯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solidFill>
            <a:srgbClr val="EC4899">
              <a:alpha val="8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553712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Vote on Mentimeter — your teacher will use results to decide what to revisit!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1B69">
              <a:alpha val="15000"/>
            </a:srgbClr>
          </a:solidFill>
          <a:ln w="12700">
            <a:solidFill>
              <a:srgbClr val="2D1B69">
                <a:alpha val="1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Teacher Note: Use responses to decide whether reteaching is needed before moving on.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 Electrochemistry &amp; Kinetics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8288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24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CONTENT SLIDE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377440" cy="2377440"/>
          </a:xfrm>
          <a:prstGeom prst="ellipse">
            <a:avLst/>
          </a:prstGeom>
          <a:solidFill>
            <a:srgbClr val="7C3AED">
              <a:alpha val="80000"/>
            </a:srgbClr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36192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⚗️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54203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80360" y="2651760"/>
            <a:ext cx="54864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25146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017520" y="1463040"/>
            <a:ext cx="2377440" cy="2377440"/>
          </a:xfrm>
          <a:prstGeom prst="ellipse">
            <a:avLst/>
          </a:prstGeom>
          <a:solidFill>
            <a:srgbClr val="EC4899">
              <a:alpha val="80000"/>
            </a:srgbClr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1536192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017520" y="254203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40680" y="2651760"/>
            <a:ext cx="54864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25146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577840" y="1463040"/>
            <a:ext cx="2377440" cy="2377440"/>
          </a:xfrm>
          <a:prstGeom prst="ellipse">
            <a:avLst/>
          </a:prstGeom>
          <a:solidFill>
            <a:srgbClr val="0D9488">
              <a:alpha val="80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1536192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🔋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577840" y="254203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93192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involve energy changes during chemical reactions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18795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transfer rate affects current produced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44398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performance depends on reaction speed (kinetics)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70001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chemistry uses both for efficiency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1B69">
              <a:alpha val="15000"/>
            </a:srgbClr>
          </a:solidFill>
          <a:ln w="12700">
            <a:solidFill>
              <a:srgbClr val="2D1B69">
                <a:alpha val="1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Teacher Note: Emphasize the lesson objective connection — these topics are not isolated.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D1B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Discussion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132320" y="109728"/>
            <a:ext cx="1783080" cy="7132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50608" y="13716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Open Discussion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-457200" y="2286000"/>
            <a:ext cx="2743200" cy="27432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15568"/>
            <a:ext cx="8046720" cy="1554480"/>
          </a:xfrm>
          <a:prstGeom prst="rect">
            <a:avLst/>
          </a:prstGeom>
          <a:solidFill>
            <a:srgbClr val="7C3AED">
              <a:alpha val="9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170432"/>
            <a:ext cx="77724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society fully switch to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battery-powered transportation?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or why not?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4069080" cy="187452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803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3886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direct emissions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611880"/>
            <a:ext cx="3886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running costs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931920"/>
            <a:ext cx="3886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Electrochemistry in action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251960"/>
            <a:ext cx="3886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independence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2834640"/>
            <a:ext cx="4069080" cy="1874520"/>
          </a:xfrm>
          <a:prstGeom prst="rect">
            <a:avLst/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28803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AGAINST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3291840"/>
            <a:ext cx="3886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disposal issues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3611880"/>
            <a:ext cx="3886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electricity source?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3931920"/>
            <a:ext cx="3886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gaps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4251960"/>
            <a:ext cx="3886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initial cost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1B69">
              <a:alpha val="15000"/>
            </a:srgbClr>
          </a:solidFill>
          <a:ln w="12700">
            <a:solidFill>
              <a:srgbClr val="2D1B69">
                <a:alpha val="1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Teacher Note: Promote respectful debate. Encourage scientific reasoning and environmental perspectives.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D1B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⚔️ Chemistry Battle Challenge!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132320" y="109728"/>
            <a:ext cx="1783080" cy="7132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50608" y="13716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Quiz 🏆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8229600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15568"/>
            <a:ext cx="7955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reaction would occur FASTEST?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3977640" cy="658368"/>
          </a:xfrm>
          <a:prstGeom prst="rect">
            <a:avLst/>
          </a:prstGeom>
          <a:solidFill>
            <a:srgbClr val="2D3561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46888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Cold dilute acid + marble chips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754880" y="2377440"/>
            <a:ext cx="397764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246888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Hot concentrated acid + powder ⭐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3977640" cy="658368"/>
          </a:xfrm>
          <a:prstGeom prst="rect">
            <a:avLst/>
          </a:prstGeom>
          <a:solidFill>
            <a:srgbClr val="2D3561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29184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Cold concentrated acid + lump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754880" y="3200400"/>
            <a:ext cx="3977640" cy="658368"/>
          </a:xfrm>
          <a:prstGeom prst="rect">
            <a:avLst/>
          </a:prstGeom>
          <a:solidFill>
            <a:srgbClr val="2D3561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329184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Room temp dilute acid + lump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206240"/>
            <a:ext cx="795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Use timer + leaderboard! Hot + concentrated + powder = ALL factors combined!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1B69">
              <a:alpha val="15000"/>
            </a:srgbClr>
          </a:solidFill>
          <a:ln w="12700">
            <a:solidFill>
              <a:srgbClr val="2D1B69">
                <a:alpha val="1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Teacher Note: B is correct — hot=temperature, concentrated=concentration, powder=surface area.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Uses of Electrochemistry &amp; Kinetics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8288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24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CONTENT SLIDE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2788920" cy="1508760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63040"/>
            <a:ext cx="278892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2704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🔋  Batteries &amp; Fuel Cells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20574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phones, EVs, satellites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463040"/>
            <a:ext cx="2788920" cy="1508760"/>
          </a:xfrm>
          <a:prstGeom prst="rect">
            <a:avLst/>
          </a:prstGeom>
          <a:solidFill>
            <a:srgbClr val="F5F3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463040"/>
            <a:ext cx="2788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52704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🥫  Food Preservation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37560" y="20574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Refrigeration slows spoilage reactions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463040"/>
            <a:ext cx="2788920" cy="1508760"/>
          </a:xfrm>
          <a:prstGeom prst="rect">
            <a:avLst/>
          </a:prstGeom>
          <a:solidFill>
            <a:srgbClr val="F5F3FF"/>
          </a:solidFill>
          <a:ln w="19050">
            <a:solidFill>
              <a:srgbClr val="EC489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463040"/>
            <a:ext cx="2788920" cy="5029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52704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 Medicines &amp; Catalysts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63640" y="20574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synthesis uses catalysis; enzyme kinetics in pharma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154680"/>
            <a:ext cx="2788920" cy="1508760"/>
          </a:xfrm>
          <a:prstGeom prst="rect">
            <a:avLst/>
          </a:prstGeom>
          <a:solidFill>
            <a:srgbClr val="F5F3FF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154680"/>
            <a:ext cx="278892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21868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Corrosion Prevention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11480" y="37490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Galvanizing, painting, alloys protect metals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3154680"/>
            <a:ext cx="2788920" cy="1508760"/>
          </a:xfrm>
          <a:prstGeom prst="rect">
            <a:avLst/>
          </a:prstGeom>
          <a:solidFill>
            <a:srgbClr val="F5F3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46120" y="3154680"/>
            <a:ext cx="2788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321868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 Solar &amp; Renewable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337560" y="37490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Photovoltaic cells convert light to electricity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3154680"/>
            <a:ext cx="2788920" cy="1508760"/>
          </a:xfrm>
          <a:prstGeom prst="rect">
            <a:avLst/>
          </a:prstGeom>
          <a:solidFill>
            <a:srgbClr val="F5F3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72200" y="3154680"/>
            <a:ext cx="278892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321868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Industrial Chemistry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263640" y="37490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Haber process, catalytic converters use kinetics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1B69">
              <a:alpha val="15000"/>
            </a:srgbClr>
          </a:solidFill>
          <a:ln w="12700">
            <a:solidFill>
              <a:srgbClr val="2D1B69">
                <a:alpha val="1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Teacher Note: Ask students to identify which application affects them most personally today.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D1B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Knowledge Check — Quiz #2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132320" y="109728"/>
            <a:ext cx="1783080" cy="7132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50608" y="13716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Quiz 🏆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8229600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15568"/>
            <a:ext cx="7955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electrolysis, electrical energy is converted into: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3977640" cy="658368"/>
          </a:xfrm>
          <a:prstGeom prst="rect">
            <a:avLst/>
          </a:prstGeom>
          <a:solidFill>
            <a:srgbClr val="2D3561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51460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Mechanical energy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54880" y="2423160"/>
            <a:ext cx="3977640" cy="658368"/>
          </a:xfrm>
          <a:prstGeom prst="rect">
            <a:avLst/>
          </a:prstGeom>
          <a:solidFill>
            <a:srgbClr val="2D3561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251460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Light energy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397764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33756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Chemical energy ⭐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754880" y="3246120"/>
            <a:ext cx="3977640" cy="658368"/>
          </a:xfrm>
          <a:prstGeom prst="rect">
            <a:avLst/>
          </a:prstGeom>
          <a:solidFill>
            <a:srgbClr val="2D3561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333756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Sound energy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206240"/>
            <a:ext cx="795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 is correct! Electrolysis uses electrical energy to drive chemical reactions (non-spontaneous).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1B69">
              <a:alpha val="15000"/>
            </a:srgbClr>
          </a:solidFill>
          <a:ln w="12700">
            <a:solidFill>
              <a:srgbClr val="2D1B69">
                <a:alpha val="1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Teacher Note: Discuss common misconception — students often confuse electrolysis with energy loss.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D1B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3200400" cy="3200400"/>
          </a:xfrm>
          <a:prstGeom prst="ellipse">
            <a:avLst/>
          </a:prstGeom>
          <a:solidFill>
            <a:srgbClr val="EC4899">
              <a:alpha val="20000"/>
            </a:srgbClr>
          </a:solidFill>
          <a:ln w="12700">
            <a:solidFill>
              <a:srgbClr val="EC4899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Mission Complete — Exit Ticket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132320" y="109728"/>
            <a:ext cx="1783080" cy="7132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50608" y="13716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Open Question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078992"/>
            <a:ext cx="8229600" cy="1325880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115568"/>
            <a:ext cx="79552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ONE concept from today's lesson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you can explain confidently now?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Journey: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971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Electrochemistry converts chemical ↔ electrical energy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264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🔋 Galvanic cells produce electricity; electrolysis uses it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5570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Chemical kinetics = study of reaction rates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3849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⚗️ Catalysts lower Ea &amp; speed up reactions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4142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Both power our world — batteries, food, medicine!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480560"/>
            <a:ext cx="8229600" cy="384048"/>
          </a:xfrm>
          <a:prstGeom prst="rect">
            <a:avLst/>
          </a:prstGeom>
          <a:solidFill>
            <a:srgbClr val="7C3AED">
              <a:alpha val="80000"/>
            </a:srgbClr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49884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"Chemical reactions are transformations of energy that power our world."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Electrochemistry &amp; Chemical Kinetics - Mentimeter Lesson Plan</dc:title>
  <dc:subject>PptxGenJS Presentation</dc:subject>
  <dc:creator>PptxGenJS</dc:creator>
  <cp:lastModifiedBy>PptxGenJS</cp:lastModifiedBy>
  <cp:revision>1</cp:revision>
  <dcterms:created xsi:type="dcterms:W3CDTF">2026-05-14T20:36:26Z</dcterms:created>
  <dcterms:modified xsi:type="dcterms:W3CDTF">2026-05-14T20:36:26Z</dcterms:modified>
</cp:coreProperties>
</file>