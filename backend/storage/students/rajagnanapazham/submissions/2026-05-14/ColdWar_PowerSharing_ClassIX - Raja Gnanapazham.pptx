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>
              <a:alpha val="45000"/>
            </a:srgbClr>
          </a:solidFill>
          <a:ln w="12700">
            <a:solidFill>
              <a:srgbClr val="0D1B3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1783080"/>
            <a:ext cx="1554480" cy="155448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94760" y="17830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288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🦅  Capitalism  |  Democracy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4068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USSR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4068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☭  Communism  |  One-Party State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7315200" cy="822960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337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Cold War Era &amp; Power Sharing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Class IX  •  Political Science  •  CBSE / NCERT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60-Minute Classroom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00584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61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🌍  What is the Cold War?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0–10 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04288"/>
            <a:ext cx="4114800" cy="10058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3682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📍  Key Events &amp; Timeline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852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10–20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11296"/>
            <a:ext cx="4114800" cy="100584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5753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🤝  Non-Aligned Movement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0599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20–30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161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⚖️  Power Sharing – Concept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30–40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4114800" cy="10058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3682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🎮  Activity &amp; Discussion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852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40–50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11296"/>
            <a:ext cx="4114800" cy="1005840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5753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Quiz Time!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40599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50–60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A World Divided…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383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819"/>
                </a:solidFill>
              </a:rPr>
              <a:t>August 1961, Berlin, Germany…
</a:t>
            </a:r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A city wakes up to find a WALL has been built overnight — cutting families apart.
Neighbours can no longer visit neighbours.
A sister can't reach her brother.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was the BERLIN WALL — the most visible symbol of the Cold War.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1097280"/>
            <a:ext cx="3017520" cy="713232"/>
          </a:xfrm>
          <a:prstGeom prst="rect">
            <a:avLst/>
          </a:prstGeom>
          <a:solidFill>
            <a:srgbClr val="1B5299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1133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1945–1991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Duration of Cold War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38528"/>
            <a:ext cx="3017520" cy="713232"/>
          </a:xfrm>
          <a:prstGeom prst="rect">
            <a:avLst/>
          </a:prstGeom>
          <a:solidFill>
            <a:srgbClr val="C1121F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975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 Superpowers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8932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USA vs USSR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779776"/>
            <a:ext cx="3017520" cy="713232"/>
          </a:xfrm>
          <a:prstGeom prst="rect">
            <a:avLst/>
          </a:prstGeom>
          <a:solidFill>
            <a:srgbClr val="1B5299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816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155 km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89320" y="3145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Length of Berlin Wall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621024"/>
            <a:ext cx="3017520" cy="713232"/>
          </a:xfrm>
          <a:prstGeom prst="rect">
            <a:avLst/>
          </a:prstGeom>
          <a:solidFill>
            <a:srgbClr val="C1121F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Direct battles fought!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553712"/>
            <a:ext cx="8595360" cy="457200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💬 Ask Class: Have you ever felt you had to 'choose sides'? What did it feel like?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Cold War?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96012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"A state of political TENSION and MILITARY rivalry between nations — without direct armed conflict."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176272"/>
            <a:ext cx="2651760" cy="141732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2231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 HOT WAR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6060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Direct military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battles between nations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176272"/>
            <a:ext cx="2651760" cy="141732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2231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🔵  COLD WAR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6060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Tensions, threats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proxy wars — no direct clash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176272"/>
            <a:ext cx="2651760" cy="141732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0488" y="2231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🟢  COLD PEACE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0488" y="26060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Formal peace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underlying rivalry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730752"/>
            <a:ext cx="8503920" cy="868680"/>
          </a:xfrm>
          <a:prstGeom prst="rect">
            <a:avLst/>
          </a:prstGeom>
          <a:solidFill>
            <a:srgbClr val="FFF3CD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673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🧊  ANALOGY:  Think of it like two rivals in school — they never physically fight, but they glare, spread rumours, and compete for friends (allies)!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47274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📌 Visual: World map showing NATO (blue) vs Warsaw Pact (red) blocs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Origins of the Cold War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749040"/>
          </a:xfrm>
          <a:prstGeom prst="rect">
            <a:avLst/>
          </a:prstGeom>
          <a:solidFill>
            <a:srgbClr val="14254A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IDEOLOGICAL CLASH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691640" cy="45720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272" y="1600200"/>
            <a:ext cx="1874520" cy="4572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18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USA 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76272" y="161848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USSR 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1691640" cy="4572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6272" y="2194560"/>
            <a:ext cx="1874520" cy="457200"/>
          </a:xfrm>
          <a:prstGeom prst="rect">
            <a:avLst/>
          </a:prstGeom>
          <a:solidFill>
            <a:srgbClr val="6E1B1B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128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Capitalism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22128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Communism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1691640" cy="4572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6272" y="2788920"/>
            <a:ext cx="1874520" cy="457200"/>
          </a:xfrm>
          <a:prstGeom prst="rect">
            <a:avLst/>
          </a:prstGeom>
          <a:solidFill>
            <a:srgbClr val="6E1B1B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0720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Free Market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280720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State Economy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383280"/>
            <a:ext cx="1691640" cy="4572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76272" y="3383280"/>
            <a:ext cx="1874520" cy="457200"/>
          </a:xfrm>
          <a:prstGeom prst="rect">
            <a:avLst/>
          </a:prstGeom>
          <a:solidFill>
            <a:srgbClr val="6E1B1B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015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Democracy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76272" y="340156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One-Party Rule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977640"/>
            <a:ext cx="1691640" cy="4572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76272" y="3977640"/>
            <a:ext cx="1874520" cy="457200"/>
          </a:xfrm>
          <a:prstGeom prst="rect">
            <a:avLst/>
          </a:prstGeom>
          <a:solidFill>
            <a:srgbClr val="6E1B1B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9592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Individual Rights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76272" y="39959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Collective Rights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1097280"/>
            <a:ext cx="4389120" cy="777240"/>
          </a:xfrm>
          <a:prstGeom prst="rect">
            <a:avLst/>
          </a:prstGeom>
          <a:solidFill>
            <a:srgbClr val="0D2040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💣 Nuclear Arms Race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Both nations built thousands of nuclear weapons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2011680"/>
            <a:ext cx="4389120" cy="777240"/>
          </a:xfrm>
          <a:prstGeom prst="rect">
            <a:avLst/>
          </a:prstGeom>
          <a:solidFill>
            <a:srgbClr val="0D2040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0665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🌍 Post-WWII Vacuum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1772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Europe's collapse left USA &amp; USSR as only superpowers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2926080"/>
            <a:ext cx="4389120" cy="777240"/>
          </a:xfrm>
          <a:prstGeom prst="rect">
            <a:avLst/>
          </a:prstGeom>
          <a:solidFill>
            <a:srgbClr val="0D2040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🛡️ Truman Doctrine (1947)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177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USA pledged to stop spread of Communism worldwide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0560" y="3840480"/>
            <a:ext cx="4389120" cy="777240"/>
          </a:xfrm>
          <a:prstGeom prst="rect">
            <a:avLst/>
          </a:prstGeom>
          <a:solidFill>
            <a:srgbClr val="0D2040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895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📡 Propaganda War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1772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Both sides used media to win hearts and minds globally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💬 Ask: If both countries had nuclear weapons, why didn't they use them? (Lead to MAD – Mutual Assured Destruction)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War Timeline  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822960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331720"/>
            <a:ext cx="274320" cy="274320"/>
          </a:xfrm>
          <a:prstGeom prst="ellipse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600200"/>
            <a:ext cx="0" cy="731520"/>
          </a:xfrm>
          <a:prstGeom prst="line">
            <a:avLst/>
          </a:prstGeom>
          <a:noFill/>
          <a:ln w="19050">
            <a:solidFill>
              <a:srgbClr val="1B52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1371600" cy="59436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1945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WW2 Ends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Cold War Begins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75688" y="2331720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2848" y="2606040"/>
            <a:ext cx="0" cy="64008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2926080"/>
            <a:ext cx="1371600" cy="5943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1947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Doctrine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4448" y="2331720"/>
            <a:ext cx="274320" cy="274320"/>
          </a:xfrm>
          <a:prstGeom prst="ellipse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21608" y="1600200"/>
            <a:ext cx="0" cy="73152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914400"/>
            <a:ext cx="1371600" cy="59436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1961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Berlin Wall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47488" y="2331720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4648" y="2606040"/>
            <a:ext cx="0" cy="64008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926080"/>
            <a:ext cx="1371600" cy="5943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1962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Cuban Missile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Crisis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10528" y="2331720"/>
            <a:ext cx="274320" cy="274320"/>
          </a:xfrm>
          <a:prstGeom prst="ellipse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47688" y="1600200"/>
            <a:ext cx="0" cy="731520"/>
          </a:xfrm>
          <a:prstGeom prst="line">
            <a:avLst/>
          </a:prstGeom>
          <a:noFill/>
          <a:ln w="19050">
            <a:solidFill>
              <a:srgbClr val="2A7D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914400"/>
            <a:ext cx="1371600" cy="59436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914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1972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Nixon Visits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China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36408" y="2331720"/>
            <a:ext cx="274320" cy="274320"/>
          </a:xfrm>
          <a:prstGeom prst="ellipse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73568" y="2606040"/>
            <a:ext cx="0" cy="640080"/>
          </a:xfrm>
          <a:prstGeom prst="line">
            <a:avLst/>
          </a:prstGeom>
          <a:noFill/>
          <a:ln w="19050">
            <a:solidFill>
              <a:srgbClr val="1B52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926080"/>
            <a:ext cx="1371600" cy="59436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1991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9808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USSR Collapse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Cold War Ends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931920"/>
            <a:ext cx="8503920" cy="1005840"/>
          </a:xfrm>
          <a:prstGeom prst="rect">
            <a:avLst/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867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</a:rPr>
              <a:t>🚨  THE CUBAN MISSILE CRISIS (1962) — The World's Closest Brush with Nuclear War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4315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USSR placed nuclear missiles in Cuba (90 miles from USA). For 13 tense days, both sides stood at the brink. A US naval blockade and secret diplomacy finally resolved the crisis.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Was the Cold War Fought?  ⚔️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1B3A6E"/>
          </a:solidFill>
          <a:ln w="12700">
            <a:solidFill>
              <a:srgbClr val="8FA3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07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Space Race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Sputnik 1957 / Apollo 1969 — competing for the cosmos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6E1B1B"/>
          </a:solidFill>
          <a:ln w="12700">
            <a:solidFill>
              <a:srgbClr val="8FA3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07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Arms Race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30,000+ nuclear warheads stockpiled by each side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1B4D3E"/>
          </a:solidFill>
          <a:ln w="12700">
            <a:solidFill>
              <a:srgbClr val="8FA3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07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Propaganda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Hollywood vs Soviet cinema — war of ideas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4A2080"/>
          </a:solidFill>
          <a:ln w="12700">
            <a:solidFill>
              <a:srgbClr val="8FA3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081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⚽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Sports &amp; Olympics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1980 &amp; 1984 boycotts — medals as national pride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7A3B00"/>
          </a:solidFill>
          <a:ln w="12700">
            <a:solidFill>
              <a:srgbClr val="8FA3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81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Proxy Wars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Korea, Vietnam, Afghanistan — fighting through others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1B4D4D"/>
          </a:solidFill>
          <a:ln w="12700">
            <a:solidFill>
              <a:srgbClr val="8FA3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81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🕵️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19"/>
                </a:solidFill>
              </a:rPr>
              <a:t>Espionage &amp; Spies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CIA vs KGB — a real-life thriller worldwide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Non-Aligned Movement — India's Bold Stand 🇮🇳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5120640" cy="2697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D4F"/>
                </a:solidFill>
              </a:rPr>
              <a:t>Nehru's Vision — A Third Way
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When the world was forced to choose between Washington and Moscow, India's first Prime Minister Jawaharlal Nehru asked:
</a:t>
            </a:r>
            <a:pPr indent="0" marL="0">
              <a:buNone/>
            </a:pPr>
            <a:r>
              <a:rPr lang="en-US" sz="1400" b="1" i="1" dirty="0">
                <a:solidFill>
                  <a:srgbClr val="0D1B3E"/>
                </a:solidFill>
              </a:rPr>
              <a:t>"Why should we be slaves to either superpower?"
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India chose a third path — Non-Alignment — remaining neutral and independent in foreign policy.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078992"/>
            <a:ext cx="3200400" cy="59436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113385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📅  Founded 1961 in Belgrade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783080"/>
            <a:ext cx="3200400" cy="59436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83794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🌍  120+ member countries 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487168"/>
            <a:ext cx="3200400" cy="59436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5420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🇮🇳  Nehru, Nasser, Tito were founders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3191256"/>
            <a:ext cx="3200400" cy="59436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32461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🕊️  Panchsheel (5 Principles) as basis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95344"/>
            <a:ext cx="850392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04"/>
                </a:solidFill>
              </a:rPr>
              <a:t>🕊️ Panchsheel Principles (1954):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Mutual respect  •  Non-aggression  •  Non-interference  •  Equality  •  Peaceful coexistence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782312"/>
            <a:ext cx="8503920" cy="292608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82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💬 Discuss: Was India's non-alignment a sign of strength or weakness? Share your views!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Fall of the Wall — Cold War Ends (1991) 🏚️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5029200" cy="246888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A819"/>
                </a:solidFill>
              </a:rPr>
              <a:t>November 9, 1989
</a:t>
            </a:r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Thousands of jubilant Germans climbed atop the Berlin Wall with hammers and pickaxes. After 28 years, the wall came down.
</a:t>
            </a:r>
            <a:pPr indent="0" marL="0">
              <a:buNone/>
            </a:pPr>
            <a:r>
              <a:rPr lang="en-US" sz="1600" b="1" dirty="0">
                <a:solidFill>
                  <a:srgbClr val="F4A819"/>
                </a:solidFill>
              </a:rPr>
              <a:t>December 25, 1991
</a:t>
            </a:r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Mikhail Gorbachev resigned as President of the USSR. The Soviet flag was lowered for the last time. The Cold War was OVER.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1078992"/>
            <a:ext cx="324612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0" y="11064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19"/>
                </a:solidFill>
              </a:rPr>
              <a:t>📉 Economic Collapse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13533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</a:rPr>
              <a:t>Soviet economy unable to sustain military spending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1700784"/>
            <a:ext cx="324612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7282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19"/>
                </a:solidFill>
              </a:rPr>
              <a:t>🗣️ Glasnost &amp; Perestroika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1975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</a:rPr>
              <a:t>Gorbachev's reforms opened up Soviet society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322576"/>
            <a:ext cx="324612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350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19"/>
                </a:solidFill>
              </a:rPr>
              <a:t>✊ People's Movements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2596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</a:rPr>
              <a:t>Uprisings in Poland, Hungary, Czechoslovakia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944368"/>
            <a:ext cx="324612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971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19"/>
                </a:solidFill>
              </a:rPr>
              <a:t>🌐 US Pressure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32186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</a:rPr>
              <a:t>Reagan's 'Star Wars' SDI forced Soviet overreach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8503920" cy="777240"/>
          </a:xfrm>
          <a:prstGeom prst="rect">
            <a:avLst/>
          </a:prstGeom>
          <a:solidFill>
            <a:srgbClr val="1A3A1A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673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🌐 Legacy: 15 new nations emerged from the USSR. India, China, and the 'Global South' gained new foreign policy independence.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645152"/>
            <a:ext cx="8503920" cy="411480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3E"/>
                </a:solidFill>
              </a:rPr>
              <a:t>📌 Visual Suggestion: Photo of Berlin Wall fall / Soviet flag being lowered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Sharing — Why Does It Matter?  ⚖️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solidFill>
            <a:srgbClr val="EDE7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3748"/>
                </a:solidFill>
              </a:rPr>
              <a:t>🧠  Think about your classroom: Would you prefer a school where the PRINCIPAL decides EVERYTHING? Or where students, teachers &amp; parents all have a say?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4114800" cy="2834640"/>
          </a:xfrm>
          <a:prstGeom prst="rect">
            <a:avLst/>
          </a:prstGeom>
          <a:solidFill>
            <a:srgbClr val="EDE7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84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</a:rPr>
              <a:t>What is Power Sharing?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3840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</a:rPr>
              <a:t>Power Sharing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 is the distribution of governmental authority among different groups, levels, and institutions in society.
</a:t>
            </a:r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WHY IT MATTERS: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✔ Prevents concentration of power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✔ Reduces conflict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✔ Ensures all groups are heard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✔ Builds stable democracy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993392"/>
            <a:ext cx="2103120" cy="128016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Horizontal Sharing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45059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Among organs of government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(Legislature, Executive, Judiciary)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993392"/>
            <a:ext cx="2103120" cy="128016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Vertical Sharing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245059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Across levels of government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(Central, State, Local)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410712"/>
            <a:ext cx="2103120" cy="12801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Community Sharing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86791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Among social groups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(religious, linguistic minorities)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3410712"/>
            <a:ext cx="2103120" cy="1280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Coalition Sharing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386791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Among political parties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&amp; interest groups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Studies: Belgium 🇧🇪 vs Sri Lanka 🇱🇰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3794760"/>
          </a:xfrm>
          <a:prstGeom prst="rect">
            <a:avLst/>
          </a:prstGeom>
          <a:solidFill>
            <a:srgbClr val="1A2744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D4F"/>
                </a:solidFill>
              </a:rPr>
              <a:t>🇧🇪  Belgium — SUCCESS STORY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59% Dutch-speaking (Flemish)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40% French-speaking (Walloon)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1% German-speaking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D4F"/>
                </a:solidFill>
              </a:rPr>
              <a:t>✅ SOLUTION: Power Sharing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• Equal Cabinet representation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• Community governments for culture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• Federal system for regions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57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• Brussels: joint capital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D4F"/>
                </a:solidFill>
              </a:rPr>
              <a:t>RESULT: Peace &amp; Prosperity 🕊️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60520" cy="3794760"/>
          </a:xfrm>
          <a:prstGeom prst="rect">
            <a:avLst/>
          </a:prstGeom>
          <a:solidFill>
            <a:srgbClr val="2A0A0A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155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</a:rPr>
              <a:t>🇱🇰  Sri Lanka — CAUTIONARY TALE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74% Sinhala-speaking (Buddhist)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18% Tamil (Hindu/Christian)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020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7% other groups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❌ PROBLEM: Majoritarianism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• 1956: Sinhala Only 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• Tamils excluded from govt jobs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• No federal autonomy for Tamils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557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• Civil war erupted — 30 years!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RESULT: Conflict &amp; Division 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📌 Key Lesson: Power SHARING leads to harmony. Power HOARDING leads to conflict.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🎮  CLASS ACTIVITY: Bloc Building!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0" y="1005840"/>
            <a:ext cx="1097280" cy="109728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⏱️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722376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</a:rPr>
              <a:t>🎯 OBJECTIVE: Understand why nations join alliances — and the cost of doing so.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The class is divided into 3 groups: USA Bloc, USSR Bloc, and Non-Aligned. Each group debates their position.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2011680" cy="256032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21284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128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5299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976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 Groups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3401568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Divide into 3 groups — USA Bloc, USSR Bloc, Non-Aligned Movement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2121408"/>
            <a:ext cx="2011680" cy="256032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221284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2128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121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2432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 Your Card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24328" y="3401568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Each group gets a secret 'national interest' card with goals and resources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21408"/>
            <a:ext cx="2011680" cy="2560320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221284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2128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D4F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1888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Negotiate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18888" y="3401568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Groups must convince other nations to join them. NAM must resist both!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2121408"/>
            <a:ext cx="2011680" cy="2560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2212848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22128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1344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Vote &amp; Reflect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13448" y="3401568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</a:rPr>
              <a:t>Which bloc got the most allies? What strategies worked? Discuss!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💬 Debrief: 'How did it feel to be in NAM? Was neutrality truly possible?'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Cold War Lessons — Relevant Today?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850392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6187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🇨🇳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EC"/>
                </a:solidFill>
              </a:rPr>
              <a:t>USA vs China today — is a new Cold War beginning?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850392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15798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2677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EC"/>
                </a:solidFill>
              </a:rPr>
              <a:t>Russia-Ukraine war — echoes of the Cold War?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999232"/>
            <a:ext cx="850392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05409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🇮🇳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1638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EC"/>
                </a:solidFill>
              </a:rPr>
              <a:t>India in BRICS &amp; SCO — a new kind of Non-Alignment?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895344"/>
            <a:ext cx="850392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95020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405993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EC"/>
                </a:solidFill>
              </a:rPr>
              <a:t>Social media as today's propaganda battleground?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💬 Open Discussion — Pick any ONE question and share your opinion with the class!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B3F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5A2D8C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4114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🏆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21868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A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TIME!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E2EC"/>
                </a:solidFill>
              </a:rPr>
              <a:t>8 Questions  •  Think before you answer  •  No peeking!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DB3FF"/>
                </a:solidFill>
              </a:rPr>
              <a:t>Raise your hand if you know the answer!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Question 1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819"/>
                </a:solidFill>
              </a:rPr>
              <a:t>🏆  QUIZ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78992"/>
            <a:ext cx="850392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1338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Cold War was primarily a conflict between which two superpowers?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A. UK &amp; France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 USA &amp; USSR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2340864"/>
            <a:ext cx="457200" cy="4572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C. China &amp; Japan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D. India &amp; Pakistan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Answer: B  ← (Reveal after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Question 2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819"/>
                </a:solidFill>
              </a:rPr>
              <a:t>🏆  QUIZ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78992"/>
            <a:ext cx="850392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1338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Which crisis in 1962 brought the world to the brink of nuclear war?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A. Korean War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 Vietnam War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C. Cuban Missile Crisis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86200" y="3602736"/>
            <a:ext cx="457200" cy="4572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D. Suez Crisis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Answer: C  ← (Reveal after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Question 3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819"/>
                </a:solidFill>
              </a:rPr>
              <a:t>🏆  QUIZ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78992"/>
            <a:ext cx="850392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1338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NAM was founded in 1961. Who was NOT a founding leader?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A. Nehru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 Nasser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C. Tito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D. Churchill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21040" y="3602736"/>
            <a:ext cx="457200" cy="4572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Answer: D  ← (Reveal after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Question 4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819"/>
                </a:solidFill>
              </a:rPr>
              <a:t>🏆  QUIZ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78992"/>
            <a:ext cx="850392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1338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Berlin Wall was built in: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A. 1945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 1955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C. 1961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86200" y="3602736"/>
            <a:ext cx="457200" cy="4572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D. 1975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Answer: C  ← (Reveal after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Question 5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819"/>
                </a:solidFill>
              </a:rPr>
              <a:t>🏆  QUIZ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78992"/>
            <a:ext cx="850392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1338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Which Act in Sri Lanka (1956) triggered ethnic conflict?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A. Tamil Homeland Act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 Sinhala Only 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2340864"/>
            <a:ext cx="457200" cy="4572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C. Federal Powers Act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D. Minority Rights Act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Answer: B  ← (Reveal after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Question 6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819"/>
                </a:solidFill>
              </a:rPr>
              <a:t>🏆  QUIZ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78992"/>
            <a:ext cx="850392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1338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Power sharing among Legislature, Executive and Judiciary is called: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A. Vertical sharing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 Horizontal sharing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2340864"/>
            <a:ext cx="457200" cy="4572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C. Coalition sharing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D. Community sharing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Answer: B  ← (Reveal after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Question 7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819"/>
                </a:solidFill>
              </a:rPr>
              <a:t>🏆  QUIZ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566928"/>
            <a:ext cx="320040" cy="228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78992"/>
            <a:ext cx="850392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1338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Which country is a successful example of power sharing between communities?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A. Sri Lanka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 Yugoslavia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C. Belgium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86200" y="3602736"/>
            <a:ext cx="457200" cy="4572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D. Vietnam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Answer: C  ← (Reveal after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</a:rPr>
              <a:t>Question 8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819"/>
                </a:solidFill>
              </a:rPr>
              <a:t>🏆  QUIZ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566928"/>
            <a:ext cx="320040" cy="2286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078992"/>
            <a:ext cx="850392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1338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Gorbachev's twin reforms that led to the USSR's collapse were: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107899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A. NATO &amp; Warsaw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420624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2468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B. Truman &amp; Marshall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529584"/>
            <a:ext cx="4206240" cy="107899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C. Glasnost &amp; Perestroika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86200" y="3602736"/>
            <a:ext cx="457200" cy="4572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9584"/>
            <a:ext cx="4206240" cy="10789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3730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D. MAD &amp; SDI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Answer: C  ← (Reveal after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Key Terms to Remember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251960" cy="804672"/>
          </a:xfrm>
          <a:prstGeom prst="rect">
            <a:avLst/>
          </a:prstGeom>
          <a:solidFill>
            <a:srgbClr val="E8EA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133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Cold War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4264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Ideological &amp; political conflict between USA &amp; USSR (1945–91) without direct warfare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75104"/>
            <a:ext cx="4251960" cy="804672"/>
          </a:xfrm>
          <a:prstGeom prst="rect">
            <a:avLst/>
          </a:prstGeom>
          <a:solidFill>
            <a:srgbClr val="EDE7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MAD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3225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Mutual Assured Destruction — nuclear deterrence policy: 'If you nuke us, we nuke you back'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871216"/>
            <a:ext cx="4251960" cy="804672"/>
          </a:xfrm>
          <a:prstGeom prst="rect">
            <a:avLst/>
          </a:prstGeom>
          <a:solidFill>
            <a:srgbClr val="E8EA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NATO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32186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North Atlantic Treaty Organization — US-led military alliance formed in 1949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767328"/>
            <a:ext cx="4251960" cy="804672"/>
          </a:xfrm>
          <a:prstGeom prst="rect">
            <a:avLst/>
          </a:prstGeom>
          <a:solidFill>
            <a:srgbClr val="EDE7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Warsaw 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41148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Soviet-led military alliance formed in 1955 as counter to NATO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078992"/>
            <a:ext cx="4251960" cy="804672"/>
          </a:xfrm>
          <a:prstGeom prst="rect">
            <a:avLst/>
          </a:prstGeom>
          <a:solidFill>
            <a:srgbClr val="E8EA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133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Non-Alignment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14264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India's foreign policy: remaining independent from both superpowers' blocs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975104"/>
            <a:ext cx="4251960" cy="804672"/>
          </a:xfrm>
          <a:prstGeom prst="rect">
            <a:avLst/>
          </a:prstGeom>
          <a:solidFill>
            <a:srgbClr val="EDE7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Power Sharing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0328" y="23225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Distribution of government authority among different groups, levels &amp; institutions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871216"/>
            <a:ext cx="4251960" cy="804672"/>
          </a:xfrm>
          <a:prstGeom prst="rect">
            <a:avLst/>
          </a:prstGeom>
          <a:solidFill>
            <a:srgbClr val="E8EA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Majoritarianism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0328" y="32186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Belief that the majority community should rule — ignoring minority rights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767328"/>
            <a:ext cx="4251960" cy="804672"/>
          </a:xfrm>
          <a:prstGeom prst="rect">
            <a:avLst/>
          </a:prstGeom>
          <a:solidFill>
            <a:srgbClr val="EDE7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</a:rPr>
              <a:t>Glasnost/Perestroika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41148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Gorbachev's reforms: openness (Glasnost) &amp; restructuring (Perestroika)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Today's Big Ideas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1B52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07008"/>
            <a:ext cx="585216" cy="585216"/>
          </a:xfrm>
          <a:prstGeom prst="ellipse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07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15214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299"/>
                </a:solidFill>
              </a:rPr>
              <a:t>The Cold War shaped today's world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9961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Every conflict, alliance &amp; geopolitical tension today has roots in 1945–91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8503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2A7D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139696"/>
            <a:ext cx="585216" cy="585216"/>
          </a:xfrm>
          <a:prstGeom prst="ellipse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396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D4F"/>
                </a:solidFill>
              </a:rPr>
              <a:t>India chose a courageous third path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43230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Non-Alignment was not weakness — it was strategic independence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8503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072384"/>
            <a:ext cx="585216" cy="58521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72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017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</a:rPr>
              <a:t>Power sharing prevents conflict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649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Belgium succeeded; Sri Lanka suffered. Inclusion always beats exclusion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895344"/>
            <a:ext cx="8503920" cy="804672"/>
          </a:xfrm>
          <a:prstGeom prst="rect">
            <a:avLst/>
          </a:prstGeom>
          <a:solidFill>
            <a:srgbClr val="0D2040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4005072"/>
            <a:ext cx="585216" cy="58521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005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9502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</a:rPr>
              <a:t>History repeats if we forget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9768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</a:rPr>
              <a:t>New Cold Wars are forming. Your generation must choose dialogue over division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846320"/>
            <a:ext cx="8503920" cy="274320"/>
          </a:xfrm>
          <a:prstGeom prst="rect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📝 Homework: Compare Belgium &amp; Sri Lanka in 150 words. Which model should India follow? Why?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-274320"/>
            <a:ext cx="4114800" cy="4114800"/>
          </a:xfrm>
          <a:prstGeom prst="ellipse">
            <a:avLst/>
          </a:prstGeom>
          <a:solidFill>
            <a:srgbClr val="1B5299">
              <a:alpha val="20000"/>
            </a:srgbClr>
          </a:solidFill>
          <a:ln w="12700">
            <a:solidFill>
              <a:srgbClr val="1B529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C1121F">
              <a:alpha val="25000"/>
            </a:srgbClr>
          </a:solidFill>
          <a:ln w="12700">
            <a:solidFill>
              <a:srgbClr val="C1121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F4A819"/>
          </a:solidFill>
          <a:ln w="12700">
            <a:solidFill>
              <a:srgbClr val="F4A8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731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 Today!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34564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2EC"/>
                </a:solidFill>
              </a:rPr>
              <a:t>The Cold War Era &amp; Power Sharing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4041648"/>
            <a:ext cx="1572768" cy="438912"/>
          </a:xfrm>
          <a:prstGeom prst="rect">
            <a:avLst/>
          </a:prstGeom>
          <a:solidFill>
            <a:srgbClr val="1B5299"/>
          </a:solidFill>
          <a:ln w="12700">
            <a:solidFill>
              <a:srgbClr val="1B52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04164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Cold War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66544" y="4041648"/>
            <a:ext cx="1572768" cy="43891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404164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67328" y="4041648"/>
            <a:ext cx="1572768" cy="43891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404164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Belgium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68112" y="4041648"/>
            <a:ext cx="1572768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404164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Sharing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68896" y="4041648"/>
            <a:ext cx="1572768" cy="43891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404164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Sri Lanka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F"/>
                </a:solidFill>
              </a:rPr>
              <a:t>Class IX  •  Political Science  •  CBSE / NCERT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Cold War Era &amp; Power Sharing – Class IX Political Science</dc:title>
  <dc:subject>PptxGenJS Presentation</dc:subject>
  <dc:creator>CBSE Social Science</dc:creator>
  <cp:lastModifiedBy>CBSE Social Science</cp:lastModifiedBy>
  <cp:revision>1</cp:revision>
  <dcterms:created xsi:type="dcterms:W3CDTF">2026-05-15T00:19:17Z</dcterms:created>
  <dcterms:modified xsi:type="dcterms:W3CDTF">2026-05-15T00:19:17Z</dcterms:modified>
</cp:coreProperties>
</file>