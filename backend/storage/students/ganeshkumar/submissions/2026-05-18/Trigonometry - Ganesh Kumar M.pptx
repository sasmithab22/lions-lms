
<file path=[Content_Types].xml><?xml version="1.0" encoding="utf-8"?>
<Types xmlns="http://schemas.openxmlformats.org/package/2006/content-types">
  <Default ContentType="application/x-fontdata" Extension="fntdata"/>
  <Default ContentType="image/jpeg" Extension="jpeg"/>
  <Default ContentType="audio/m4a" Extension="m4a"/>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Lst>
  <p:sldSz cx="18288000" cy="10287000"/>
  <p:notesSz cx="6858000" cy="9144000"/>
  <p:embeddedFontLst>
    <p:embeddedFont>
      <p:font typeface="Canva Sans" charset="1" panose="020B0503030501040103"/>
      <p:regular r:id="rId8"/>
    </p:embeddedFont>
    <p:embeddedFont>
      <p:font typeface="Canva Sans Bold" charset="1" panose="020B0803030501040103"/>
      <p:regular r:id="rId9"/>
    </p:embeddedFont>
    <p:embeddedFont>
      <p:font typeface="Helvetica World" charset="1" panose="020B0500040000020004"/>
      <p:regular r:id="rId10"/>
    </p:embeddedFont>
    <p:embeddedFont>
      <p:font typeface="Telegraf Heavy" charset="1" panose="00000A00000000000000"/>
      <p:regular r:id="rId11"/>
    </p:embeddedFont>
    <p:embeddedFont>
      <p:font typeface="Telegraf" charset="1" panose="00000500000000000000"/>
      <p:regular r:id="rId12"/>
    </p:embeddedFont>
    <p:embeddedFont>
      <p:font typeface="Open Sans Bold" charset="1" panose="020B08060305040202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aAHKAbwdxAw.m4a" Type="http://schemas.openxmlformats.org/officeDocument/2006/relationships/audio"/><Relationship Id="rId2" Target="../media/image1.jpeg" Type="http://schemas.openxmlformats.org/officeDocument/2006/relationships/image"/><Relationship Id="rId3" Target="../media/VAGvDqVW0YI.mp4" Type="http://schemas.openxmlformats.org/officeDocument/2006/relationships/video"/><Relationship Id="rId4" Target="../media/VAGvDqVW0YI.mp4" Type="http://schemas.microsoft.com/office/2007/relationships/media"/><Relationship Id="rId5" Target="../media/image2.png" Type="http://schemas.openxmlformats.org/officeDocument/2006/relationships/image"/><Relationship Id="rId6" Target="../media/image3.svg" Type="http://schemas.openxmlformats.org/officeDocument/2006/relationships/image"/><Relationship Id="rId7" Target="../media/image4.jpeg" Type="http://schemas.openxmlformats.org/officeDocument/2006/relationships/image"/><Relationship Id="rId8" Target="../media/image14.svg" Type="http://schemas.openxmlformats.org/officeDocument/2006/relationships/image"/><Relationship Id="rId9" Target="../media/aAHKAbwdxAw.m4a" Type="http://schemas.microsoft.com/office/2007/relationships/media"/></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2.png" Type="http://schemas.openxmlformats.org/officeDocument/2006/relationships/image"/><Relationship Id="rId12" Target="../media/image3.svg" Type="http://schemas.openxmlformats.org/officeDocument/2006/relationships/image"/><Relationship Id="rId13" Target="../media/image4.jpe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jpeg" Type="http://schemas.openxmlformats.org/officeDocument/2006/relationships/image"/><Relationship Id="rId9"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D9D9"/>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13004710" y="388422"/>
            <a:ext cx="5594608" cy="3188927"/>
          </a:xfrm>
          <a:prstGeom prst="rect">
            <a:avLst/>
          </a:prstGeom>
        </p:spPr>
      </p:pic>
      <p:sp>
        <p:nvSpPr>
          <p:cNvPr name="Freeform 3" id="3"/>
          <p:cNvSpPr/>
          <p:nvPr/>
        </p:nvSpPr>
        <p:spPr>
          <a:xfrm flipH="false" flipV="false" rot="0">
            <a:off x="7383111" y="383800"/>
            <a:ext cx="4919870" cy="4114800"/>
          </a:xfrm>
          <a:custGeom>
            <a:avLst/>
            <a:gdLst/>
            <a:ahLst/>
            <a:cxnLst/>
            <a:rect r="r" b="b" t="t" l="l"/>
            <a:pathLst>
              <a:path h="4114800" w="4919870">
                <a:moveTo>
                  <a:pt x="0" y="0"/>
                </a:moveTo>
                <a:lnTo>
                  <a:pt x="4919869" y="0"/>
                </a:lnTo>
                <a:lnTo>
                  <a:pt x="491986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7569622" y="5827994"/>
            <a:ext cx="4205047" cy="4205047"/>
          </a:xfrm>
          <a:custGeom>
            <a:avLst/>
            <a:gdLst/>
            <a:ahLst/>
            <a:cxnLst/>
            <a:rect r="r" b="b" t="t" l="l"/>
            <a:pathLst>
              <a:path h="4205047" w="4205047">
                <a:moveTo>
                  <a:pt x="0" y="0"/>
                </a:moveTo>
                <a:lnTo>
                  <a:pt x="4205047" y="0"/>
                </a:lnTo>
                <a:lnTo>
                  <a:pt x="4205047" y="4205047"/>
                </a:lnTo>
                <a:lnTo>
                  <a:pt x="0" y="4205047"/>
                </a:lnTo>
                <a:lnTo>
                  <a:pt x="0" y="0"/>
                </a:lnTo>
                <a:close/>
              </a:path>
            </a:pathLst>
          </a:custGeom>
          <a:blipFill>
            <a:blip r:embed="rId7"/>
            <a:stretch>
              <a:fillRect l="0" t="0" r="0" b="0"/>
            </a:stretch>
          </a:blipFill>
        </p:spPr>
      </p:sp>
      <p:sp>
        <p:nvSpPr>
          <p:cNvPr name="TextBox 5" id="5"/>
          <p:cNvSpPr txBox="true"/>
          <p:nvPr/>
        </p:nvSpPr>
        <p:spPr>
          <a:xfrm rot="0">
            <a:off x="729916" y="2086535"/>
            <a:ext cx="5960574" cy="5474156"/>
          </a:xfrm>
          <a:prstGeom prst="rect">
            <a:avLst/>
          </a:prstGeom>
        </p:spPr>
        <p:txBody>
          <a:bodyPr anchor="t" rtlCol="false" tIns="0" lIns="0" bIns="0" rIns="0">
            <a:spAutoFit/>
          </a:bodyPr>
          <a:lstStyle/>
          <a:p>
            <a:pPr algn="ctr" marL="0" indent="0" lvl="0">
              <a:lnSpc>
                <a:spcPts val="2774"/>
              </a:lnSpc>
            </a:pPr>
            <a:r>
              <a:rPr lang="en-US" sz="1982">
                <a:solidFill>
                  <a:srgbClr val="1800AD"/>
                </a:solidFill>
                <a:latin typeface="Canva Sans"/>
                <a:ea typeface="Canva Sans"/>
                <a:cs typeface="Canva Sans"/>
                <a:sym typeface="Canva Sans"/>
              </a:rPr>
              <a:t>Trigonometry </a:t>
            </a:r>
            <a:r>
              <a:rPr lang="en-US" sz="1982">
                <a:solidFill>
                  <a:srgbClr val="1800AD"/>
                </a:solidFill>
                <a:latin typeface="Canva Sans"/>
                <a:ea typeface="Canva Sans"/>
                <a:cs typeface="Canva Sans"/>
                <a:sym typeface="Canva Sans"/>
              </a:rPr>
              <a:t>explores the relationships between the angles and sides of triangles. Its origins trace back to ancient civilizations, where it was used for studying the heavens and developing early astronomical models. Today, trigonometry is crucial in fields like physics, engineering, and computer graphics.</a:t>
            </a:r>
          </a:p>
          <a:p>
            <a:pPr algn="ctr" marL="0" indent="0" lvl="0">
              <a:lnSpc>
                <a:spcPts val="2774"/>
              </a:lnSpc>
            </a:pPr>
          </a:p>
          <a:p>
            <a:pPr algn="ctr">
              <a:lnSpc>
                <a:spcPts val="2774"/>
              </a:lnSpc>
              <a:spcBef>
                <a:spcPct val="0"/>
              </a:spcBef>
            </a:pPr>
            <a:r>
              <a:rPr lang="en-US" sz="1982">
                <a:solidFill>
                  <a:srgbClr val="1800AD"/>
                </a:solidFill>
                <a:latin typeface="Canva Sans"/>
                <a:ea typeface="Canva Sans"/>
                <a:cs typeface="Canva Sans"/>
                <a:sym typeface="Canva Sans"/>
              </a:rPr>
              <a:t>Mastering the basic trigonometric functions—sine, cosine, and tangent—unlocks numerous applications. Whether calculating the height of a mountain or designing computer simulations, trigonometry provides essential tools. Its principles underpin wave analysis, signal processing, and even music, making it a fundamental part of mathematics.</a:t>
            </a:r>
          </a:p>
        </p:txBody>
      </p:sp>
      <p:sp>
        <p:nvSpPr>
          <p:cNvPr name="TextBox 6" id="6"/>
          <p:cNvSpPr txBox="true"/>
          <p:nvPr/>
        </p:nvSpPr>
        <p:spPr>
          <a:xfrm rot="0">
            <a:off x="1265451" y="962025"/>
            <a:ext cx="5839435" cy="580390"/>
          </a:xfrm>
          <a:prstGeom prst="rect">
            <a:avLst/>
          </a:prstGeom>
        </p:spPr>
        <p:txBody>
          <a:bodyPr anchor="t" rtlCol="false" tIns="0" lIns="0" bIns="0" rIns="0">
            <a:spAutoFit/>
          </a:bodyPr>
          <a:lstStyle/>
          <a:p>
            <a:pPr algn="ctr">
              <a:lnSpc>
                <a:spcPts val="4759"/>
              </a:lnSpc>
              <a:spcBef>
                <a:spcPct val="0"/>
              </a:spcBef>
            </a:pPr>
            <a:r>
              <a:rPr lang="en-US" b="true" sz="3399" u="sng">
                <a:solidFill>
                  <a:srgbClr val="1800AD"/>
                </a:solidFill>
                <a:latin typeface="Canva Sans Bold"/>
                <a:ea typeface="Canva Sans Bold"/>
                <a:cs typeface="Canva Sans Bold"/>
                <a:sym typeface="Canva Sans Bold"/>
              </a:rPr>
              <a:t>TRIGONOMETRY</a:t>
            </a:r>
          </a:p>
        </p:txBody>
      </p:sp>
      <p:sp>
        <p:nvSpPr>
          <p:cNvPr name="TextBox 7" id="7"/>
          <p:cNvSpPr txBox="true"/>
          <p:nvPr/>
        </p:nvSpPr>
        <p:spPr>
          <a:xfrm rot="0">
            <a:off x="7104886" y="4431925"/>
            <a:ext cx="4919870" cy="1180465"/>
          </a:xfrm>
          <a:prstGeom prst="rect">
            <a:avLst/>
          </a:prstGeom>
        </p:spPr>
        <p:txBody>
          <a:bodyPr anchor="t" rtlCol="false" tIns="0" lIns="0" bIns="0" rIns="0">
            <a:spAutoFit/>
          </a:bodyPr>
          <a:lstStyle/>
          <a:p>
            <a:pPr algn="ctr">
              <a:lnSpc>
                <a:spcPts val="4759"/>
              </a:lnSpc>
              <a:spcBef>
                <a:spcPct val="0"/>
              </a:spcBef>
            </a:pPr>
            <a:r>
              <a:rPr lang="en-US" b="true" sz="3399">
                <a:solidFill>
                  <a:srgbClr val="1800AD"/>
                </a:solidFill>
                <a:latin typeface="Canva Sans Bold"/>
                <a:ea typeface="Canva Sans Bold"/>
                <a:cs typeface="Canva Sans Bold"/>
                <a:sym typeface="Canva Sans Bold"/>
              </a:rPr>
              <a:t>A SIMPLE GUIDE TO TAN(Θ) IN ACTION</a:t>
            </a:r>
          </a:p>
        </p:txBody>
      </p:sp>
      <p:sp>
        <p:nvSpPr>
          <p:cNvPr name="TextBox 8" id="8"/>
          <p:cNvSpPr txBox="true"/>
          <p:nvPr/>
        </p:nvSpPr>
        <p:spPr>
          <a:xfrm rot="0">
            <a:off x="12093130" y="3918210"/>
            <a:ext cx="6947595" cy="580390"/>
          </a:xfrm>
          <a:prstGeom prst="rect">
            <a:avLst/>
          </a:prstGeom>
        </p:spPr>
        <p:txBody>
          <a:bodyPr anchor="t" rtlCol="false" tIns="0" lIns="0" bIns="0" rIns="0">
            <a:spAutoFit/>
          </a:bodyPr>
          <a:lstStyle/>
          <a:p>
            <a:pPr algn="ctr">
              <a:lnSpc>
                <a:spcPts val="4759"/>
              </a:lnSpc>
              <a:spcBef>
                <a:spcPct val="0"/>
              </a:spcBef>
            </a:pPr>
            <a:r>
              <a:rPr lang="en-US" b="true" sz="3399">
                <a:solidFill>
                  <a:srgbClr val="1800AD"/>
                </a:solidFill>
                <a:latin typeface="Canva Sans Bold"/>
                <a:ea typeface="Canva Sans Bold"/>
                <a:cs typeface="Canva Sans Bold"/>
                <a:sym typeface="Canva Sans Bold"/>
              </a:rPr>
              <a:t>WHERE SHAPES MEET STRATEGY</a:t>
            </a:r>
          </a:p>
        </p:txBody>
      </p:sp>
      <p:pic>
        <p:nvPicPr>
          <p:cNvPr name="Picture 9" id="9">
            <a:hlinkClick action="ppaction://media"/>
          </p:cNvPr>
          <p:cNvPicPr>
            <a:picLocks noChangeAspect="true"/>
          </p:cNvPicPr>
          <p:nvPr>
            <a:audioFile r:link="rId10"/>
            <p:extLst>
              <p:ext uri="{DAA4B4D4-6D71-4841-9C94-3DE7FCFB9230}">
                <p14:media xmlns:p14="http://schemas.microsoft.com/office/powerpoint/2010/main" r:embed="rId9"/>
              </p:ext>
            </p:extLst>
          </p:nvPr>
        </p:nvPicPr>
        <p:blipFill>
          <a:blip r:embed="rId8"/>
          <a:stretch>
            <a:fillRect/>
          </a:stretch>
        </p:blipFill>
        <p:spPr>
          <a:xfrm>
            <a:off x="8629650" y="4629150"/>
            <a:ext cx="1028700" cy="10287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md cmd="playFrom(0.0)">
              <p:cBhvr>
                <p:cTn/>
                <p:tgtEl>
                  <p:spTgt spid="9"/>
                </p:tgtEl>
              </p:cBhvr>
            </p:cmd>
            <p:audio>
              <p:cMediaNode vol="400000" showWhenStopped="false">
                <p:cTn/>
                <p:tgtEl>
                  <p:spTgt spid="9"/>
                </p:tgtEl>
              </p:cMediaNode>
            </p:audio>
          </p:childTnLst>
        </p:cTn>
      </p:par>
    </p:tnLst>
  </p:timing>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4160"/>
        </a:solidFill>
      </p:bgPr>
    </p:bg>
    <p:spTree>
      <p:nvGrpSpPr>
        <p:cNvPr id="1" name=""/>
        <p:cNvGrpSpPr/>
        <p:nvPr/>
      </p:nvGrpSpPr>
      <p:grpSpPr>
        <a:xfrm>
          <a:off x="0" y="0"/>
          <a:ext cx="0" cy="0"/>
          <a:chOff x="0" y="0"/>
          <a:chExt cx="0" cy="0"/>
        </a:xfrm>
      </p:grpSpPr>
      <p:grpSp>
        <p:nvGrpSpPr>
          <p:cNvPr name="Group 2" id="2"/>
          <p:cNvGrpSpPr/>
          <p:nvPr/>
        </p:nvGrpSpPr>
        <p:grpSpPr>
          <a:xfrm rot="-9874124">
            <a:off x="78666" y="2419733"/>
            <a:ext cx="2015657" cy="2089174"/>
            <a:chOff x="0" y="0"/>
            <a:chExt cx="220574" cy="228619"/>
          </a:xfrm>
        </p:grpSpPr>
        <p:sp>
          <p:nvSpPr>
            <p:cNvPr name="Freeform 3" id="3"/>
            <p:cNvSpPr/>
            <p:nvPr/>
          </p:nvSpPr>
          <p:spPr>
            <a:xfrm flipH="false" flipV="false" rot="0">
              <a:off x="41041" y="79687"/>
              <a:ext cx="138492" cy="148933"/>
            </a:xfrm>
            <a:custGeom>
              <a:avLst/>
              <a:gdLst/>
              <a:ahLst/>
              <a:cxnLst/>
              <a:rect r="r" b="b" t="t" l="l"/>
              <a:pathLst>
                <a:path h="148933" w="138492">
                  <a:moveTo>
                    <a:pt x="124390" y="34623"/>
                  </a:moveTo>
                  <a:lnTo>
                    <a:pt x="131614" y="49599"/>
                  </a:lnTo>
                  <a:cubicBezTo>
                    <a:pt x="141966" y="71057"/>
                    <a:pt x="140560" y="96330"/>
                    <a:pt x="127891" y="116507"/>
                  </a:cubicBezTo>
                  <a:cubicBezTo>
                    <a:pt x="115222" y="136685"/>
                    <a:pt x="93071" y="148932"/>
                    <a:pt x="69246" y="148932"/>
                  </a:cubicBezTo>
                  <a:lnTo>
                    <a:pt x="69246" y="148932"/>
                  </a:lnTo>
                  <a:cubicBezTo>
                    <a:pt x="45421" y="148932"/>
                    <a:pt x="23270" y="136685"/>
                    <a:pt x="10601" y="116507"/>
                  </a:cubicBezTo>
                  <a:cubicBezTo>
                    <a:pt x="-2067" y="96330"/>
                    <a:pt x="-3474" y="71057"/>
                    <a:pt x="6878" y="49599"/>
                  </a:cubicBezTo>
                  <a:lnTo>
                    <a:pt x="14103" y="34623"/>
                  </a:lnTo>
                  <a:cubicBezTo>
                    <a:pt x="24314" y="13454"/>
                    <a:pt x="45743" y="0"/>
                    <a:pt x="69246" y="0"/>
                  </a:cubicBezTo>
                  <a:cubicBezTo>
                    <a:pt x="92749" y="0"/>
                    <a:pt x="114178" y="13454"/>
                    <a:pt x="124390" y="34623"/>
                  </a:cubicBezTo>
                  <a:close/>
                </a:path>
              </a:pathLst>
            </a:custGeom>
            <a:solidFill>
              <a:srgbClr val="E2E481"/>
            </a:solidFill>
            <a:ln cap="rnd">
              <a:noFill/>
              <a:prstDash val="solid"/>
              <a:round/>
            </a:ln>
          </p:spPr>
        </p:sp>
        <p:sp>
          <p:nvSpPr>
            <p:cNvPr name="TextBox 4" id="4"/>
            <p:cNvSpPr txBox="true"/>
            <p:nvPr/>
          </p:nvSpPr>
          <p:spPr>
            <a:xfrm>
              <a:off x="34465" y="58520"/>
              <a:ext cx="151645" cy="153770"/>
            </a:xfrm>
            <a:prstGeom prst="rect">
              <a:avLst/>
            </a:prstGeom>
          </p:spPr>
          <p:txBody>
            <a:bodyPr anchor="ctr" rtlCol="false" tIns="50800" lIns="50800" bIns="50800" rIns="50800"/>
            <a:lstStyle/>
            <a:p>
              <a:pPr algn="ctr" marL="0" indent="0" lvl="0">
                <a:lnSpc>
                  <a:spcPts val="2800"/>
                </a:lnSpc>
                <a:spcBef>
                  <a:spcPct val="0"/>
                </a:spcBef>
              </a:pPr>
            </a:p>
          </p:txBody>
        </p:sp>
      </p:grpSp>
      <p:sp>
        <p:nvSpPr>
          <p:cNvPr name="Freeform 5" id="5"/>
          <p:cNvSpPr/>
          <p:nvPr/>
        </p:nvSpPr>
        <p:spPr>
          <a:xfrm flipH="false" flipV="false" rot="4679746">
            <a:off x="11633069" y="-3055386"/>
            <a:ext cx="529435" cy="8319690"/>
          </a:xfrm>
          <a:custGeom>
            <a:avLst/>
            <a:gdLst/>
            <a:ahLst/>
            <a:cxnLst/>
            <a:rect r="r" b="b" t="t" l="l"/>
            <a:pathLst>
              <a:path h="8319690" w="529435">
                <a:moveTo>
                  <a:pt x="0" y="0"/>
                </a:moveTo>
                <a:lnTo>
                  <a:pt x="529435" y="0"/>
                </a:lnTo>
                <a:lnTo>
                  <a:pt x="529435" y="8319690"/>
                </a:lnTo>
                <a:lnTo>
                  <a:pt x="0" y="8319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400000">
            <a:off x="-3526981" y="4879897"/>
            <a:ext cx="8767095" cy="4399488"/>
          </a:xfrm>
          <a:custGeom>
            <a:avLst/>
            <a:gdLst/>
            <a:ahLst/>
            <a:cxnLst/>
            <a:rect r="r" b="b" t="t" l="l"/>
            <a:pathLst>
              <a:path h="4399488" w="8767095">
                <a:moveTo>
                  <a:pt x="0" y="0"/>
                </a:moveTo>
                <a:lnTo>
                  <a:pt x="8767096" y="0"/>
                </a:lnTo>
                <a:lnTo>
                  <a:pt x="8767096" y="4399488"/>
                </a:lnTo>
                <a:lnTo>
                  <a:pt x="0" y="43994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7" id="7"/>
          <p:cNvGrpSpPr/>
          <p:nvPr/>
        </p:nvGrpSpPr>
        <p:grpSpPr>
          <a:xfrm rot="0">
            <a:off x="3322349" y="1099409"/>
            <a:ext cx="10305928" cy="7478010"/>
            <a:chOff x="0" y="0"/>
            <a:chExt cx="6133085" cy="4450183"/>
          </a:xfrm>
        </p:grpSpPr>
        <p:sp>
          <p:nvSpPr>
            <p:cNvPr name="Freeform 8" id="8"/>
            <p:cNvSpPr/>
            <p:nvPr/>
          </p:nvSpPr>
          <p:spPr>
            <a:xfrm flipH="false" flipV="false" rot="0">
              <a:off x="0" y="-51"/>
              <a:ext cx="6133085" cy="4450108"/>
            </a:xfrm>
            <a:custGeom>
              <a:avLst/>
              <a:gdLst/>
              <a:ahLst/>
              <a:cxnLst/>
              <a:rect r="r" b="b" t="t" l="l"/>
              <a:pathLst>
                <a:path h="4450108" w="6133085">
                  <a:moveTo>
                    <a:pt x="0" y="1592640"/>
                  </a:moveTo>
                  <a:cubicBezTo>
                    <a:pt x="0" y="1416863"/>
                    <a:pt x="128651" y="1258240"/>
                    <a:pt x="285750" y="1225093"/>
                  </a:cubicBezTo>
                  <a:lnTo>
                    <a:pt x="5847335" y="6147"/>
                  </a:lnTo>
                  <a:cubicBezTo>
                    <a:pt x="6004561" y="-27000"/>
                    <a:pt x="6133085" y="77267"/>
                    <a:pt x="6133085" y="237922"/>
                  </a:cubicBezTo>
                  <a:lnTo>
                    <a:pt x="6133085" y="4158008"/>
                  </a:lnTo>
                  <a:cubicBezTo>
                    <a:pt x="6133085" y="4318663"/>
                    <a:pt x="6001639" y="4450108"/>
                    <a:pt x="5840985" y="4450108"/>
                  </a:cubicBezTo>
                  <a:lnTo>
                    <a:pt x="292100" y="4450108"/>
                  </a:lnTo>
                  <a:cubicBezTo>
                    <a:pt x="131445" y="4450108"/>
                    <a:pt x="0" y="4318663"/>
                    <a:pt x="0" y="4158008"/>
                  </a:cubicBezTo>
                  <a:lnTo>
                    <a:pt x="0" y="1592640"/>
                  </a:lnTo>
                  <a:close/>
                </a:path>
              </a:pathLst>
            </a:custGeom>
            <a:solidFill>
              <a:srgbClr val="A7BAF6"/>
            </a:solidFill>
          </p:spPr>
        </p:sp>
      </p:grpSp>
      <p:grpSp>
        <p:nvGrpSpPr>
          <p:cNvPr name="Group 9" id="9"/>
          <p:cNvGrpSpPr/>
          <p:nvPr/>
        </p:nvGrpSpPr>
        <p:grpSpPr>
          <a:xfrm rot="0">
            <a:off x="-1703514" y="-1240279"/>
            <a:ext cx="3351019" cy="2932142"/>
            <a:chOff x="0" y="0"/>
            <a:chExt cx="812800" cy="711200"/>
          </a:xfrm>
        </p:grpSpPr>
        <p:sp>
          <p:nvSpPr>
            <p:cNvPr name="Freeform 10" id="10"/>
            <p:cNvSpPr/>
            <p:nvPr/>
          </p:nvSpPr>
          <p:spPr>
            <a:xfrm flipH="false" flipV="false" rot="0">
              <a:off x="38784" y="53629"/>
              <a:ext cx="735233" cy="657571"/>
            </a:xfrm>
            <a:custGeom>
              <a:avLst/>
              <a:gdLst/>
              <a:ahLst/>
              <a:cxnLst/>
              <a:rect r="r" b="b" t="t" l="l"/>
              <a:pathLst>
                <a:path h="657571" w="735233">
                  <a:moveTo>
                    <a:pt x="413466" y="26608"/>
                  </a:moveTo>
                  <a:lnTo>
                    <a:pt x="728166" y="577334"/>
                  </a:lnTo>
                  <a:cubicBezTo>
                    <a:pt x="737651" y="593933"/>
                    <a:pt x="737583" y="614325"/>
                    <a:pt x="727988" y="630860"/>
                  </a:cubicBezTo>
                  <a:cubicBezTo>
                    <a:pt x="718392" y="647394"/>
                    <a:pt x="700720" y="657571"/>
                    <a:pt x="681603" y="657571"/>
                  </a:cubicBezTo>
                  <a:lnTo>
                    <a:pt x="53629" y="657571"/>
                  </a:lnTo>
                  <a:cubicBezTo>
                    <a:pt x="34512" y="657571"/>
                    <a:pt x="16840" y="647394"/>
                    <a:pt x="7244" y="630860"/>
                  </a:cubicBezTo>
                  <a:cubicBezTo>
                    <a:pt x="-2351" y="614325"/>
                    <a:pt x="-2419" y="593933"/>
                    <a:pt x="7066" y="577334"/>
                  </a:cubicBezTo>
                  <a:lnTo>
                    <a:pt x="321766" y="26608"/>
                  </a:lnTo>
                  <a:cubicBezTo>
                    <a:pt x="331168" y="10154"/>
                    <a:pt x="348666" y="0"/>
                    <a:pt x="367616" y="0"/>
                  </a:cubicBezTo>
                  <a:cubicBezTo>
                    <a:pt x="386566" y="0"/>
                    <a:pt x="404064" y="10154"/>
                    <a:pt x="413466" y="26608"/>
                  </a:cubicBezTo>
                  <a:close/>
                </a:path>
              </a:pathLst>
            </a:custGeom>
            <a:solidFill>
              <a:srgbClr val="588F77"/>
            </a:solidFill>
            <a:ln cap="rnd">
              <a:noFill/>
              <a:prstDash val="solid"/>
              <a:round/>
            </a:ln>
          </p:spPr>
        </p:sp>
        <p:sp>
          <p:nvSpPr>
            <p:cNvPr name="TextBox 11" id="11"/>
            <p:cNvSpPr txBox="true"/>
            <p:nvPr/>
          </p:nvSpPr>
          <p:spPr>
            <a:xfrm>
              <a:off x="127000" y="282575"/>
              <a:ext cx="558800" cy="377825"/>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2" id="12"/>
          <p:cNvGrpSpPr/>
          <p:nvPr/>
        </p:nvGrpSpPr>
        <p:grpSpPr>
          <a:xfrm rot="-5400000">
            <a:off x="16931196" y="7951125"/>
            <a:ext cx="1760770" cy="1540674"/>
            <a:chOff x="0" y="0"/>
            <a:chExt cx="812800" cy="711200"/>
          </a:xfrm>
        </p:grpSpPr>
        <p:sp>
          <p:nvSpPr>
            <p:cNvPr name="Freeform 13" id="13"/>
            <p:cNvSpPr/>
            <p:nvPr/>
          </p:nvSpPr>
          <p:spPr>
            <a:xfrm flipH="false" flipV="false" rot="0">
              <a:off x="73811" y="102065"/>
              <a:ext cx="665178" cy="609135"/>
            </a:xfrm>
            <a:custGeom>
              <a:avLst/>
              <a:gdLst/>
              <a:ahLst/>
              <a:cxnLst/>
              <a:rect r="r" b="b" t="t" l="l"/>
              <a:pathLst>
                <a:path h="609135" w="665178">
                  <a:moveTo>
                    <a:pt x="419848" y="50638"/>
                  </a:moveTo>
                  <a:lnTo>
                    <a:pt x="651730" y="456432"/>
                  </a:lnTo>
                  <a:cubicBezTo>
                    <a:pt x="669781" y="488021"/>
                    <a:pt x="669652" y="526831"/>
                    <a:pt x="651390" y="558299"/>
                  </a:cubicBezTo>
                  <a:cubicBezTo>
                    <a:pt x="633128" y="589767"/>
                    <a:pt x="599496" y="609135"/>
                    <a:pt x="563113" y="609135"/>
                  </a:cubicBezTo>
                  <a:lnTo>
                    <a:pt x="102065" y="609135"/>
                  </a:lnTo>
                  <a:cubicBezTo>
                    <a:pt x="65682" y="609135"/>
                    <a:pt x="32050" y="589767"/>
                    <a:pt x="13788" y="558299"/>
                  </a:cubicBezTo>
                  <a:cubicBezTo>
                    <a:pt x="-4474" y="526831"/>
                    <a:pt x="-4603" y="488021"/>
                    <a:pt x="13448" y="456432"/>
                  </a:cubicBezTo>
                  <a:lnTo>
                    <a:pt x="245330" y="50638"/>
                  </a:lnTo>
                  <a:cubicBezTo>
                    <a:pt x="263224" y="19325"/>
                    <a:pt x="296524" y="0"/>
                    <a:pt x="332589" y="0"/>
                  </a:cubicBezTo>
                  <a:cubicBezTo>
                    <a:pt x="368654" y="0"/>
                    <a:pt x="401954" y="19325"/>
                    <a:pt x="419848" y="50638"/>
                  </a:cubicBezTo>
                  <a:close/>
                </a:path>
              </a:pathLst>
            </a:custGeom>
            <a:solidFill>
              <a:srgbClr val="E2E481"/>
            </a:solidFill>
            <a:ln cap="rnd">
              <a:noFill/>
              <a:prstDash val="solid"/>
              <a:round/>
            </a:ln>
          </p:spPr>
        </p:sp>
        <p:sp>
          <p:nvSpPr>
            <p:cNvPr name="TextBox 14" id="14"/>
            <p:cNvSpPr txBox="true"/>
            <p:nvPr/>
          </p:nvSpPr>
          <p:spPr>
            <a:xfrm>
              <a:off x="127000" y="282575"/>
              <a:ext cx="558800" cy="377825"/>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5" id="15"/>
          <p:cNvGrpSpPr/>
          <p:nvPr/>
        </p:nvGrpSpPr>
        <p:grpSpPr>
          <a:xfrm rot="-5400000">
            <a:off x="16931196" y="6190356"/>
            <a:ext cx="1760770" cy="1540674"/>
            <a:chOff x="0" y="0"/>
            <a:chExt cx="812800" cy="711200"/>
          </a:xfrm>
        </p:grpSpPr>
        <p:sp>
          <p:nvSpPr>
            <p:cNvPr name="Freeform 16" id="16"/>
            <p:cNvSpPr/>
            <p:nvPr/>
          </p:nvSpPr>
          <p:spPr>
            <a:xfrm flipH="false" flipV="false" rot="0">
              <a:off x="73811" y="102065"/>
              <a:ext cx="665178" cy="609135"/>
            </a:xfrm>
            <a:custGeom>
              <a:avLst/>
              <a:gdLst/>
              <a:ahLst/>
              <a:cxnLst/>
              <a:rect r="r" b="b" t="t" l="l"/>
              <a:pathLst>
                <a:path h="609135" w="665178">
                  <a:moveTo>
                    <a:pt x="419848" y="50638"/>
                  </a:moveTo>
                  <a:lnTo>
                    <a:pt x="651730" y="456432"/>
                  </a:lnTo>
                  <a:cubicBezTo>
                    <a:pt x="669781" y="488021"/>
                    <a:pt x="669652" y="526831"/>
                    <a:pt x="651390" y="558299"/>
                  </a:cubicBezTo>
                  <a:cubicBezTo>
                    <a:pt x="633128" y="589767"/>
                    <a:pt x="599496" y="609135"/>
                    <a:pt x="563113" y="609135"/>
                  </a:cubicBezTo>
                  <a:lnTo>
                    <a:pt x="102065" y="609135"/>
                  </a:lnTo>
                  <a:cubicBezTo>
                    <a:pt x="65682" y="609135"/>
                    <a:pt x="32050" y="589767"/>
                    <a:pt x="13788" y="558299"/>
                  </a:cubicBezTo>
                  <a:cubicBezTo>
                    <a:pt x="-4474" y="526831"/>
                    <a:pt x="-4603" y="488021"/>
                    <a:pt x="13448" y="456432"/>
                  </a:cubicBezTo>
                  <a:lnTo>
                    <a:pt x="245330" y="50638"/>
                  </a:lnTo>
                  <a:cubicBezTo>
                    <a:pt x="263224" y="19325"/>
                    <a:pt x="296524" y="0"/>
                    <a:pt x="332589" y="0"/>
                  </a:cubicBezTo>
                  <a:cubicBezTo>
                    <a:pt x="368654" y="0"/>
                    <a:pt x="401954" y="19325"/>
                    <a:pt x="419848" y="50638"/>
                  </a:cubicBezTo>
                  <a:close/>
                </a:path>
              </a:pathLst>
            </a:custGeom>
            <a:solidFill>
              <a:srgbClr val="588F77"/>
            </a:solidFill>
            <a:ln cap="rnd">
              <a:noFill/>
              <a:prstDash val="solid"/>
              <a:round/>
            </a:ln>
          </p:spPr>
        </p:sp>
        <p:sp>
          <p:nvSpPr>
            <p:cNvPr name="TextBox 17" id="17"/>
            <p:cNvSpPr txBox="true"/>
            <p:nvPr/>
          </p:nvSpPr>
          <p:spPr>
            <a:xfrm>
              <a:off x="127000" y="282575"/>
              <a:ext cx="558800" cy="377825"/>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8" id="18"/>
          <p:cNvGrpSpPr/>
          <p:nvPr/>
        </p:nvGrpSpPr>
        <p:grpSpPr>
          <a:xfrm rot="0">
            <a:off x="1442603" y="-1265203"/>
            <a:ext cx="9326880" cy="3454428"/>
            <a:chOff x="0" y="0"/>
            <a:chExt cx="12435840" cy="4605904"/>
          </a:xfrm>
        </p:grpSpPr>
        <p:grpSp>
          <p:nvGrpSpPr>
            <p:cNvPr name="Group 19" id="19"/>
            <p:cNvGrpSpPr/>
            <p:nvPr/>
          </p:nvGrpSpPr>
          <p:grpSpPr>
            <a:xfrm rot="0">
              <a:off x="0" y="0"/>
              <a:ext cx="12435840" cy="4605904"/>
              <a:chOff x="0" y="0"/>
              <a:chExt cx="6268847" cy="2321814"/>
            </a:xfrm>
          </p:grpSpPr>
          <p:sp>
            <p:nvSpPr>
              <p:cNvPr name="Freeform 20" id="20"/>
              <p:cNvSpPr/>
              <p:nvPr/>
            </p:nvSpPr>
            <p:spPr>
              <a:xfrm flipH="false" flipV="false" rot="0">
                <a:off x="11" y="0"/>
                <a:ext cx="6268836" cy="2321839"/>
              </a:xfrm>
              <a:custGeom>
                <a:avLst/>
                <a:gdLst/>
                <a:ahLst/>
                <a:cxnLst/>
                <a:rect r="r" b="b" t="t" l="l"/>
                <a:pathLst>
                  <a:path h="2321839" w="6268836">
                    <a:moveTo>
                      <a:pt x="5983086" y="1272159"/>
                    </a:moveTo>
                    <a:cubicBezTo>
                      <a:pt x="6140312" y="1239012"/>
                      <a:pt x="6268836" y="1080389"/>
                      <a:pt x="6268836" y="919734"/>
                    </a:cubicBezTo>
                    <a:lnTo>
                      <a:pt x="6268836" y="292100"/>
                    </a:lnTo>
                    <a:cubicBezTo>
                      <a:pt x="6268836" y="131445"/>
                      <a:pt x="6137391" y="0"/>
                      <a:pt x="5976736" y="0"/>
                    </a:cubicBezTo>
                    <a:lnTo>
                      <a:pt x="210936" y="0"/>
                    </a:lnTo>
                    <a:cubicBezTo>
                      <a:pt x="50281" y="0"/>
                      <a:pt x="-37603" y="124079"/>
                      <a:pt x="15483" y="275590"/>
                    </a:cubicBezTo>
                    <a:lnTo>
                      <a:pt x="655309" y="2099945"/>
                    </a:lnTo>
                    <a:cubicBezTo>
                      <a:pt x="708522" y="2251583"/>
                      <a:pt x="880607" y="2348484"/>
                      <a:pt x="1037833" y="2315337"/>
                    </a:cubicBezTo>
                    <a:lnTo>
                      <a:pt x="5983086" y="1272159"/>
                    </a:lnTo>
                    <a:close/>
                  </a:path>
                </a:pathLst>
              </a:custGeom>
              <a:solidFill>
                <a:srgbClr val="A7BAF6"/>
              </a:solidFill>
            </p:spPr>
          </p:sp>
        </p:grpSp>
        <p:grpSp>
          <p:nvGrpSpPr>
            <p:cNvPr name="Group 21" id="21"/>
            <p:cNvGrpSpPr/>
            <p:nvPr/>
          </p:nvGrpSpPr>
          <p:grpSpPr>
            <a:xfrm rot="-716915">
              <a:off x="1714451" y="2812124"/>
              <a:ext cx="1855542" cy="1236043"/>
              <a:chOff x="0" y="0"/>
              <a:chExt cx="660400" cy="439916"/>
            </a:xfrm>
          </p:grpSpPr>
          <p:sp>
            <p:nvSpPr>
              <p:cNvPr name="Freeform 22" id="22"/>
              <p:cNvSpPr/>
              <p:nvPr/>
            </p:nvSpPr>
            <p:spPr>
              <a:xfrm flipH="false" flipV="false" rot="0">
                <a:off x="0" y="0"/>
                <a:ext cx="660400" cy="439916"/>
              </a:xfrm>
              <a:custGeom>
                <a:avLst/>
                <a:gdLst/>
                <a:ahLst/>
                <a:cxnLst/>
                <a:rect r="r" b="b" t="t" l="l"/>
                <a:pathLst>
                  <a:path h="439916"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219"/>
                    </a:cubicBezTo>
                    <a:lnTo>
                      <a:pt x="660400" y="380068"/>
                    </a:lnTo>
                    <a:cubicBezTo>
                      <a:pt x="660400" y="413121"/>
                      <a:pt x="633605" y="439916"/>
                      <a:pt x="600552" y="439916"/>
                    </a:cubicBezTo>
                    <a:lnTo>
                      <a:pt x="59804" y="439916"/>
                    </a:lnTo>
                    <a:cubicBezTo>
                      <a:pt x="43943" y="439916"/>
                      <a:pt x="28732" y="433615"/>
                      <a:pt x="17516" y="422400"/>
                    </a:cubicBezTo>
                    <a:cubicBezTo>
                      <a:pt x="6301" y="411184"/>
                      <a:pt x="0" y="395973"/>
                      <a:pt x="0" y="380112"/>
                    </a:cubicBezTo>
                    <a:lnTo>
                      <a:pt x="0" y="320308"/>
                    </a:lnTo>
                    <a:cubicBezTo>
                      <a:pt x="1782" y="185660"/>
                      <a:pt x="93019" y="64045"/>
                      <a:pt x="220252" y="19070"/>
                    </a:cubicBezTo>
                    <a:lnTo>
                      <a:pt x="220252" y="19070"/>
                    </a:lnTo>
                    <a:close/>
                  </a:path>
                </a:pathLst>
              </a:custGeom>
              <a:solidFill>
                <a:srgbClr val="074160"/>
              </a:solidFill>
              <a:ln cap="sq">
                <a:noFill/>
                <a:prstDash val="solid"/>
                <a:miter/>
              </a:ln>
            </p:spPr>
          </p:sp>
          <p:sp>
            <p:nvSpPr>
              <p:cNvPr name="TextBox 23" id="23"/>
              <p:cNvSpPr txBox="true"/>
              <p:nvPr/>
            </p:nvSpPr>
            <p:spPr>
              <a:xfrm>
                <a:off x="0" y="79375"/>
                <a:ext cx="660400" cy="360541"/>
              </a:xfrm>
              <a:prstGeom prst="rect">
                <a:avLst/>
              </a:prstGeom>
            </p:spPr>
            <p:txBody>
              <a:bodyPr anchor="ctr" rtlCol="false" tIns="50800" lIns="50800" bIns="50800" rIns="50800"/>
              <a:lstStyle/>
              <a:p>
                <a:pPr algn="ctr" marL="0" indent="0" lvl="0">
                  <a:lnSpc>
                    <a:spcPts val="2800"/>
                  </a:lnSpc>
                  <a:spcBef>
                    <a:spcPct val="0"/>
                  </a:spcBef>
                </a:pPr>
              </a:p>
            </p:txBody>
          </p:sp>
        </p:grpSp>
      </p:grpSp>
      <p:grpSp>
        <p:nvGrpSpPr>
          <p:cNvPr name="Group 24" id="24"/>
          <p:cNvGrpSpPr/>
          <p:nvPr/>
        </p:nvGrpSpPr>
        <p:grpSpPr>
          <a:xfrm rot="-716915">
            <a:off x="13263760" y="1606243"/>
            <a:ext cx="1391656" cy="803673"/>
            <a:chOff x="0" y="0"/>
            <a:chExt cx="812800" cy="469387"/>
          </a:xfrm>
        </p:grpSpPr>
        <p:sp>
          <p:nvSpPr>
            <p:cNvPr name="Freeform 25" id="25"/>
            <p:cNvSpPr/>
            <p:nvPr/>
          </p:nvSpPr>
          <p:spPr>
            <a:xfrm flipH="false" flipV="false" rot="0">
              <a:off x="60423" y="50838"/>
              <a:ext cx="691954" cy="418549"/>
            </a:xfrm>
            <a:custGeom>
              <a:avLst/>
              <a:gdLst/>
              <a:ahLst/>
              <a:cxnLst/>
              <a:rect r="r" b="b" t="t" l="l"/>
              <a:pathLst>
                <a:path h="418549" w="691954">
                  <a:moveTo>
                    <a:pt x="418805" y="33277"/>
                  </a:moveTo>
                  <a:lnTo>
                    <a:pt x="679549" y="334434"/>
                  </a:lnTo>
                  <a:cubicBezTo>
                    <a:pt x="692575" y="349478"/>
                    <a:pt x="695625" y="370739"/>
                    <a:pt x="687355" y="388839"/>
                  </a:cubicBezTo>
                  <a:cubicBezTo>
                    <a:pt x="679085" y="406939"/>
                    <a:pt x="661015" y="418549"/>
                    <a:pt x="641115" y="418549"/>
                  </a:cubicBezTo>
                  <a:lnTo>
                    <a:pt x="50839" y="418549"/>
                  </a:lnTo>
                  <a:cubicBezTo>
                    <a:pt x="30939" y="418549"/>
                    <a:pt x="12869" y="406939"/>
                    <a:pt x="4599" y="388839"/>
                  </a:cubicBezTo>
                  <a:cubicBezTo>
                    <a:pt x="-3671" y="370739"/>
                    <a:pt x="-621" y="349478"/>
                    <a:pt x="12405" y="334434"/>
                  </a:cubicBezTo>
                  <a:lnTo>
                    <a:pt x="273149" y="33277"/>
                  </a:lnTo>
                  <a:cubicBezTo>
                    <a:pt x="291447" y="12143"/>
                    <a:pt x="318023" y="0"/>
                    <a:pt x="345977" y="0"/>
                  </a:cubicBezTo>
                  <a:cubicBezTo>
                    <a:pt x="373931" y="0"/>
                    <a:pt x="400507" y="12143"/>
                    <a:pt x="418805" y="33277"/>
                  </a:cubicBezTo>
                  <a:close/>
                </a:path>
              </a:pathLst>
            </a:custGeom>
            <a:solidFill>
              <a:srgbClr val="F67F44"/>
            </a:solidFill>
            <a:ln cap="sq">
              <a:noFill/>
              <a:prstDash val="solid"/>
              <a:miter/>
            </a:ln>
          </p:spPr>
        </p:sp>
        <p:sp>
          <p:nvSpPr>
            <p:cNvPr name="TextBox 26" id="26"/>
            <p:cNvSpPr txBox="true"/>
            <p:nvPr/>
          </p:nvSpPr>
          <p:spPr>
            <a:xfrm>
              <a:off x="127000" y="170305"/>
              <a:ext cx="558800" cy="265555"/>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27" id="27"/>
          <p:cNvGrpSpPr/>
          <p:nvPr/>
        </p:nvGrpSpPr>
        <p:grpSpPr>
          <a:xfrm rot="0">
            <a:off x="1028700" y="9265813"/>
            <a:ext cx="3247173" cy="293511"/>
            <a:chOff x="0" y="0"/>
            <a:chExt cx="4329563" cy="391348"/>
          </a:xfrm>
        </p:grpSpPr>
        <p:sp>
          <p:nvSpPr>
            <p:cNvPr name="Freeform 28" id="28"/>
            <p:cNvSpPr/>
            <p:nvPr/>
          </p:nvSpPr>
          <p:spPr>
            <a:xfrm flipH="false" flipV="false" rot="0">
              <a:off x="1855527" y="0"/>
              <a:ext cx="2474036" cy="391348"/>
            </a:xfrm>
            <a:custGeom>
              <a:avLst/>
              <a:gdLst/>
              <a:ahLst/>
              <a:cxnLst/>
              <a:rect r="r" b="b" t="t" l="l"/>
              <a:pathLst>
                <a:path h="391348" w="2474036">
                  <a:moveTo>
                    <a:pt x="0" y="0"/>
                  </a:moveTo>
                  <a:lnTo>
                    <a:pt x="2474036" y="0"/>
                  </a:lnTo>
                  <a:lnTo>
                    <a:pt x="2474036" y="391348"/>
                  </a:lnTo>
                  <a:lnTo>
                    <a:pt x="0" y="3913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9" id="29"/>
            <p:cNvSpPr txBox="true"/>
            <p:nvPr/>
          </p:nvSpPr>
          <p:spPr>
            <a:xfrm rot="0">
              <a:off x="0" y="5262"/>
              <a:ext cx="1598620" cy="342724"/>
            </a:xfrm>
            <a:prstGeom prst="rect">
              <a:avLst/>
            </a:prstGeom>
          </p:spPr>
          <p:txBody>
            <a:bodyPr anchor="t" rtlCol="false" tIns="0" lIns="0" bIns="0" rIns="0">
              <a:spAutoFit/>
            </a:bodyPr>
            <a:lstStyle/>
            <a:p>
              <a:pPr algn="ctr">
                <a:lnSpc>
                  <a:spcPts val="2100"/>
                </a:lnSpc>
                <a:spcBef>
                  <a:spcPct val="0"/>
                </a:spcBef>
              </a:pPr>
              <a:r>
                <a:rPr lang="en-US" sz="1500">
                  <a:solidFill>
                    <a:srgbClr val="FFFFFF"/>
                  </a:solidFill>
                  <a:latin typeface="Helvetica World"/>
                  <a:ea typeface="Helvetica World"/>
                  <a:cs typeface="Helvetica World"/>
                  <a:sym typeface="Helvetica World"/>
                </a:rPr>
                <a:t>INSPIRED BY</a:t>
              </a:r>
            </a:p>
          </p:txBody>
        </p:sp>
      </p:grpSp>
      <p:grpSp>
        <p:nvGrpSpPr>
          <p:cNvPr name="Group 30" id="30"/>
          <p:cNvGrpSpPr/>
          <p:nvPr/>
        </p:nvGrpSpPr>
        <p:grpSpPr>
          <a:xfrm rot="0">
            <a:off x="802992" y="-724104"/>
            <a:ext cx="10501255" cy="10501255"/>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8"/>
              <a:stretch>
                <a:fillRect l="-78303" t="0" r="-78303" b="0"/>
              </a:stretch>
            </a:blipFill>
          </p:spPr>
        </p:sp>
      </p:grpSp>
      <p:sp>
        <p:nvSpPr>
          <p:cNvPr name="TextBox 32" id="32"/>
          <p:cNvSpPr txBox="true"/>
          <p:nvPr/>
        </p:nvSpPr>
        <p:spPr>
          <a:xfrm rot="0">
            <a:off x="3056311" y="4634640"/>
            <a:ext cx="7774449" cy="3019425"/>
          </a:xfrm>
          <a:prstGeom prst="rect">
            <a:avLst/>
          </a:prstGeom>
        </p:spPr>
        <p:txBody>
          <a:bodyPr anchor="t" rtlCol="false" tIns="0" lIns="0" bIns="0" rIns="0">
            <a:spAutoFit/>
          </a:bodyPr>
          <a:lstStyle/>
          <a:p>
            <a:pPr algn="ctr" marL="0" indent="0" lvl="0">
              <a:lnSpc>
                <a:spcPts val="11519"/>
              </a:lnSpc>
            </a:pPr>
            <a:r>
              <a:rPr lang="en-US" b="true" sz="9600" strike="noStrike" u="none">
                <a:solidFill>
                  <a:srgbClr val="25283D"/>
                </a:solidFill>
                <a:latin typeface="Telegraf Heavy"/>
                <a:ea typeface="Telegraf Heavy"/>
                <a:cs typeface="Telegraf Heavy"/>
                <a:sym typeface="Telegraf Heavy"/>
              </a:rPr>
              <a:t>Triangles and Angles</a:t>
            </a:r>
          </a:p>
        </p:txBody>
      </p:sp>
      <p:sp>
        <p:nvSpPr>
          <p:cNvPr name="Freeform 33" id="33"/>
          <p:cNvSpPr/>
          <p:nvPr/>
        </p:nvSpPr>
        <p:spPr>
          <a:xfrm flipH="false" flipV="false" rot="5400000">
            <a:off x="10148045" y="5828589"/>
            <a:ext cx="4269069" cy="1664937"/>
          </a:xfrm>
          <a:custGeom>
            <a:avLst/>
            <a:gdLst/>
            <a:ahLst/>
            <a:cxnLst/>
            <a:rect r="r" b="b" t="t" l="l"/>
            <a:pathLst>
              <a:path h="1664937" w="4269069">
                <a:moveTo>
                  <a:pt x="0" y="0"/>
                </a:moveTo>
                <a:lnTo>
                  <a:pt x="4269069" y="0"/>
                </a:lnTo>
                <a:lnTo>
                  <a:pt x="4269069" y="1664937"/>
                </a:lnTo>
                <a:lnTo>
                  <a:pt x="0" y="166493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34" id="34"/>
          <p:cNvSpPr txBox="true"/>
          <p:nvPr/>
        </p:nvSpPr>
        <p:spPr>
          <a:xfrm rot="0">
            <a:off x="6983752" y="3816411"/>
            <a:ext cx="4320495" cy="561975"/>
          </a:xfrm>
          <a:prstGeom prst="rect">
            <a:avLst/>
          </a:prstGeom>
        </p:spPr>
        <p:txBody>
          <a:bodyPr anchor="t" rtlCol="false" tIns="0" lIns="0" bIns="0" rIns="0">
            <a:spAutoFit/>
          </a:bodyPr>
          <a:lstStyle/>
          <a:p>
            <a:pPr algn="ctr" marL="0" indent="0" lvl="0">
              <a:lnSpc>
                <a:spcPts val="4200"/>
              </a:lnSpc>
              <a:spcBef>
                <a:spcPct val="0"/>
              </a:spcBef>
            </a:pPr>
            <a:r>
              <a:rPr lang="en-US" b="true" sz="3000">
                <a:solidFill>
                  <a:srgbClr val="25283D"/>
                </a:solidFill>
                <a:latin typeface="Telegraf Heavy"/>
                <a:ea typeface="Telegraf Heavy"/>
                <a:cs typeface="Telegraf Heavy"/>
                <a:sym typeface="Telegraf Heavy"/>
              </a:rPr>
              <a:t>YEAR</a:t>
            </a:r>
            <a:r>
              <a:rPr lang="en-US" b="true" sz="3000" strike="noStrike" u="none">
                <a:solidFill>
                  <a:srgbClr val="25283D"/>
                </a:solidFill>
                <a:latin typeface="Telegraf Heavy"/>
                <a:ea typeface="Telegraf Heavy"/>
                <a:cs typeface="Telegraf Heavy"/>
                <a:sym typeface="Telegraf Heavy"/>
              </a:rPr>
              <a:t> 7 - MATH</a:t>
            </a:r>
          </a:p>
        </p:txBody>
      </p:sp>
      <p:grpSp>
        <p:nvGrpSpPr>
          <p:cNvPr name="Group 35" id="35"/>
          <p:cNvGrpSpPr/>
          <p:nvPr/>
        </p:nvGrpSpPr>
        <p:grpSpPr>
          <a:xfrm rot="-5400000">
            <a:off x="14614398" y="6362141"/>
            <a:ext cx="3660861" cy="2733505"/>
            <a:chOff x="0" y="0"/>
            <a:chExt cx="4397388" cy="3283458"/>
          </a:xfrm>
        </p:grpSpPr>
        <p:sp>
          <p:nvSpPr>
            <p:cNvPr name="Freeform 36" id="36"/>
            <p:cNvSpPr/>
            <p:nvPr/>
          </p:nvSpPr>
          <p:spPr>
            <a:xfrm flipH="false" flipV="false" rot="0">
              <a:off x="0" y="-44"/>
              <a:ext cx="4397388" cy="3283463"/>
            </a:xfrm>
            <a:custGeom>
              <a:avLst/>
              <a:gdLst/>
              <a:ahLst/>
              <a:cxnLst/>
              <a:rect r="r" b="b" t="t" l="l"/>
              <a:pathLst>
                <a:path h="3283463" w="4397388">
                  <a:moveTo>
                    <a:pt x="4112019" y="1265091"/>
                  </a:moveTo>
                  <a:cubicBezTo>
                    <a:pt x="4268991" y="1299254"/>
                    <a:pt x="4397388" y="1458639"/>
                    <a:pt x="4397388" y="1619294"/>
                  </a:cubicBezTo>
                  <a:lnTo>
                    <a:pt x="4397388" y="1705908"/>
                  </a:lnTo>
                  <a:cubicBezTo>
                    <a:pt x="4397388" y="1866563"/>
                    <a:pt x="4268737" y="2025186"/>
                    <a:pt x="4111638" y="2058333"/>
                  </a:cubicBezTo>
                  <a:lnTo>
                    <a:pt x="285750" y="3277279"/>
                  </a:lnTo>
                  <a:cubicBezTo>
                    <a:pt x="128651" y="3310553"/>
                    <a:pt x="0" y="3206159"/>
                    <a:pt x="0" y="3045504"/>
                  </a:cubicBezTo>
                  <a:lnTo>
                    <a:pt x="0" y="236518"/>
                  </a:lnTo>
                  <a:cubicBezTo>
                    <a:pt x="0" y="75863"/>
                    <a:pt x="128397" y="-27642"/>
                    <a:pt x="285369" y="6521"/>
                  </a:cubicBezTo>
                  <a:lnTo>
                    <a:pt x="4112019" y="1265091"/>
                  </a:lnTo>
                  <a:close/>
                </a:path>
              </a:pathLst>
            </a:custGeom>
            <a:solidFill>
              <a:srgbClr val="E2E481"/>
            </a:solidFill>
          </p:spPr>
        </p:sp>
      </p:grpSp>
      <p:sp>
        <p:nvSpPr>
          <p:cNvPr name="Freeform 37" id="37"/>
          <p:cNvSpPr/>
          <p:nvPr/>
        </p:nvSpPr>
        <p:spPr>
          <a:xfrm flipH="false" flipV="false" rot="0">
            <a:off x="7236836" y="225792"/>
            <a:ext cx="3814328" cy="3190165"/>
          </a:xfrm>
          <a:custGeom>
            <a:avLst/>
            <a:gdLst/>
            <a:ahLst/>
            <a:cxnLst/>
            <a:rect r="r" b="b" t="t" l="l"/>
            <a:pathLst>
              <a:path h="3190165" w="3814328">
                <a:moveTo>
                  <a:pt x="0" y="0"/>
                </a:moveTo>
                <a:lnTo>
                  <a:pt x="3814328" y="0"/>
                </a:lnTo>
                <a:lnTo>
                  <a:pt x="3814328" y="3190165"/>
                </a:lnTo>
                <a:lnTo>
                  <a:pt x="0" y="31901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8" id="38"/>
          <p:cNvGrpSpPr>
            <a:grpSpLocks noChangeAspect="true"/>
          </p:cNvGrpSpPr>
          <p:nvPr/>
        </p:nvGrpSpPr>
        <p:grpSpPr>
          <a:xfrm rot="0">
            <a:off x="13964992" y="67064"/>
            <a:ext cx="4323008" cy="4323008"/>
            <a:chOff x="0" y="0"/>
            <a:chExt cx="6350000" cy="6350000"/>
          </a:xfrm>
        </p:grpSpPr>
        <p:sp>
          <p:nvSpPr>
            <p:cNvPr name="Freeform 39" id="39"/>
            <p:cNvSpPr/>
            <p:nvPr/>
          </p:nvSpPr>
          <p:spPr>
            <a:xfrm flipH="false" flipV="false" rot="0">
              <a:off x="124460" y="124460"/>
              <a:ext cx="6101080" cy="6101080"/>
            </a:xfrm>
            <a:custGeom>
              <a:avLst/>
              <a:gdLst/>
              <a:ahLst/>
              <a:cxnLst/>
              <a:rect r="r" b="b" t="t" l="l"/>
              <a:pathLst>
                <a:path h="6101080" w="6101080">
                  <a:moveTo>
                    <a:pt x="0" y="0"/>
                  </a:moveTo>
                  <a:lnTo>
                    <a:pt x="6101080" y="0"/>
                  </a:lnTo>
                  <a:lnTo>
                    <a:pt x="6101080" y="6101080"/>
                  </a:lnTo>
                  <a:lnTo>
                    <a:pt x="0" y="6101080"/>
                  </a:lnTo>
                  <a:close/>
                </a:path>
              </a:pathLst>
            </a:custGeom>
            <a:blipFill>
              <a:blip r:embed="rId13"/>
              <a:stretch>
                <a:fillRect l="0" t="0" r="0" b="0"/>
              </a:stretch>
            </a:blipFill>
          </p:spPr>
        </p:sp>
        <p:sp>
          <p:nvSpPr>
            <p:cNvPr name="Freeform 40" id="40"/>
            <p:cNvSpPr/>
            <p:nvPr/>
          </p:nvSpPr>
          <p:spPr>
            <a:xfrm flipH="false" flipV="false" rot="0">
              <a:off x="0" y="0"/>
              <a:ext cx="6350000" cy="6350000"/>
            </a:xfrm>
            <a:custGeom>
              <a:avLst/>
              <a:gdLst/>
              <a:ahLst/>
              <a:cxnLst/>
              <a:rect r="r" b="b" t="t" l="l"/>
              <a:pathLst>
                <a:path h="6350000" w="6350000">
                  <a:moveTo>
                    <a:pt x="6350000" y="6350000"/>
                  </a:moveTo>
                  <a:lnTo>
                    <a:pt x="0" y="6350000"/>
                  </a:lnTo>
                  <a:lnTo>
                    <a:pt x="0" y="0"/>
                  </a:lnTo>
                  <a:lnTo>
                    <a:pt x="6350000" y="0"/>
                  </a:lnTo>
                  <a:lnTo>
                    <a:pt x="6350000" y="6350000"/>
                  </a:lnTo>
                  <a:close/>
                  <a:moveTo>
                    <a:pt x="248920" y="6101080"/>
                  </a:moveTo>
                  <a:lnTo>
                    <a:pt x="6099810" y="6101080"/>
                  </a:lnTo>
                  <a:lnTo>
                    <a:pt x="6099810" y="248920"/>
                  </a:lnTo>
                  <a:lnTo>
                    <a:pt x="248920" y="248920"/>
                  </a:lnTo>
                  <a:lnTo>
                    <a:pt x="248920" y="6101080"/>
                  </a:lnTo>
                  <a:close/>
                </a:path>
              </a:pathLst>
            </a:custGeom>
            <a:solidFill>
              <a:srgbClr val="F67F44"/>
            </a:solidFill>
          </p:spPr>
        </p:sp>
      </p:grpSp>
      <p:sp>
        <p:nvSpPr>
          <p:cNvPr name="TextBox 41" id="41"/>
          <p:cNvSpPr txBox="true"/>
          <p:nvPr/>
        </p:nvSpPr>
        <p:spPr>
          <a:xfrm rot="0">
            <a:off x="3429080" y="7977616"/>
            <a:ext cx="6996233" cy="714880"/>
          </a:xfrm>
          <a:prstGeom prst="rect">
            <a:avLst/>
          </a:prstGeom>
        </p:spPr>
        <p:txBody>
          <a:bodyPr anchor="t" rtlCol="false" tIns="0" lIns="0" bIns="0" rIns="0">
            <a:spAutoFit/>
          </a:bodyPr>
          <a:lstStyle/>
          <a:p>
            <a:pPr algn="ctr" marL="0" indent="0" lvl="0">
              <a:lnSpc>
                <a:spcPts val="5462"/>
              </a:lnSpc>
              <a:spcBef>
                <a:spcPct val="0"/>
              </a:spcBef>
            </a:pPr>
            <a:r>
              <a:rPr lang="en-US" sz="3901">
                <a:solidFill>
                  <a:srgbClr val="1800AD"/>
                </a:solidFill>
                <a:latin typeface="Telegraf"/>
                <a:ea typeface="Telegraf"/>
                <a:cs typeface="Telegraf"/>
                <a:sym typeface="Telegraf"/>
              </a:rPr>
              <a:t>M GANESH KUMAR</a:t>
            </a:r>
          </a:p>
        </p:txBody>
      </p:sp>
      <p:sp>
        <p:nvSpPr>
          <p:cNvPr name="TextBox 42" id="42"/>
          <p:cNvSpPr txBox="true"/>
          <p:nvPr/>
        </p:nvSpPr>
        <p:spPr>
          <a:xfrm rot="0">
            <a:off x="1222189" y="232600"/>
            <a:ext cx="5361514" cy="4168140"/>
          </a:xfrm>
          <a:prstGeom prst="rect">
            <a:avLst/>
          </a:prstGeom>
        </p:spPr>
        <p:txBody>
          <a:bodyPr anchor="t" rtlCol="false" tIns="0" lIns="0" bIns="0" rIns="0">
            <a:spAutoFit/>
          </a:bodyPr>
          <a:lstStyle/>
          <a:p>
            <a:pPr algn="ctr">
              <a:lnSpc>
                <a:spcPts val="3359"/>
              </a:lnSpc>
              <a:spcBef>
                <a:spcPct val="0"/>
              </a:spcBef>
            </a:pPr>
            <a:r>
              <a:rPr lang="en-US" b="true" sz="2399">
                <a:solidFill>
                  <a:srgbClr val="1800AD"/>
                </a:solidFill>
                <a:latin typeface="Open Sans Bold"/>
                <a:ea typeface="Open Sans Bold"/>
                <a:cs typeface="Open Sans Bold"/>
                <a:sym typeface="Open Sans Bold"/>
              </a:rPr>
              <a:t>Trigonometry explores the relationships between the angles and sides of triangles. Its origins trace back to ancient civilizations, where it was used for studying the heavens and developing early astronomical models. Today, trigonometry is crucial in fields like physics, engineering, and computer graphics.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DAHKAGuma0w</dc:identifier>
  <dcterms:modified xsi:type="dcterms:W3CDTF">2011-08-01T06:04:30Z</dcterms:modified>
  <cp:revision>1</cp:revision>
  <dc:title>Trigonometry</dc:title>
</cp:coreProperties>
</file>