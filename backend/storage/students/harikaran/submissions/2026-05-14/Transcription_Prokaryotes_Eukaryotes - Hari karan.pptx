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365760" cy="365760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777240"/>
            <a:ext cx="365760" cy="365760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280160"/>
            <a:ext cx="365760" cy="365760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1783080"/>
            <a:ext cx="365760" cy="365760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2286000"/>
            <a:ext cx="365760" cy="365760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2788920"/>
            <a:ext cx="365760" cy="365760"/>
          </a:xfrm>
          <a:prstGeom prst="ellipse">
            <a:avLst/>
          </a:prstGeom>
          <a:solidFill>
            <a:srgbClr val="0D7680">
              <a:alpha val="40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Prokaryotic and Eukaryotic Cells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5029200" cy="3657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• RNA Synthesis • Cell Biology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| Gene Expression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Transcription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is the biological process in which genetic information in DNA is copied into RNA — the first step of gene expression.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331720"/>
            <a:ext cx="2697480" cy="411480"/>
          </a:xfrm>
          <a:prstGeom prst="rect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500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 RNA (mRNA) carries genetic info from DNA to ribosomes.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33172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2331720"/>
            <a:ext cx="2697480" cy="411480"/>
          </a:xfrm>
          <a:prstGeom prst="rect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3500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protein synthesis by serving as a readable template.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331720"/>
            <a:ext cx="2697480" cy="411480"/>
          </a:xfrm>
          <a:prstGeom prst="rect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3500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8346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 both prokaryotic and eukaryotic cells with key differences.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in Prokaryotes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Bacteria, Cyanobacteria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Cytoplasm (no true nucleus)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type of RNA Polymerase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mRNA, tRNA, and rRNA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&amp; translation occur simultaneously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is immediately functional — no processing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is usually polycistronic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97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 Structure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502920" cy="41148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(×2)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13990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alpha subunits — structural 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502920" cy="41148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659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19933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subunit — catalytic activity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502920" cy="41148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60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25877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prime — DNA binding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502920" cy="41148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546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318211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Omega — assembly/stability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749040"/>
            <a:ext cx="502920" cy="41148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7490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37764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factor — promoter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of Prokaryotic Transcription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88920" cy="777240"/>
          </a:xfrm>
          <a:prstGeom prst="rect">
            <a:avLst/>
          </a:prstGeom>
          <a:solidFill>
            <a:srgbClr val="0D76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886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 binds to promoter region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has Pribnow box (−10) and −35 region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factor guides enzyme to start site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strands unwind at promoter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788920" cy="777240"/>
          </a:xfrm>
          <a:prstGeom prst="rect">
            <a:avLst/>
          </a:prstGeom>
          <a:solidFill>
            <a:srgbClr val="1BA3A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4124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794760" y="886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71907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 moves 3′ → 5′ along template strand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synthesized in 5′ → 3′ direction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pairs with U; G pairs with 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rewinds after transcription passes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22960"/>
            <a:ext cx="278892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4124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20840" y="886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71907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Rho-independent: hairpin loop forms → RNA detaches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Rho-dependent: Rho protein assists termination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 is released from DNA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in Eukaryotes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657600" cy="41148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Plants, Animals, Fungi, Protists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Inside the Nucleus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RNA polymerases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moves to cytoplasm for translation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undergoes extensive processing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is monocistronic (1 protein per mRNA)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regulation mechanisms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822960"/>
            <a:ext cx="4663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0" y="822960"/>
            <a:ext cx="4663440" cy="4114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822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Polymerases in Eukaryotes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389888"/>
            <a:ext cx="1325880" cy="82296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1389888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 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43560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rRNA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2468880"/>
            <a:ext cx="1325880" cy="82296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24688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 II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51460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mRNA — main enzyme for gene expression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3547872"/>
            <a:ext cx="1325880" cy="822960"/>
          </a:xfrm>
          <a:prstGeom prst="rect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3547872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 III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359359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tRNA and some small rRNA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of Eukaryotic Transcription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88920" cy="777240"/>
          </a:xfrm>
          <a:prstGeom prst="rect">
            <a:avLst/>
          </a:prstGeom>
          <a:solidFill>
            <a:srgbClr val="0D76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886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 II binds to promoter (TATA box)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factors required: TFIIA, TFIIB, TFIID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factors help RNA Pol recognize promoter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unwinds and transcription begins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788920" cy="777240"/>
          </a:xfrm>
          <a:prstGeom prst="rect">
            <a:avLst/>
          </a:prstGeom>
          <a:solidFill>
            <a:srgbClr val="1BA3A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4124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794760" y="886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171907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 II moves along template strand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Nucleotides added complementary to DNA bases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synthesized in 5′ → 3′ direction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primary transcript (hnRNA)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22960"/>
            <a:ext cx="278892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4124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20840" y="886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71907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 reaches termination sequence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formed RNA molecule is released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is NOT yet mature — requires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Processing in Eukaryotes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transcript (hnRNA) undergoes three key modifications before becoming mature mRNA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572768"/>
            <a:ext cx="822960" cy="82296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5727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 Capping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 guanosine cap added to 5′ 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mRNA from degradation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ribosome attachment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1572768"/>
            <a:ext cx="822960" cy="822960"/>
          </a:xfrm>
          <a:prstGeom prst="ellipse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5727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Polyadenylation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99923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Poly-A tail added to 3′ 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stability of mRNA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 in nuclear export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86600" y="1572768"/>
            <a:ext cx="822960" cy="82296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57276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99923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introns are removed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exons are joined together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out by spliceosomes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Prokaryotes vs Eukaryotes — Comparison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25196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38654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Prokaryotes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6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Eukaryotes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A3A3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Site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Cytoplasm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Nucleus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RNA Polymerase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One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Three types (I, II, III)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Promoter Region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−10 and −35 regions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TATA box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Sigma Factor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Present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Absent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Transcription Factors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Not extensively required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Required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RNA Processing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Absent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Present (cap, tail, splicing)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Introns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Usually absent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Present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mRNA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Polycistronic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Monocistronic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Simultaneous Translation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5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3954"/>
                          </a:solidFill>
                        </a:rPr>
                        <a:t>Complexity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Simple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Complex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of Transcription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2743200" cy="4572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869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Protein Synthesis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first step — without transcription, no proteins can be made.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868680"/>
            <a:ext cx="2743200" cy="4572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8869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Gene Expression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41732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which genes are active, controlling cell behavior and identity.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53328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3328" y="868680"/>
            <a:ext cx="2743200" cy="4572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8869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Cell Differentiation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3056" y="141732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transcription patterns allow cells to specialize into diverse types.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71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2971800"/>
            <a:ext cx="3657600" cy="4572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00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Growth &amp; Metabolism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3520440"/>
            <a:ext cx="3456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for producing enzymes and structural proteins that drive life processes.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297180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971800"/>
            <a:ext cx="3657600" cy="45720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900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Heredity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27448" y="3520440"/>
            <a:ext cx="34564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a major role in how genetic information is expressed across generations.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182880"/>
            <a:ext cx="502920" cy="502920"/>
          </a:xfrm>
          <a:prstGeom prst="ellipse">
            <a:avLst/>
          </a:prstGeom>
          <a:solidFill>
            <a:srgbClr val="0D7680">
              <a:alpha val="35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868680"/>
            <a:ext cx="502920" cy="502920"/>
          </a:xfrm>
          <a:prstGeom prst="ellipse">
            <a:avLst/>
          </a:prstGeom>
          <a:solidFill>
            <a:srgbClr val="0D7680">
              <a:alpha val="35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1554480"/>
            <a:ext cx="502920" cy="502920"/>
          </a:xfrm>
          <a:prstGeom prst="ellipse">
            <a:avLst/>
          </a:prstGeom>
          <a:solidFill>
            <a:srgbClr val="0D7680">
              <a:alpha val="35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2240280"/>
            <a:ext cx="502920" cy="502920"/>
          </a:xfrm>
          <a:prstGeom prst="ellipse">
            <a:avLst/>
          </a:prstGeom>
          <a:solidFill>
            <a:srgbClr val="0D7680">
              <a:alpha val="35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2926080"/>
            <a:ext cx="502920" cy="502920"/>
          </a:xfrm>
          <a:prstGeom prst="ellipse">
            <a:avLst/>
          </a:prstGeom>
          <a:solidFill>
            <a:srgbClr val="0D7680">
              <a:alpha val="35000"/>
            </a:srgbClr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5029200" cy="36576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63040"/>
            <a:ext cx="274320" cy="27432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71600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Mechanism: </a:t>
            </a:r>
            <a:pPr indent="0" marL="0">
              <a:buNone/>
            </a:pPr>
            <a:r>
              <a:rPr lang="en-US" sz="1250" dirty="0">
                <a:solidFill>
                  <a:srgbClr val="C8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converts DNA information into RNA in both cell types.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359152"/>
            <a:ext cx="274320" cy="27432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67712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Eukaryotic Complexity: </a:t>
            </a:r>
            <a:pPr indent="0" marL="0">
              <a:buNone/>
            </a:pPr>
            <a:r>
              <a:rPr lang="en-US" sz="1250" dirty="0">
                <a:solidFill>
                  <a:srgbClr val="C8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RNA polymerases, transcription factors, and RNA processing (capping, poly-A tail, splicing) distinguish eukaryotes.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3255264"/>
            <a:ext cx="274320" cy="27432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163824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Prokaryotic Efficiency: </a:t>
            </a:r>
            <a:pPr indent="0" marL="0">
              <a:buNone/>
            </a:pPr>
            <a:r>
              <a:rPr lang="en-US" sz="1250" dirty="0">
                <a:solidFill>
                  <a:srgbClr val="C8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RNA polymerase, no processing, and simultaneous translation make prokaryotes simpler and faster.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4151376"/>
            <a:ext cx="274320" cy="274320"/>
          </a:xfrm>
          <a:prstGeom prst="ellipse">
            <a:avLst/>
          </a:prstGeom>
          <a:solidFill>
            <a:srgbClr val="1BA3A3"/>
          </a:solidFill>
          <a:ln w="12700">
            <a:solidFill>
              <a:srgbClr val="1BA3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59936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Significance: </a:t>
            </a:r>
            <a:pPr indent="0" marL="0">
              <a:buNone/>
            </a:pPr>
            <a:r>
              <a:rPr lang="en-US" sz="1250" dirty="0">
                <a:solidFill>
                  <a:srgbClr val="C8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controls protein synthesis, differentiation, growth, and heredity.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| Gene Expression Series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Transcription in Prokaryotic and Eukaryotic Cells</dc:title>
  <dc:subject>PptxGenJS Presentation</dc:subject>
  <dc:creator>PptxGenJS</dc:creator>
  <cp:lastModifiedBy>PptxGenJS</cp:lastModifiedBy>
  <cp:revision>1</cp:revision>
  <dcterms:created xsi:type="dcterms:W3CDTF">2026-05-14T13:50:39Z</dcterms:created>
  <dcterms:modified xsi:type="dcterms:W3CDTF">2026-05-14T13:50:39Z</dcterms:modified>
</cp:coreProperties>
</file>