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73152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1371600"/>
            <a:ext cx="2743200" cy="2743200"/>
          </a:xfrm>
          <a:prstGeom prst="ellipse">
            <a:avLst/>
          </a:prstGeom>
          <a:solidFill>
            <a:srgbClr val="00F5FF">
              <a:alpha val="8000"/>
            </a:srgbClr>
          </a:solidFill>
          <a:ln w="12700">
            <a:solidFill>
              <a:srgbClr val="00F5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D60A">
              <a:alpha val="10000"/>
            </a:srgbClr>
          </a:solidFill>
          <a:ln w="12700">
            <a:solidFill>
              <a:srgbClr val="FFD60A">
                <a:alpha val="1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28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</a:rPr>
              <a:t>ELECTROSTATICS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2286000" y="274320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B4D8"/>
                </a:solidFill>
              </a:rPr>
              <a:t>Electric Charges · Electric Fields · Electric Potential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Class 12 CBSE Physics  |  Chapter 1 &amp; 2  |  45-Minute Journey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371600" y="393192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069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3977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60A"/>
                </a:solidFill>
              </a:rPr>
              <a:t>Why does your hair stand up when you remove a woollen sweater in the dark?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CHAPTER 1  ·  THE STORY BEGINS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60A"/>
                </a:solidFill>
              </a:rPr>
              <a:t>600 BC: The First Electric Discovery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44168"/>
            <a:ext cx="320040" cy="32004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664208"/>
            <a:ext cx="18288" cy="46634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80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600 BC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3"/>
                </a:solidFill>
              </a:rPr>
              <a:t>Thales of Miletus: Amber rubbed on fur attracted feathers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2560320"/>
            <a:ext cx="18288" cy="46634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76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1600 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1762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3"/>
                </a:solidFill>
              </a:rPr>
              <a:t>William Gilbert coins the term 'Electricus' from Greek ēlektron (amber)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136392"/>
            <a:ext cx="32004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3456432"/>
            <a:ext cx="18288" cy="46634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72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1752 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0723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3"/>
                </a:solidFill>
              </a:rPr>
              <a:t>Benjamin Franklin – kite experiment proves lightning = electricity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320040" cy="3200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684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1785 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9684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3"/>
                </a:solidFill>
              </a:rPr>
              <a:t>Charles Coulomb formulates the law of force between charges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1A2F4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45152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60120" y="45994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60A"/>
                </a:solidFill>
              </a:rPr>
              <a:t>FUN FACT: The word 'electricity' comes from the Greek word for amber — ēlektron!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ELECTRIC CHARGE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Electric Charge?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Electric charge is a fundamental property of matter that causes it to experience a force when placed in an electromagnetic field.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Symbol: q  |  SI Unit: Coulomb (C)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Smallest charge: e = 1.6 × 10⁻¹⁹ 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D1F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61872"/>
            <a:ext cx="457200" cy="457200"/>
          </a:xfrm>
          <a:prstGeom prst="ellipse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261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</a:rPr>
              <a:t>NEGATIVE CHARGE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508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</a:rPr>
              <a:t>Gained by gaining electrons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</a:rPr>
              <a:t>Example: Ebonite rod rubbed with fur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23317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0D1F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24505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450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POSITIVE CHARGE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2697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</a:rPr>
              <a:t>Gained by losing electrons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3"/>
                </a:solidFill>
              </a:rPr>
              <a:t>Example: Glass rod rubbed with silk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899AA"/>
                </a:solidFill>
              </a:rPr>
              <a:t>KEY PROPERTIES OF CHARGE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931920"/>
            <a:ext cx="27432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41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Additive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389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Charges 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algebraically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39319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931920"/>
            <a:ext cx="2743200" cy="7315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4041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Conserved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389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Total charge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isolated system = const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9319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3931920"/>
            <a:ext cx="27432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0416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Quantised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4389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q = ±ne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(n = integer)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COULOMB'S LAW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Coulomb's Law of Electrostatic Force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0A1E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60A"/>
                </a:solidFill>
              </a:rPr>
              <a:t>F  =  k · |q₁ · q₂| / r²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899AA"/>
                </a:solidFill>
              </a:rPr>
              <a:t>where  k = 1/(4πε₀) = 9 × 10⁹ N·m²/C²      ε₀ = 8.85 × 10⁻¹² C²/N·m²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8716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871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Direction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Force is along the line joining the two charges (central force)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24231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248716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13048" y="24871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Nature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55848" y="29077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Attractive for unlike charges, repulsive for like charges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63056" y="242316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2487168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57416" y="24871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Medium Effect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0216" y="290779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In a medium: F = k·q₁q₂/(ε_r·r²) — force reduces by factor ε_r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A183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77640"/>
            <a:ext cx="73152" cy="86868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096512"/>
            <a:ext cx="320040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584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D60A"/>
                </a:solidFill>
              </a:rPr>
              <a:t>CLASSROOM QUESTION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840" y="42793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3"/>
                </a:solidFill>
              </a:rPr>
              <a:t>If the distance between two charges is doubled, what happens to the force between them? By what factor does it change?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ELECTRIC FIELD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Electric Field: The Force-Space Idea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0D204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3"/>
                </a:solidFill>
              </a:rPr>
              <a:t>Electric field E⃗ at a point is the force per unit positive test charge placed at that point.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E⃗ = F⃗ / q₀  =  kQ / r²   (Unit: N/C or V/m)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9AA"/>
                </a:solidFill>
              </a:rPr>
              <a:t>FIELD LINE RULES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88950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871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Start from +ve charge, end on –ve charge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27355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Never intersect each other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Closer lines → stronger field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04164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23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Tangent at a point gives E direction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42569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407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Perpendicular to conductor surface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514600"/>
            <a:ext cx="4389120" cy="2468880"/>
          </a:xfrm>
          <a:prstGeom prst="roundRect">
            <a:avLst>
              <a:gd name="adj" fmla="val 3704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514600"/>
            <a:ext cx="438912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</a:rPr>
              <a:t>SPECIAL CASES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999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3"/>
                </a:solidFill>
              </a:rPr>
              <a:t>Point charge Q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69480" y="2999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D60A"/>
                </a:solidFill>
              </a:rPr>
              <a:t>E = kQ/r²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3310128"/>
            <a:ext cx="40233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483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3"/>
                </a:solidFill>
              </a:rPr>
              <a:t>Infinite line charge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69480" y="3483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D60A"/>
                </a:solidFill>
              </a:rPr>
              <a:t>E = λ/(2πε₀r)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9160" y="3794760"/>
            <a:ext cx="40233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9684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3"/>
                </a:solidFill>
              </a:rPr>
              <a:t>Infinite plane sheet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269480" y="3968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D60A"/>
                </a:solidFill>
              </a:rPr>
              <a:t>E = σ/(2ε₀)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4279392"/>
            <a:ext cx="402336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453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DF3"/>
                </a:solidFill>
              </a:rPr>
              <a:t>Inside conductor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69480" y="4453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D60A"/>
                </a:solidFill>
              </a:rPr>
              <a:t>E = 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GAUSS'S LAW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Gauss's Law — The Elegant Shortcut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A0D2E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8595360" cy="640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5DE5"/>
                </a:solidFill>
              </a:rPr>
              <a:t>∮ E⃗ · dA⃗  =  Q_enclosed / ε₀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The total electric flux through any closed surface equals the net charge enclosed divided by ε₀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9AA"/>
                </a:solidFill>
              </a:rPr>
              <a:t>APPLICATIONS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651760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61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Spherical Shell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Outside: E = kQ/r²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Inside: E =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6517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651760"/>
            <a:ext cx="278892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761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Long Wire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1272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E = λ/(2πε₀r)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Radial direction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651760"/>
            <a:ext cx="2788920" cy="1417320"/>
          </a:xfrm>
          <a:prstGeom prst="roundRect">
            <a:avLst>
              <a:gd name="adj" fmla="val 6452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651760"/>
            <a:ext cx="278892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761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Plane Sheet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12724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E = σ/(2ε₀)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Both sides, outward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1A0D2E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370832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42976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KEY INSIGHT: Gauss's Law is most useful when charge distribution has symmetry (spherical, cylindrical, planar).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ELECTRIC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Electric Potential &amp; Potential Energy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0A1E0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6858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DF3"/>
                </a:solidFill>
              </a:rPr>
              <a:t>ANALOGY: Just like gravitational PE tells you energy stored due to position in gravity, electric potential tells you energy stored due to position in an electric field.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206240" cy="2240280"/>
          </a:xfrm>
          <a:prstGeom prst="roundRect">
            <a:avLst>
              <a:gd name="adj" fmla="val 4082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29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Electric Potential (V)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V = W/q₀  =  kQ/r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Unit: Volt (V) = J/C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V is a scalar quantity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V at ∞ = 0 (reference)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V = 0 inside conductor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96596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Potential Energy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60A"/>
                </a:solidFill>
              </a:rPr>
              <a:t>U = qV  =  kq₁q₂/r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Work done against field = ΔU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09067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154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Relation: E &amp; 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E⃗ = –dV/dr  (E points from high V to low V)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Equipotential surfaces ⊥ E⃗ field lines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315968"/>
            <a:ext cx="8595360" cy="640080"/>
          </a:xfrm>
          <a:prstGeom prst="roundRect">
            <a:avLst>
              <a:gd name="adj" fmla="val 14286"/>
            </a:avLst>
          </a:prstGeom>
          <a:solidFill>
            <a:srgbClr val="1A2F1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3484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435254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C4B6"/>
                </a:solidFill>
              </a:rPr>
              <a:t>THINK: Can two equipotential surfaces intersect each other? Why or why not?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CAPACITORS &amp; CAPACITANCE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Capacitors: Storing Electric Energy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60A"/>
                </a:solidFill>
              </a:rPr>
              <a:t>C = Q / V       (Parallel Plate: C = ε₀A / d)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1A1400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60A"/>
                </a:solidFill>
              </a:rPr>
              <a:t>Energy stored:   U = ½CV²  =  Q²/2C  =  QV/2       Unit: Joule (J)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42316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Series Combination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1/C_eff = 1/C₁ + 1/C₂ + 1/C₃
</a:t>
            </a:r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• Same charge Q on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• Voltage divides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• C_eff &lt; smallest capacitor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423160"/>
            <a:ext cx="42062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532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Parallel Combination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A"/>
                </a:solidFill>
              </a:rPr>
              <a:t>C_eff = C₁ + C₂ + C₃
</a:t>
            </a:r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• Same voltage V across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• Charge divides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• C_eff &gt; largest capacitor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919472"/>
            <a:ext cx="8595360" cy="164592"/>
          </a:xfrm>
          <a:prstGeom prst="roundRect">
            <a:avLst>
              <a:gd name="adj" fmla="val 55556"/>
            </a:avLst>
          </a:prstGeom>
          <a:solidFill>
            <a:srgbClr val="0D1F35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93776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</a:rPr>
              <a:t>With Dielectric (κ): C' = κC₀  — capacitance INCREASES. Energy stored DECREASES (isolated) or INCREASES (battery connected).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REAL-LIFE APPLICATIONS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Electrostatics in the Real World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88920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63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60A"/>
                </a:solidFill>
              </a:rPr>
              <a:t>Lightning Rod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84048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Pointed tip creates strong E field → ionises air → safely conducts charge to ground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80160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4630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</a:rPr>
              <a:t>Touchscreen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55848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Your finger disturbs capacitive field → phone detects location of touch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28016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80160"/>
            <a:ext cx="2788920" cy="640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630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C4B6"/>
                </a:solidFill>
              </a:rPr>
              <a:t>ECG / EEG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27648" y="190195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Measures tiny potential differences produced by heart/brain electrical activity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320040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200400"/>
            <a:ext cx="278892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38328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</a:rPr>
              <a:t>Car Spray Paint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384048" y="3822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Paint droplets charged oppositely to car body → uniform, waste-free coating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46120" y="320040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46120" y="3200400"/>
            <a:ext cx="2788920" cy="6400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38328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33C"/>
                </a:solidFill>
              </a:rPr>
              <a:t>Xerox / Laser Printer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3355848" y="3822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Toner particles align with charged drum surface to create printed image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217920" y="320040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200400"/>
            <a:ext cx="2788920" cy="640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8328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5DE5"/>
                </a:solidFill>
              </a:rPr>
              <a:t>Particle Accelerator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6327648" y="382219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</a:rPr>
              <a:t>Electric fields accelerate charged particles to near light speed for physics research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HANDS-ON ACTIVITY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</a:rPr>
              <a:t>⚡ ACTIVITY 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1155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EDF3"/>
                </a:solidFill>
              </a:rPr>
              <a:t>The Bending Water Trick — Demonstrating Static Electricity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Materials: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7099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Plastic comb or pen, running water from a tap, woollen cloth / hair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58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0D1A2E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350008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368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Charge It: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682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Rub the comb vigorously against your hair or woollen cloth for 10–15 seconds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1693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008376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0266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Bend Water: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02666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Turn on a thin stream of water. Hold the charged comb near the stream.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57530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0D1A2E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66744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685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Observe: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6850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The water bends toward the comb! Record what happens at different distances.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23367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325112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Explain: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43434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</a:rPr>
              <a:t>Charged comb induces opposite charge on water molecules (polarisation) → attraction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910328"/>
            <a:ext cx="8412480" cy="201168"/>
          </a:xfrm>
          <a:prstGeom prst="roundRect">
            <a:avLst>
              <a:gd name="adj" fmla="val 45455"/>
            </a:avLst>
          </a:prstGeom>
          <a:solidFill>
            <a:srgbClr val="0A200F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9286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DISCUSS: Why does the effect reduce as you move the comb farther from the water stream?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RAPID FIRE QUIZ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60A"/>
                </a:solidFill>
              </a:rPr>
              <a:t>🏆  Quick Quiz — 5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4358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1. SI unit of electric field intensity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A) V/m    B) N/m    C) C/m²    D) J/C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0" y="1371600"/>
            <a:ext cx="329184" cy="292608"/>
          </a:xfrm>
          <a:prstGeom prst="roundRect">
            <a:avLst>
              <a:gd name="adj" fmla="val 1562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137160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56816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0D1A2E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11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2. Force between two charges becomes ¼ when distance 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A) halved    B) doubled    C) tripled    D) quadrupled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139696"/>
            <a:ext cx="329184" cy="292608"/>
          </a:xfrm>
          <a:prstGeom prst="roundRect">
            <a:avLst>
              <a:gd name="adj" fmla="val 1562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213969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24912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779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3. Inside a charged hollow spherical shell, E 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30723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A) kQ/r²    B) σ/ε₀    C) Zero    D) kQ/R²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2907792"/>
            <a:ext cx="329184" cy="292608"/>
          </a:xfrm>
          <a:prstGeom prst="roundRect">
            <a:avLst>
              <a:gd name="adj" fmla="val 1562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9077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493008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0D1A2E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5478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4. Equipotential surfaces of a point charge are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8404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A) planes    B) cylinders    C) spheres    D) cones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0" y="3675888"/>
            <a:ext cx="329184" cy="292608"/>
          </a:xfrm>
          <a:prstGeom prst="roundRect">
            <a:avLst>
              <a:gd name="adj" fmla="val 1562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67588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261104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3159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5. On inserting a dielectric in a capacitor (battery connected), energy stored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A) decreases    B) remains same    C) increases    D) becomes zero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4443984"/>
            <a:ext cx="329184" cy="292608"/>
          </a:xfrm>
          <a:prstGeom prst="roundRect">
            <a:avLst>
              <a:gd name="adj" fmla="val 1562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4439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</a:rPr>
              <a:t>FORMULA SUMMARY SHEET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All Key Formulas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25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Coulomb's Law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499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F = kq₁q₂/r²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k = 9×10⁹ N·m²/C²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70432"/>
            <a:ext cx="64008" cy="8412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225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Electric Field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10328" y="14996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E = F/q₀ = kQ/r²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N/C or V/m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30552"/>
            <a:ext cx="64008" cy="8412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Electric Flux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2459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Φ = E·A·cosθ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Unit: N·m²/C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13055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30552"/>
            <a:ext cx="64008" cy="84124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185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Gauss's Law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0328" y="2459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∮E·dA = Q_enc/ε₀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2697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ε₀ = 8.85×10⁻¹² C²/N·m²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9067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90672"/>
            <a:ext cx="64008" cy="84124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60A"/>
                </a:solidFill>
              </a:rPr>
              <a:t>Electric Potential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V = kQ/r = W/q₀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Scalar, Unit: Volt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09067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90672"/>
            <a:ext cx="64008" cy="841248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1455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233C"/>
                </a:solidFill>
              </a:rPr>
              <a:t>Potential Energy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10328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U = qV = kq₁q₂/r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0328" y="3657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ΔU = -W_field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05079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050792"/>
            <a:ext cx="64008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Capacitance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C = Q/V = ε₀A/d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5488" y="4617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Unit: Farad (F)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050792"/>
            <a:ext cx="4206240" cy="841248"/>
          </a:xfrm>
          <a:prstGeom prst="roundRect">
            <a:avLst>
              <a:gd name="adj" fmla="val 10870"/>
            </a:avLst>
          </a:prstGeom>
          <a:solidFill>
            <a:srgbClr val="132338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050792"/>
            <a:ext cx="64008" cy="8412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Energy in Capacitor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10328" y="4379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</a:rPr>
              <a:t>U = ½CV² = Q²/2C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10328" y="4617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Energy density = ½ε₀E²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FFD60A">
              <a:alpha val="8000"/>
            </a:srgbClr>
          </a:solidFill>
          <a:ln w="12700">
            <a:solidFill>
              <a:srgbClr val="FFD60A">
                <a:alpha val="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0116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Great Work, Class!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944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Today we explored: Electric Charge · Coulomb's Law · Electric Field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Gauss's Law · Electric Potential · Capacitors · Real-Life Applications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71600" y="374904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1A2F1A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8862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38221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</a:rPr>
              <a:t>HOMEWORK: NCERT Ex. 1.1–1.7, 2.1–2.5  |  Try numericals on Coulomb's law &amp; capacitors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Charges, Fields &amp; Potential – Class 12 CBSE</dc:title>
  <dc:subject>PptxGenJS Presentation</dc:subject>
  <dc:creator>Physics Teacher</dc:creator>
  <cp:lastModifiedBy>Physics Teacher</cp:lastModifiedBy>
  <cp:revision>1</cp:revision>
  <dcterms:created xsi:type="dcterms:W3CDTF">2026-05-15T00:38:46Z</dcterms:created>
  <dcterms:modified xsi:type="dcterms:W3CDTF">2026-05-15T00:38:46Z</dcterms:modified>
</cp:coreProperties>
</file>