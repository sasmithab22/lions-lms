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nter" charset="1" panose="020B0502030000000004"/>
      <p:regular r:id="rId16"/>
    </p:embeddedFont>
    <p:embeddedFont>
      <p:font typeface="Poppins Medium" charset="1" panose="00000600000000000000"/>
      <p:regular r:id="rId17"/>
    </p:embeddedFont>
    <p:embeddedFont>
      <p:font typeface="Lilita One" charset="1" panose="02000000000000000000"/>
      <p:regular r:id="rId18"/>
    </p:embeddedFont>
    <p:embeddedFont>
      <p:font typeface="Norwester" charset="1" panose="00000506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9571124" y="1028700"/>
            <a:ext cx="7688176" cy="8229600"/>
            <a:chOff x="0" y="0"/>
            <a:chExt cx="406400" cy="435020"/>
          </a:xfrm>
        </p:grpSpPr>
        <p:sp>
          <p:nvSpPr>
            <p:cNvPr name="Freeform 3" id="3"/>
            <p:cNvSpPr/>
            <p:nvPr/>
          </p:nvSpPr>
          <p:spPr>
            <a:xfrm flipH="false" flipV="false" rot="0">
              <a:off x="0" y="0"/>
              <a:ext cx="406400" cy="435020"/>
            </a:xfrm>
            <a:custGeom>
              <a:avLst/>
              <a:gdLst/>
              <a:ahLst/>
              <a:cxnLst/>
              <a:rect r="r" b="b" t="t" l="l"/>
              <a:pathLst>
                <a:path h="435020" w="406400">
                  <a:moveTo>
                    <a:pt x="0" y="0"/>
                  </a:moveTo>
                  <a:lnTo>
                    <a:pt x="406400" y="0"/>
                  </a:lnTo>
                  <a:lnTo>
                    <a:pt x="406400"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406400" cy="473120"/>
            </a:xfrm>
            <a:prstGeom prst="rect">
              <a:avLst/>
            </a:prstGeom>
          </p:spPr>
          <p:txBody>
            <a:bodyPr anchor="ctr" rtlCol="false" tIns="50800" lIns="50800" bIns="50800" rIns="50800"/>
            <a:lstStyle/>
            <a:p>
              <a:pPr algn="ctr">
                <a:lnSpc>
                  <a:spcPts val="3197"/>
                </a:lnSpc>
              </a:pPr>
            </a:p>
          </p:txBody>
        </p:sp>
      </p:grpSp>
      <p:sp>
        <p:nvSpPr>
          <p:cNvPr name="Freeform 5" id="5"/>
          <p:cNvSpPr/>
          <p:nvPr/>
        </p:nvSpPr>
        <p:spPr>
          <a:xfrm flipH="false" flipV="false" rot="0">
            <a:off x="10015116" y="1351101"/>
            <a:ext cx="6800191" cy="7907199"/>
          </a:xfrm>
          <a:custGeom>
            <a:avLst/>
            <a:gdLst/>
            <a:ahLst/>
            <a:cxnLst/>
            <a:rect r="r" b="b" t="t" l="l"/>
            <a:pathLst>
              <a:path h="7907199" w="6800191">
                <a:moveTo>
                  <a:pt x="0" y="0"/>
                </a:moveTo>
                <a:lnTo>
                  <a:pt x="6800191" y="0"/>
                </a:lnTo>
                <a:lnTo>
                  <a:pt x="6800191" y="7907199"/>
                </a:lnTo>
                <a:lnTo>
                  <a:pt x="0" y="7907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5282129" y="1028700"/>
            <a:ext cx="3410245" cy="766943"/>
            <a:chOff x="0" y="0"/>
            <a:chExt cx="898172" cy="201993"/>
          </a:xfrm>
        </p:grpSpPr>
        <p:sp>
          <p:nvSpPr>
            <p:cNvPr name="Freeform 7" id="7"/>
            <p:cNvSpPr/>
            <p:nvPr/>
          </p:nvSpPr>
          <p:spPr>
            <a:xfrm flipH="false" flipV="false" rot="0">
              <a:off x="0" y="0"/>
              <a:ext cx="898172" cy="201993"/>
            </a:xfrm>
            <a:custGeom>
              <a:avLst/>
              <a:gdLst/>
              <a:ahLst/>
              <a:cxnLst/>
              <a:rect r="r" b="b" t="t" l="l"/>
              <a:pathLst>
                <a:path h="201993" w="898172">
                  <a:moveTo>
                    <a:pt x="100997" y="0"/>
                  </a:moveTo>
                  <a:lnTo>
                    <a:pt x="797175" y="0"/>
                  </a:lnTo>
                  <a:cubicBezTo>
                    <a:pt x="852954" y="0"/>
                    <a:pt x="898172" y="45218"/>
                    <a:pt x="898172" y="100997"/>
                  </a:cubicBezTo>
                  <a:lnTo>
                    <a:pt x="898172" y="100997"/>
                  </a:lnTo>
                  <a:cubicBezTo>
                    <a:pt x="898172" y="127783"/>
                    <a:pt x="887531" y="153472"/>
                    <a:pt x="868590" y="172412"/>
                  </a:cubicBezTo>
                  <a:cubicBezTo>
                    <a:pt x="849650" y="191353"/>
                    <a:pt x="823961" y="201993"/>
                    <a:pt x="797175" y="201993"/>
                  </a:cubicBezTo>
                  <a:lnTo>
                    <a:pt x="100997" y="201993"/>
                  </a:lnTo>
                  <a:cubicBezTo>
                    <a:pt x="45218" y="201993"/>
                    <a:pt x="0" y="156776"/>
                    <a:pt x="0" y="100997"/>
                  </a:cubicBezTo>
                  <a:lnTo>
                    <a:pt x="0" y="100997"/>
                  </a:lnTo>
                  <a:cubicBezTo>
                    <a:pt x="0" y="45218"/>
                    <a:pt x="45218" y="0"/>
                    <a:pt x="100997" y="0"/>
                  </a:cubicBezTo>
                  <a:close/>
                </a:path>
              </a:pathLst>
            </a:custGeom>
            <a:ln w="19050" cap="rnd">
              <a:solidFill>
                <a:srgbClr val="3B5704"/>
              </a:solidFill>
              <a:prstDash val="solid"/>
              <a:round/>
            </a:ln>
          </p:spPr>
        </p:sp>
        <p:sp>
          <p:nvSpPr>
            <p:cNvPr name="TextBox 8" id="8"/>
            <p:cNvSpPr txBox="true"/>
            <p:nvPr/>
          </p:nvSpPr>
          <p:spPr>
            <a:xfrm>
              <a:off x="0" y="-38100"/>
              <a:ext cx="898172" cy="240093"/>
            </a:xfrm>
            <a:prstGeom prst="rect">
              <a:avLst/>
            </a:prstGeom>
          </p:spPr>
          <p:txBody>
            <a:bodyPr anchor="ctr" rtlCol="false" tIns="50800" lIns="50800" bIns="50800" rIns="50800"/>
            <a:lstStyle/>
            <a:p>
              <a:pPr algn="ctr">
                <a:lnSpc>
                  <a:spcPts val="2502"/>
                </a:lnSpc>
              </a:pPr>
              <a:r>
                <a:rPr lang="en-US" sz="1800">
                  <a:solidFill>
                    <a:srgbClr val="3B5704"/>
                  </a:solidFill>
                  <a:latin typeface="Inter"/>
                  <a:ea typeface="Inter"/>
                  <a:cs typeface="Inter"/>
                  <a:sym typeface="Inter"/>
                </a:rPr>
                <a:t>www.reallygreatsite.com</a:t>
              </a:r>
            </a:p>
          </p:txBody>
        </p:sp>
      </p:grpSp>
      <p:grpSp>
        <p:nvGrpSpPr>
          <p:cNvPr name="Group 9" id="9"/>
          <p:cNvGrpSpPr/>
          <p:nvPr/>
        </p:nvGrpSpPr>
        <p:grpSpPr>
          <a:xfrm rot="0">
            <a:off x="1028700" y="1028700"/>
            <a:ext cx="766943" cy="76694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DD24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sp>
        <p:nvSpPr>
          <p:cNvPr name="Freeform 12" id="12"/>
          <p:cNvSpPr/>
          <p:nvPr/>
        </p:nvSpPr>
        <p:spPr>
          <a:xfrm flipH="false" flipV="false" rot="0">
            <a:off x="1089770" y="1089770"/>
            <a:ext cx="644803" cy="644803"/>
          </a:xfrm>
          <a:custGeom>
            <a:avLst/>
            <a:gdLst/>
            <a:ahLst/>
            <a:cxnLst/>
            <a:rect r="r" b="b" t="t" l="l"/>
            <a:pathLst>
              <a:path h="644803" w="644803">
                <a:moveTo>
                  <a:pt x="0" y="0"/>
                </a:moveTo>
                <a:lnTo>
                  <a:pt x="644803" y="0"/>
                </a:lnTo>
                <a:lnTo>
                  <a:pt x="644803" y="644803"/>
                </a:lnTo>
                <a:lnTo>
                  <a:pt x="0" y="6448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426495" y="884072"/>
            <a:ext cx="289257" cy="28925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6" id="16"/>
          <p:cNvGrpSpPr/>
          <p:nvPr/>
        </p:nvGrpSpPr>
        <p:grpSpPr>
          <a:xfrm rot="0">
            <a:off x="17114672" y="884072"/>
            <a:ext cx="289257" cy="28925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9" id="19"/>
          <p:cNvGrpSpPr/>
          <p:nvPr/>
        </p:nvGrpSpPr>
        <p:grpSpPr>
          <a:xfrm rot="0">
            <a:off x="17114672" y="9113672"/>
            <a:ext cx="289257" cy="28925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22" id="22"/>
          <p:cNvGrpSpPr/>
          <p:nvPr/>
        </p:nvGrpSpPr>
        <p:grpSpPr>
          <a:xfrm rot="0">
            <a:off x="9426495" y="9113672"/>
            <a:ext cx="289257" cy="28925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sp>
        <p:nvSpPr>
          <p:cNvPr name="Freeform 25" id="25"/>
          <p:cNvSpPr/>
          <p:nvPr/>
        </p:nvSpPr>
        <p:spPr>
          <a:xfrm flipH="false" flipV="false" rot="0">
            <a:off x="1028700" y="4011954"/>
            <a:ext cx="7169806" cy="4653856"/>
          </a:xfrm>
          <a:custGeom>
            <a:avLst/>
            <a:gdLst/>
            <a:ahLst/>
            <a:cxnLst/>
            <a:rect r="r" b="b" t="t" l="l"/>
            <a:pathLst>
              <a:path h="4653856" w="7169806">
                <a:moveTo>
                  <a:pt x="0" y="0"/>
                </a:moveTo>
                <a:lnTo>
                  <a:pt x="7169806" y="0"/>
                </a:lnTo>
                <a:lnTo>
                  <a:pt x="7169806" y="4653856"/>
                </a:lnTo>
                <a:lnTo>
                  <a:pt x="0" y="4653856"/>
                </a:lnTo>
                <a:lnTo>
                  <a:pt x="0" y="0"/>
                </a:lnTo>
                <a:close/>
              </a:path>
            </a:pathLst>
          </a:custGeom>
          <a:blipFill>
            <a:blip r:embed="rId6"/>
            <a:stretch>
              <a:fillRect l="0" t="0" r="0" b="0"/>
            </a:stretch>
          </a:blipFill>
        </p:spPr>
      </p:sp>
      <p:sp>
        <p:nvSpPr>
          <p:cNvPr name="TextBox 26" id="26"/>
          <p:cNvSpPr txBox="true"/>
          <p:nvPr/>
        </p:nvSpPr>
        <p:spPr>
          <a:xfrm rot="0">
            <a:off x="260886" y="951051"/>
            <a:ext cx="8115300" cy="3060903"/>
          </a:xfrm>
          <a:prstGeom prst="rect">
            <a:avLst/>
          </a:prstGeom>
        </p:spPr>
        <p:txBody>
          <a:bodyPr anchor="t" rtlCol="false" tIns="0" lIns="0" bIns="0" rIns="0">
            <a:spAutoFit/>
          </a:bodyPr>
          <a:lstStyle/>
          <a:p>
            <a:pPr algn="l">
              <a:lnSpc>
                <a:spcPts val="23434"/>
              </a:lnSpc>
            </a:pPr>
            <a:r>
              <a:rPr lang="en-US" sz="17488" spc="-1189" b="true">
                <a:solidFill>
                  <a:srgbClr val="3B5704"/>
                </a:solidFill>
                <a:latin typeface="Poppins Medium"/>
                <a:ea typeface="Poppins Medium"/>
                <a:cs typeface="Poppins Medium"/>
                <a:sym typeface="Poppins Medium"/>
              </a:rPr>
              <a:t>Finance</a:t>
            </a:r>
          </a:p>
        </p:txBody>
      </p:sp>
      <p:sp>
        <p:nvSpPr>
          <p:cNvPr name="TextBox 27" id="27"/>
          <p:cNvSpPr txBox="true"/>
          <p:nvPr/>
        </p:nvSpPr>
        <p:spPr>
          <a:xfrm rot="0">
            <a:off x="1161885" y="8566658"/>
            <a:ext cx="7214300" cy="691642"/>
          </a:xfrm>
          <a:prstGeom prst="rect">
            <a:avLst/>
          </a:prstGeom>
        </p:spPr>
        <p:txBody>
          <a:bodyPr anchor="t" rtlCol="false" tIns="0" lIns="0" bIns="0" rIns="0">
            <a:spAutoFit/>
          </a:bodyPr>
          <a:lstStyle/>
          <a:p>
            <a:pPr algn="l">
              <a:lnSpc>
                <a:spcPts val="5699"/>
              </a:lnSpc>
              <a:spcBef>
                <a:spcPct val="0"/>
              </a:spcBef>
            </a:pPr>
            <a:r>
              <a:rPr lang="en-US" sz="4100" spc="-192">
                <a:solidFill>
                  <a:srgbClr val="3B5704"/>
                </a:solidFill>
                <a:latin typeface="Inter"/>
                <a:ea typeface="Inter"/>
                <a:cs typeface="Inter"/>
                <a:sym typeface="Inter"/>
              </a:rPr>
              <a:t>Mastering Money M</a:t>
            </a:r>
            <a:r>
              <a:rPr lang="en-US" sz="4100" spc="-192">
                <a:solidFill>
                  <a:srgbClr val="3B5704"/>
                </a:solidFill>
                <a:latin typeface="Inter"/>
                <a:ea typeface="Inter"/>
                <a:cs typeface="Inter"/>
                <a:sym typeface="Inter"/>
              </a:rPr>
              <a:t>atters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857956" cy="435020"/>
          </a:xfrm>
        </p:grpSpPr>
        <p:sp>
          <p:nvSpPr>
            <p:cNvPr name="Freeform 3" id="3"/>
            <p:cNvSpPr/>
            <p:nvPr/>
          </p:nvSpPr>
          <p:spPr>
            <a:xfrm flipH="false" flipV="false" rot="0">
              <a:off x="0" y="0"/>
              <a:ext cx="857956" cy="435020"/>
            </a:xfrm>
            <a:custGeom>
              <a:avLst/>
              <a:gdLst/>
              <a:ahLst/>
              <a:cxnLst/>
              <a:rect r="r" b="b" t="t" l="l"/>
              <a:pathLst>
                <a:path h="435020" w="857956">
                  <a:moveTo>
                    <a:pt x="0" y="0"/>
                  </a:moveTo>
                  <a:lnTo>
                    <a:pt x="857956" y="0"/>
                  </a:lnTo>
                  <a:lnTo>
                    <a:pt x="857956"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857956" cy="473120"/>
            </a:xfrm>
            <a:prstGeom prst="rect">
              <a:avLst/>
            </a:prstGeom>
          </p:spPr>
          <p:txBody>
            <a:bodyPr anchor="ctr" rtlCol="false" tIns="50800" lIns="50800" bIns="50800" rIns="50800"/>
            <a:lstStyle/>
            <a:p>
              <a:pPr algn="ctr">
                <a:lnSpc>
                  <a:spcPts val="3197"/>
                </a:lnSpc>
              </a:pPr>
            </a:p>
          </p:txBody>
        </p:sp>
      </p:grpSp>
      <p:sp>
        <p:nvSpPr>
          <p:cNvPr name="TextBox 5" id="5"/>
          <p:cNvSpPr txBox="true"/>
          <p:nvPr/>
        </p:nvSpPr>
        <p:spPr>
          <a:xfrm rot="0">
            <a:off x="1899816" y="2160312"/>
            <a:ext cx="8551019" cy="2980531"/>
          </a:xfrm>
          <a:prstGeom prst="rect">
            <a:avLst/>
          </a:prstGeom>
        </p:spPr>
        <p:txBody>
          <a:bodyPr anchor="t" rtlCol="false" tIns="0" lIns="0" bIns="0" rIns="0">
            <a:spAutoFit/>
          </a:bodyPr>
          <a:lstStyle/>
          <a:p>
            <a:pPr algn="l">
              <a:lnSpc>
                <a:spcPts val="10797"/>
              </a:lnSpc>
            </a:pPr>
            <a:r>
              <a:rPr lang="en-US" sz="12555" spc="-853" b="true">
                <a:solidFill>
                  <a:srgbClr val="3B5704"/>
                </a:solidFill>
                <a:latin typeface="Poppins Medium"/>
                <a:ea typeface="Poppins Medium"/>
                <a:cs typeface="Poppins Medium"/>
                <a:sym typeface="Poppins Medium"/>
              </a:rPr>
              <a:t>What is Finance?</a:t>
            </a:r>
          </a:p>
        </p:txBody>
      </p:sp>
      <p:grpSp>
        <p:nvGrpSpPr>
          <p:cNvPr name="Group 6" id="6"/>
          <p:cNvGrpSpPr/>
          <p:nvPr/>
        </p:nvGrpSpPr>
        <p:grpSpPr>
          <a:xfrm rot="0">
            <a:off x="17114672" y="884072"/>
            <a:ext cx="289257" cy="2892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9" id="9"/>
          <p:cNvGrpSpPr/>
          <p:nvPr/>
        </p:nvGrpSpPr>
        <p:grpSpPr>
          <a:xfrm rot="0">
            <a:off x="17114672" y="9113672"/>
            <a:ext cx="289257" cy="2892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2" id="12"/>
          <p:cNvGrpSpPr/>
          <p:nvPr/>
        </p:nvGrpSpPr>
        <p:grpSpPr>
          <a:xfrm rot="0">
            <a:off x="884072" y="884072"/>
            <a:ext cx="289257" cy="8518857"/>
            <a:chOff x="0" y="0"/>
            <a:chExt cx="385676" cy="11358476"/>
          </a:xfrm>
        </p:grpSpPr>
        <p:grpSp>
          <p:nvGrpSpPr>
            <p:cNvPr name="Group 13" id="13"/>
            <p:cNvGrpSpPr/>
            <p:nvPr/>
          </p:nvGrpSpPr>
          <p:grpSpPr>
            <a:xfrm rot="0">
              <a:off x="0" y="0"/>
              <a:ext cx="385676" cy="3856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6" id="16"/>
            <p:cNvGrpSpPr/>
            <p:nvPr/>
          </p:nvGrpSpPr>
          <p:grpSpPr>
            <a:xfrm rot="0">
              <a:off x="0" y="10972800"/>
              <a:ext cx="385676" cy="38567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sp>
        <p:nvSpPr>
          <p:cNvPr name="TextBox 19" id="19"/>
          <p:cNvSpPr txBox="true"/>
          <p:nvPr/>
        </p:nvSpPr>
        <p:spPr>
          <a:xfrm rot="0">
            <a:off x="1899816" y="7031439"/>
            <a:ext cx="7431874" cy="1473454"/>
          </a:xfrm>
          <a:prstGeom prst="rect">
            <a:avLst/>
          </a:prstGeom>
        </p:spPr>
        <p:txBody>
          <a:bodyPr anchor="t" rtlCol="false" tIns="0" lIns="0" bIns="0" rIns="0">
            <a:spAutoFit/>
          </a:bodyPr>
          <a:lstStyle/>
          <a:p>
            <a:pPr algn="just">
              <a:lnSpc>
                <a:spcPts val="2362"/>
              </a:lnSpc>
              <a:spcBef>
                <a:spcPct val="0"/>
              </a:spcBef>
            </a:pPr>
            <a:r>
              <a:rPr lang="en-US" sz="1699">
                <a:solidFill>
                  <a:srgbClr val="3B5704"/>
                </a:solidFill>
                <a:latin typeface="Inter"/>
                <a:ea typeface="Inter"/>
                <a:cs typeface="Inter"/>
                <a:sym typeface="Inter"/>
              </a:rPr>
              <a:t>Lorem ipsum dolor sit amet, consectetur adipiscing elit. Etiam eget ipsum quis metus convallis porta. Praesent dapibus faucibus leo quis efficitur. Suspendisse potenti. Fusce dignissim ornare nisl, non interdum justo ullamcorper vitae. Class aptent taciti sociosqu ad litora torquent per conubia nostra, per inceptos himenaeos.</a:t>
            </a:r>
          </a:p>
        </p:txBody>
      </p:sp>
      <p:sp>
        <p:nvSpPr>
          <p:cNvPr name="Freeform 20" id="20"/>
          <p:cNvSpPr/>
          <p:nvPr/>
        </p:nvSpPr>
        <p:spPr>
          <a:xfrm flipH="false" flipV="false" rot="0">
            <a:off x="9331691" y="2111827"/>
            <a:ext cx="7358342" cy="6689402"/>
          </a:xfrm>
          <a:custGeom>
            <a:avLst/>
            <a:gdLst/>
            <a:ahLst/>
            <a:cxnLst/>
            <a:rect r="r" b="b" t="t" l="l"/>
            <a:pathLst>
              <a:path h="6689402" w="7358342">
                <a:moveTo>
                  <a:pt x="0" y="0"/>
                </a:moveTo>
                <a:lnTo>
                  <a:pt x="7358342" y="0"/>
                </a:lnTo>
                <a:lnTo>
                  <a:pt x="7358342" y="6689402"/>
                </a:lnTo>
                <a:lnTo>
                  <a:pt x="0" y="6689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857956" cy="435020"/>
          </a:xfrm>
        </p:grpSpPr>
        <p:sp>
          <p:nvSpPr>
            <p:cNvPr name="Freeform 3" id="3"/>
            <p:cNvSpPr/>
            <p:nvPr/>
          </p:nvSpPr>
          <p:spPr>
            <a:xfrm flipH="false" flipV="false" rot="0">
              <a:off x="0" y="0"/>
              <a:ext cx="857956" cy="435020"/>
            </a:xfrm>
            <a:custGeom>
              <a:avLst/>
              <a:gdLst/>
              <a:ahLst/>
              <a:cxnLst/>
              <a:rect r="r" b="b" t="t" l="l"/>
              <a:pathLst>
                <a:path h="435020" w="857956">
                  <a:moveTo>
                    <a:pt x="0" y="0"/>
                  </a:moveTo>
                  <a:lnTo>
                    <a:pt x="857956" y="0"/>
                  </a:lnTo>
                  <a:lnTo>
                    <a:pt x="857956"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857956" cy="473120"/>
            </a:xfrm>
            <a:prstGeom prst="rect">
              <a:avLst/>
            </a:prstGeom>
          </p:spPr>
          <p:txBody>
            <a:bodyPr anchor="ctr" rtlCol="false" tIns="50800" lIns="50800" bIns="50800" rIns="50800"/>
            <a:lstStyle/>
            <a:p>
              <a:pPr algn="ctr">
                <a:lnSpc>
                  <a:spcPts val="3197"/>
                </a:lnSpc>
              </a:pPr>
            </a:p>
          </p:txBody>
        </p:sp>
      </p:grpSp>
      <p:sp>
        <p:nvSpPr>
          <p:cNvPr name="TextBox 5" id="5"/>
          <p:cNvSpPr txBox="true"/>
          <p:nvPr/>
        </p:nvSpPr>
        <p:spPr>
          <a:xfrm rot="0">
            <a:off x="2128987" y="2162969"/>
            <a:ext cx="14030026" cy="2980531"/>
          </a:xfrm>
          <a:prstGeom prst="rect">
            <a:avLst/>
          </a:prstGeom>
        </p:spPr>
        <p:txBody>
          <a:bodyPr anchor="t" rtlCol="false" tIns="0" lIns="0" bIns="0" rIns="0">
            <a:spAutoFit/>
          </a:bodyPr>
          <a:lstStyle/>
          <a:p>
            <a:pPr algn="ctr">
              <a:lnSpc>
                <a:spcPts val="10797"/>
              </a:lnSpc>
            </a:pPr>
            <a:r>
              <a:rPr lang="en-US" b="true" sz="12555" spc="-853">
                <a:solidFill>
                  <a:srgbClr val="3B5704"/>
                </a:solidFill>
                <a:latin typeface="Poppins Medium"/>
                <a:ea typeface="Poppins Medium"/>
                <a:cs typeface="Poppins Medium"/>
                <a:sym typeface="Poppins Medium"/>
              </a:rPr>
              <a:t>The Importance of Financial Literacy</a:t>
            </a:r>
          </a:p>
        </p:txBody>
      </p:sp>
      <p:grpSp>
        <p:nvGrpSpPr>
          <p:cNvPr name="Group 6" id="6"/>
          <p:cNvGrpSpPr/>
          <p:nvPr/>
        </p:nvGrpSpPr>
        <p:grpSpPr>
          <a:xfrm rot="0">
            <a:off x="17114672" y="884072"/>
            <a:ext cx="289257" cy="2892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9" id="9"/>
          <p:cNvGrpSpPr/>
          <p:nvPr/>
        </p:nvGrpSpPr>
        <p:grpSpPr>
          <a:xfrm rot="0">
            <a:off x="17114672" y="9113672"/>
            <a:ext cx="289257" cy="2892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2" id="12"/>
          <p:cNvGrpSpPr/>
          <p:nvPr/>
        </p:nvGrpSpPr>
        <p:grpSpPr>
          <a:xfrm rot="0">
            <a:off x="884072" y="884072"/>
            <a:ext cx="289257" cy="8518857"/>
            <a:chOff x="0" y="0"/>
            <a:chExt cx="385676" cy="11358476"/>
          </a:xfrm>
        </p:grpSpPr>
        <p:grpSp>
          <p:nvGrpSpPr>
            <p:cNvPr name="Group 13" id="13"/>
            <p:cNvGrpSpPr/>
            <p:nvPr/>
          </p:nvGrpSpPr>
          <p:grpSpPr>
            <a:xfrm rot="0">
              <a:off x="0" y="0"/>
              <a:ext cx="385676" cy="3856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6" id="16"/>
            <p:cNvGrpSpPr/>
            <p:nvPr/>
          </p:nvGrpSpPr>
          <p:grpSpPr>
            <a:xfrm rot="0">
              <a:off x="0" y="10972800"/>
              <a:ext cx="385676" cy="38567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sp>
        <p:nvSpPr>
          <p:cNvPr name="TextBox 19" id="19"/>
          <p:cNvSpPr txBox="true"/>
          <p:nvPr/>
        </p:nvSpPr>
        <p:spPr>
          <a:xfrm rot="0">
            <a:off x="1699829" y="5470115"/>
            <a:ext cx="14888342" cy="910475"/>
          </a:xfrm>
          <a:prstGeom prst="rect">
            <a:avLst/>
          </a:prstGeom>
        </p:spPr>
        <p:txBody>
          <a:bodyPr anchor="t" rtlCol="false" tIns="0" lIns="0" bIns="0" rIns="0">
            <a:spAutoFit/>
          </a:bodyPr>
          <a:lstStyle/>
          <a:p>
            <a:pPr algn="just">
              <a:lnSpc>
                <a:spcPts val="2413"/>
              </a:lnSpc>
              <a:spcBef>
                <a:spcPct val="0"/>
              </a:spcBef>
            </a:pPr>
            <a:r>
              <a:rPr lang="en-US" sz="1736">
                <a:solidFill>
                  <a:srgbClr val="3B5704"/>
                </a:solidFill>
                <a:latin typeface="Lilita One"/>
                <a:ea typeface="Lilita One"/>
                <a:cs typeface="Lilita One"/>
                <a:sym typeface="Lilita One"/>
              </a:rPr>
              <a:t>Lorem ipsum dolor sit amet, consectetur adipiscing elit. Etiam eget ipsum quis metus convallis porta. Praesent dapibus faucibus leo quis efficitur. Suspendisse potenti. Fusce dignissim ornare nisl, non interdum justo ullamcorper vitae. Class aptent taciti sociosqu ad litora torquent per conubia nostra, per inceptos himenaeos.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857956" cy="435020"/>
          </a:xfrm>
        </p:grpSpPr>
        <p:sp>
          <p:nvSpPr>
            <p:cNvPr name="Freeform 3" id="3"/>
            <p:cNvSpPr/>
            <p:nvPr/>
          </p:nvSpPr>
          <p:spPr>
            <a:xfrm flipH="false" flipV="false" rot="0">
              <a:off x="0" y="0"/>
              <a:ext cx="857956" cy="435020"/>
            </a:xfrm>
            <a:custGeom>
              <a:avLst/>
              <a:gdLst/>
              <a:ahLst/>
              <a:cxnLst/>
              <a:rect r="r" b="b" t="t" l="l"/>
              <a:pathLst>
                <a:path h="435020" w="857956">
                  <a:moveTo>
                    <a:pt x="0" y="0"/>
                  </a:moveTo>
                  <a:lnTo>
                    <a:pt x="857956" y="0"/>
                  </a:lnTo>
                  <a:lnTo>
                    <a:pt x="857956"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857956" cy="473120"/>
            </a:xfrm>
            <a:prstGeom prst="rect">
              <a:avLst/>
            </a:prstGeom>
          </p:spPr>
          <p:txBody>
            <a:bodyPr anchor="ctr" rtlCol="false" tIns="50800" lIns="50800" bIns="50800" rIns="50800"/>
            <a:lstStyle/>
            <a:p>
              <a:pPr algn="ctr">
                <a:lnSpc>
                  <a:spcPts val="3197"/>
                </a:lnSpc>
              </a:pPr>
            </a:p>
          </p:txBody>
        </p:sp>
      </p:grpSp>
      <p:sp>
        <p:nvSpPr>
          <p:cNvPr name="TextBox 5" id="5"/>
          <p:cNvSpPr txBox="true"/>
          <p:nvPr/>
        </p:nvSpPr>
        <p:spPr>
          <a:xfrm rot="0">
            <a:off x="2476861" y="1960042"/>
            <a:ext cx="13334279" cy="1618456"/>
          </a:xfrm>
          <a:prstGeom prst="rect">
            <a:avLst/>
          </a:prstGeom>
        </p:spPr>
        <p:txBody>
          <a:bodyPr anchor="t" rtlCol="false" tIns="0" lIns="0" bIns="0" rIns="0">
            <a:spAutoFit/>
          </a:bodyPr>
          <a:lstStyle/>
          <a:p>
            <a:pPr algn="ctr">
              <a:lnSpc>
                <a:spcPts val="10797"/>
              </a:lnSpc>
            </a:pPr>
            <a:r>
              <a:rPr lang="en-US" b="true" sz="12555" spc="-853">
                <a:solidFill>
                  <a:srgbClr val="3B5704"/>
                </a:solidFill>
                <a:latin typeface="Poppins Medium"/>
                <a:ea typeface="Poppins Medium"/>
                <a:cs typeface="Poppins Medium"/>
                <a:sym typeface="Poppins Medium"/>
              </a:rPr>
              <a:t>Budgeting Basics</a:t>
            </a:r>
          </a:p>
        </p:txBody>
      </p:sp>
      <p:grpSp>
        <p:nvGrpSpPr>
          <p:cNvPr name="Group 6" id="6"/>
          <p:cNvGrpSpPr/>
          <p:nvPr/>
        </p:nvGrpSpPr>
        <p:grpSpPr>
          <a:xfrm rot="0">
            <a:off x="17114672" y="884072"/>
            <a:ext cx="289257" cy="2892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9" id="9"/>
          <p:cNvGrpSpPr/>
          <p:nvPr/>
        </p:nvGrpSpPr>
        <p:grpSpPr>
          <a:xfrm rot="0">
            <a:off x="17114672" y="9113672"/>
            <a:ext cx="289257" cy="2892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2" id="12"/>
          <p:cNvGrpSpPr/>
          <p:nvPr/>
        </p:nvGrpSpPr>
        <p:grpSpPr>
          <a:xfrm rot="0">
            <a:off x="884072" y="884072"/>
            <a:ext cx="289257" cy="8518857"/>
            <a:chOff x="0" y="0"/>
            <a:chExt cx="385676" cy="11358476"/>
          </a:xfrm>
        </p:grpSpPr>
        <p:grpSp>
          <p:nvGrpSpPr>
            <p:cNvPr name="Group 13" id="13"/>
            <p:cNvGrpSpPr/>
            <p:nvPr/>
          </p:nvGrpSpPr>
          <p:grpSpPr>
            <a:xfrm rot="0">
              <a:off x="0" y="0"/>
              <a:ext cx="385676" cy="3856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6" id="16"/>
            <p:cNvGrpSpPr/>
            <p:nvPr/>
          </p:nvGrpSpPr>
          <p:grpSpPr>
            <a:xfrm rot="0">
              <a:off x="0" y="10972800"/>
              <a:ext cx="385676" cy="38567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sp>
        <p:nvSpPr>
          <p:cNvPr name="TextBox 19" id="19"/>
          <p:cNvSpPr txBox="true"/>
          <p:nvPr/>
        </p:nvSpPr>
        <p:spPr>
          <a:xfrm rot="0">
            <a:off x="1496870" y="4203643"/>
            <a:ext cx="14760634" cy="2950135"/>
          </a:xfrm>
          <a:prstGeom prst="rect">
            <a:avLst/>
          </a:prstGeom>
        </p:spPr>
        <p:txBody>
          <a:bodyPr anchor="t" rtlCol="false" tIns="0" lIns="0" bIns="0" rIns="0">
            <a:spAutoFit/>
          </a:bodyPr>
          <a:lstStyle/>
          <a:p>
            <a:pPr algn="just">
              <a:lnSpc>
                <a:spcPts val="4731"/>
              </a:lnSpc>
              <a:spcBef>
                <a:spcPct val="0"/>
              </a:spcBef>
            </a:pPr>
            <a:r>
              <a:rPr lang="en-US" sz="3403">
                <a:solidFill>
                  <a:srgbClr val="3B5704"/>
                </a:solidFill>
                <a:latin typeface="Inter"/>
                <a:ea typeface="Inter"/>
                <a:cs typeface="Inter"/>
                <a:sym typeface="Inter"/>
              </a:rPr>
              <a:t>Lorem ipsum dolor sit amet, consectetur adipiscing elit. Etiam eget ipsum quis metus convallis porta. Praesent dapibus faucibus leo quis efficitur. Suspendisse potenti. Fusce dignissim ornare nisl, non interdum justo ullamcorper vitae. Class aptent taciti sociosqu ad litora torquent per conubia nostra, per inceptos himenaeos.</a:t>
            </a:r>
          </a:p>
        </p:txBody>
      </p:sp>
      <p:sp>
        <p:nvSpPr>
          <p:cNvPr name="Freeform 20" id="20"/>
          <p:cNvSpPr/>
          <p:nvPr/>
        </p:nvSpPr>
        <p:spPr>
          <a:xfrm flipH="false" flipV="false" rot="0">
            <a:off x="10691965" y="3894826"/>
            <a:ext cx="5119174" cy="4802716"/>
          </a:xfrm>
          <a:custGeom>
            <a:avLst/>
            <a:gdLst/>
            <a:ahLst/>
            <a:cxnLst/>
            <a:rect r="r" b="b" t="t" l="l"/>
            <a:pathLst>
              <a:path h="4802716" w="5119174">
                <a:moveTo>
                  <a:pt x="0" y="0"/>
                </a:moveTo>
                <a:lnTo>
                  <a:pt x="5119174" y="0"/>
                </a:lnTo>
                <a:lnTo>
                  <a:pt x="5119174" y="4802716"/>
                </a:lnTo>
                <a:lnTo>
                  <a:pt x="0" y="4802716"/>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857956" cy="435020"/>
          </a:xfrm>
        </p:grpSpPr>
        <p:sp>
          <p:nvSpPr>
            <p:cNvPr name="Freeform 3" id="3"/>
            <p:cNvSpPr/>
            <p:nvPr/>
          </p:nvSpPr>
          <p:spPr>
            <a:xfrm flipH="false" flipV="false" rot="0">
              <a:off x="0" y="0"/>
              <a:ext cx="857956" cy="435020"/>
            </a:xfrm>
            <a:custGeom>
              <a:avLst/>
              <a:gdLst/>
              <a:ahLst/>
              <a:cxnLst/>
              <a:rect r="r" b="b" t="t" l="l"/>
              <a:pathLst>
                <a:path h="435020" w="857956">
                  <a:moveTo>
                    <a:pt x="0" y="0"/>
                  </a:moveTo>
                  <a:lnTo>
                    <a:pt x="857956" y="0"/>
                  </a:lnTo>
                  <a:lnTo>
                    <a:pt x="857956"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857956" cy="473120"/>
            </a:xfrm>
            <a:prstGeom prst="rect">
              <a:avLst/>
            </a:prstGeom>
          </p:spPr>
          <p:txBody>
            <a:bodyPr anchor="ctr" rtlCol="false" tIns="50800" lIns="50800" bIns="50800" rIns="50800"/>
            <a:lstStyle/>
            <a:p>
              <a:pPr algn="ctr">
                <a:lnSpc>
                  <a:spcPts val="3197"/>
                </a:lnSpc>
              </a:pPr>
            </a:p>
          </p:txBody>
        </p:sp>
      </p:grpSp>
      <p:sp>
        <p:nvSpPr>
          <p:cNvPr name="TextBox 5" id="5"/>
          <p:cNvSpPr txBox="true"/>
          <p:nvPr/>
        </p:nvSpPr>
        <p:spPr>
          <a:xfrm rot="0">
            <a:off x="8899567" y="1903131"/>
            <a:ext cx="8215105" cy="2980531"/>
          </a:xfrm>
          <a:prstGeom prst="rect">
            <a:avLst/>
          </a:prstGeom>
        </p:spPr>
        <p:txBody>
          <a:bodyPr anchor="t" rtlCol="false" tIns="0" lIns="0" bIns="0" rIns="0">
            <a:spAutoFit/>
          </a:bodyPr>
          <a:lstStyle/>
          <a:p>
            <a:pPr algn="l">
              <a:lnSpc>
                <a:spcPts val="10797"/>
              </a:lnSpc>
            </a:pPr>
            <a:r>
              <a:rPr lang="en-US" sz="12555" spc="-853" b="true">
                <a:solidFill>
                  <a:srgbClr val="3B5704"/>
                </a:solidFill>
                <a:latin typeface="Poppins Medium"/>
                <a:ea typeface="Poppins Medium"/>
                <a:cs typeface="Poppins Medium"/>
                <a:sym typeface="Poppins Medium"/>
              </a:rPr>
              <a:t>Saving Strategies</a:t>
            </a:r>
          </a:p>
        </p:txBody>
      </p:sp>
      <p:grpSp>
        <p:nvGrpSpPr>
          <p:cNvPr name="Group 6" id="6"/>
          <p:cNvGrpSpPr/>
          <p:nvPr/>
        </p:nvGrpSpPr>
        <p:grpSpPr>
          <a:xfrm rot="0">
            <a:off x="17114672" y="884072"/>
            <a:ext cx="289257" cy="2892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9" id="9"/>
          <p:cNvGrpSpPr/>
          <p:nvPr/>
        </p:nvGrpSpPr>
        <p:grpSpPr>
          <a:xfrm rot="0">
            <a:off x="17114672" y="9113672"/>
            <a:ext cx="289257" cy="2892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2" id="12"/>
          <p:cNvGrpSpPr/>
          <p:nvPr/>
        </p:nvGrpSpPr>
        <p:grpSpPr>
          <a:xfrm rot="0">
            <a:off x="884072" y="884072"/>
            <a:ext cx="289257" cy="8518857"/>
            <a:chOff x="0" y="0"/>
            <a:chExt cx="385676" cy="11358476"/>
          </a:xfrm>
        </p:grpSpPr>
        <p:grpSp>
          <p:nvGrpSpPr>
            <p:cNvPr name="Group 13" id="13"/>
            <p:cNvGrpSpPr/>
            <p:nvPr/>
          </p:nvGrpSpPr>
          <p:grpSpPr>
            <a:xfrm rot="0">
              <a:off x="0" y="0"/>
              <a:ext cx="385676" cy="3856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6" id="16"/>
            <p:cNvGrpSpPr/>
            <p:nvPr/>
          </p:nvGrpSpPr>
          <p:grpSpPr>
            <a:xfrm rot="0">
              <a:off x="0" y="10972800"/>
              <a:ext cx="385676" cy="38567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sp>
        <p:nvSpPr>
          <p:cNvPr name="TextBox 19" id="19"/>
          <p:cNvSpPr txBox="true"/>
          <p:nvPr/>
        </p:nvSpPr>
        <p:spPr>
          <a:xfrm rot="0">
            <a:off x="8899567" y="7196165"/>
            <a:ext cx="7372032" cy="1473454"/>
          </a:xfrm>
          <a:prstGeom prst="rect">
            <a:avLst/>
          </a:prstGeom>
        </p:spPr>
        <p:txBody>
          <a:bodyPr anchor="t" rtlCol="false" tIns="0" lIns="0" bIns="0" rIns="0">
            <a:spAutoFit/>
          </a:bodyPr>
          <a:lstStyle/>
          <a:p>
            <a:pPr algn="just">
              <a:lnSpc>
                <a:spcPts val="2362"/>
              </a:lnSpc>
              <a:spcBef>
                <a:spcPct val="0"/>
              </a:spcBef>
            </a:pPr>
            <a:r>
              <a:rPr lang="en-US" sz="1699">
                <a:solidFill>
                  <a:srgbClr val="3B5704"/>
                </a:solidFill>
                <a:latin typeface="Inter"/>
                <a:ea typeface="Inter"/>
                <a:cs typeface="Inter"/>
                <a:sym typeface="Inter"/>
              </a:rPr>
              <a:t>Lorem ipsum dolor sit amet, consectetur adipiscing elit. Etiam eget ipsum quis metus convallis porta. Praesent dapibus faucibus leo quis efficitur. Suspendisse potenti. Fusce dignissim ornare nisl, non interdum justo ullamcorper vitae. Class aptent taciti sociosqu ad litora torquent per conubia nostra, per inceptos himenaeos.</a:t>
            </a:r>
          </a:p>
        </p:txBody>
      </p:sp>
      <p:sp>
        <p:nvSpPr>
          <p:cNvPr name="Freeform 20" id="20"/>
          <p:cNvSpPr/>
          <p:nvPr/>
        </p:nvSpPr>
        <p:spPr>
          <a:xfrm flipH="false" flipV="false" rot="0">
            <a:off x="1864249" y="1522131"/>
            <a:ext cx="5766508" cy="7274265"/>
          </a:xfrm>
          <a:custGeom>
            <a:avLst/>
            <a:gdLst/>
            <a:ahLst/>
            <a:cxnLst/>
            <a:rect r="r" b="b" t="t" l="l"/>
            <a:pathLst>
              <a:path h="7274265" w="5766508">
                <a:moveTo>
                  <a:pt x="0" y="0"/>
                </a:moveTo>
                <a:lnTo>
                  <a:pt x="5766508" y="0"/>
                </a:lnTo>
                <a:lnTo>
                  <a:pt x="5766508" y="7274264"/>
                </a:lnTo>
                <a:lnTo>
                  <a:pt x="0" y="72742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857956" cy="435020"/>
          </a:xfrm>
        </p:grpSpPr>
        <p:sp>
          <p:nvSpPr>
            <p:cNvPr name="Freeform 3" id="3"/>
            <p:cNvSpPr/>
            <p:nvPr/>
          </p:nvSpPr>
          <p:spPr>
            <a:xfrm flipH="false" flipV="false" rot="0">
              <a:off x="0" y="0"/>
              <a:ext cx="857956" cy="435020"/>
            </a:xfrm>
            <a:custGeom>
              <a:avLst/>
              <a:gdLst/>
              <a:ahLst/>
              <a:cxnLst/>
              <a:rect r="r" b="b" t="t" l="l"/>
              <a:pathLst>
                <a:path h="435020" w="857956">
                  <a:moveTo>
                    <a:pt x="0" y="0"/>
                  </a:moveTo>
                  <a:lnTo>
                    <a:pt x="857956" y="0"/>
                  </a:lnTo>
                  <a:lnTo>
                    <a:pt x="857956"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857956" cy="473120"/>
            </a:xfrm>
            <a:prstGeom prst="rect">
              <a:avLst/>
            </a:prstGeom>
          </p:spPr>
          <p:txBody>
            <a:bodyPr anchor="ctr" rtlCol="false" tIns="50800" lIns="50800" bIns="50800" rIns="50800"/>
            <a:lstStyle/>
            <a:p>
              <a:pPr algn="ctr">
                <a:lnSpc>
                  <a:spcPts val="3197"/>
                </a:lnSpc>
              </a:pPr>
            </a:p>
          </p:txBody>
        </p:sp>
      </p:grpSp>
      <p:sp>
        <p:nvSpPr>
          <p:cNvPr name="TextBox 5" id="5"/>
          <p:cNvSpPr txBox="true"/>
          <p:nvPr/>
        </p:nvSpPr>
        <p:spPr>
          <a:xfrm rot="0">
            <a:off x="1850708" y="1960106"/>
            <a:ext cx="8215105" cy="2980531"/>
          </a:xfrm>
          <a:prstGeom prst="rect">
            <a:avLst/>
          </a:prstGeom>
        </p:spPr>
        <p:txBody>
          <a:bodyPr anchor="t" rtlCol="false" tIns="0" lIns="0" bIns="0" rIns="0">
            <a:spAutoFit/>
          </a:bodyPr>
          <a:lstStyle/>
          <a:p>
            <a:pPr algn="l">
              <a:lnSpc>
                <a:spcPts val="10797"/>
              </a:lnSpc>
            </a:pPr>
            <a:r>
              <a:rPr lang="en-US" sz="12555" spc="-853" b="true">
                <a:solidFill>
                  <a:srgbClr val="3B5704"/>
                </a:solidFill>
                <a:latin typeface="Poppins Medium"/>
                <a:ea typeface="Poppins Medium"/>
                <a:cs typeface="Poppins Medium"/>
                <a:sym typeface="Poppins Medium"/>
              </a:rPr>
              <a:t>Investment Essentials</a:t>
            </a:r>
          </a:p>
        </p:txBody>
      </p:sp>
      <p:grpSp>
        <p:nvGrpSpPr>
          <p:cNvPr name="Group 6" id="6"/>
          <p:cNvGrpSpPr/>
          <p:nvPr/>
        </p:nvGrpSpPr>
        <p:grpSpPr>
          <a:xfrm rot="0">
            <a:off x="17114672" y="884072"/>
            <a:ext cx="289257" cy="2892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9" id="9"/>
          <p:cNvGrpSpPr/>
          <p:nvPr/>
        </p:nvGrpSpPr>
        <p:grpSpPr>
          <a:xfrm rot="0">
            <a:off x="17114672" y="9113672"/>
            <a:ext cx="289257" cy="2892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2" id="12"/>
          <p:cNvGrpSpPr/>
          <p:nvPr/>
        </p:nvGrpSpPr>
        <p:grpSpPr>
          <a:xfrm rot="0">
            <a:off x="884072" y="884072"/>
            <a:ext cx="289257" cy="8518857"/>
            <a:chOff x="0" y="0"/>
            <a:chExt cx="385676" cy="11358476"/>
          </a:xfrm>
        </p:grpSpPr>
        <p:grpSp>
          <p:nvGrpSpPr>
            <p:cNvPr name="Group 13" id="13"/>
            <p:cNvGrpSpPr/>
            <p:nvPr/>
          </p:nvGrpSpPr>
          <p:grpSpPr>
            <a:xfrm rot="0">
              <a:off x="0" y="0"/>
              <a:ext cx="385676" cy="3856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6" id="16"/>
            <p:cNvGrpSpPr/>
            <p:nvPr/>
          </p:nvGrpSpPr>
          <p:grpSpPr>
            <a:xfrm rot="0">
              <a:off x="0" y="10972800"/>
              <a:ext cx="385676" cy="38567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sp>
        <p:nvSpPr>
          <p:cNvPr name="TextBox 19" id="19"/>
          <p:cNvSpPr txBox="true"/>
          <p:nvPr/>
        </p:nvSpPr>
        <p:spPr>
          <a:xfrm rot="0">
            <a:off x="1850708" y="7139189"/>
            <a:ext cx="7372032" cy="1473454"/>
          </a:xfrm>
          <a:prstGeom prst="rect">
            <a:avLst/>
          </a:prstGeom>
        </p:spPr>
        <p:txBody>
          <a:bodyPr anchor="t" rtlCol="false" tIns="0" lIns="0" bIns="0" rIns="0">
            <a:spAutoFit/>
          </a:bodyPr>
          <a:lstStyle/>
          <a:p>
            <a:pPr algn="just">
              <a:lnSpc>
                <a:spcPts val="2362"/>
              </a:lnSpc>
              <a:spcBef>
                <a:spcPct val="0"/>
              </a:spcBef>
            </a:pPr>
            <a:r>
              <a:rPr lang="en-US" sz="1699">
                <a:solidFill>
                  <a:srgbClr val="3B5704"/>
                </a:solidFill>
                <a:latin typeface="Inter"/>
                <a:ea typeface="Inter"/>
                <a:cs typeface="Inter"/>
                <a:sym typeface="Inter"/>
              </a:rPr>
              <a:t>Lorem ipsum dolor sit amet, consectetur adipiscing elit. Etiam eget ipsum quis metus convallis porta. Praesent dapibus faucibus leo quis efficitur. Suspendisse potenti. Fusce dignissim ornare nisl, non interdum justo ullamcorper vitae. Class aptent taciti sociosqu ad litora torquent per conubia nostra, per inceptos himenaeos.</a:t>
            </a:r>
          </a:p>
        </p:txBody>
      </p:sp>
      <p:sp>
        <p:nvSpPr>
          <p:cNvPr name="Freeform 20" id="20"/>
          <p:cNvSpPr/>
          <p:nvPr/>
        </p:nvSpPr>
        <p:spPr>
          <a:xfrm flipH="false" flipV="false" rot="0">
            <a:off x="10285993" y="1646668"/>
            <a:ext cx="6345161" cy="6993664"/>
          </a:xfrm>
          <a:custGeom>
            <a:avLst/>
            <a:gdLst/>
            <a:ahLst/>
            <a:cxnLst/>
            <a:rect r="r" b="b" t="t" l="l"/>
            <a:pathLst>
              <a:path h="6993664" w="6345161">
                <a:moveTo>
                  <a:pt x="0" y="0"/>
                </a:moveTo>
                <a:lnTo>
                  <a:pt x="6345161" y="0"/>
                </a:lnTo>
                <a:lnTo>
                  <a:pt x="6345161" y="6993664"/>
                </a:lnTo>
                <a:lnTo>
                  <a:pt x="0" y="6993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857956" cy="435020"/>
          </a:xfrm>
        </p:grpSpPr>
        <p:sp>
          <p:nvSpPr>
            <p:cNvPr name="Freeform 3" id="3"/>
            <p:cNvSpPr/>
            <p:nvPr/>
          </p:nvSpPr>
          <p:spPr>
            <a:xfrm flipH="false" flipV="false" rot="0">
              <a:off x="0" y="0"/>
              <a:ext cx="857956" cy="435020"/>
            </a:xfrm>
            <a:custGeom>
              <a:avLst/>
              <a:gdLst/>
              <a:ahLst/>
              <a:cxnLst/>
              <a:rect r="r" b="b" t="t" l="l"/>
              <a:pathLst>
                <a:path h="435020" w="857956">
                  <a:moveTo>
                    <a:pt x="0" y="0"/>
                  </a:moveTo>
                  <a:lnTo>
                    <a:pt x="857956" y="0"/>
                  </a:lnTo>
                  <a:lnTo>
                    <a:pt x="857956"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857956" cy="473120"/>
            </a:xfrm>
            <a:prstGeom prst="rect">
              <a:avLst/>
            </a:prstGeom>
          </p:spPr>
          <p:txBody>
            <a:bodyPr anchor="ctr" rtlCol="false" tIns="50800" lIns="50800" bIns="50800" rIns="50800"/>
            <a:lstStyle/>
            <a:p>
              <a:pPr algn="ctr">
                <a:lnSpc>
                  <a:spcPts val="3197"/>
                </a:lnSpc>
              </a:pPr>
            </a:p>
          </p:txBody>
        </p:sp>
      </p:grpSp>
      <p:sp>
        <p:nvSpPr>
          <p:cNvPr name="TextBox 5" id="5"/>
          <p:cNvSpPr txBox="true"/>
          <p:nvPr/>
        </p:nvSpPr>
        <p:spPr>
          <a:xfrm rot="0">
            <a:off x="2340428" y="2188252"/>
            <a:ext cx="13607144" cy="1494631"/>
          </a:xfrm>
          <a:prstGeom prst="rect">
            <a:avLst/>
          </a:prstGeom>
        </p:spPr>
        <p:txBody>
          <a:bodyPr anchor="t" rtlCol="false" tIns="0" lIns="0" bIns="0" rIns="0">
            <a:spAutoFit/>
          </a:bodyPr>
          <a:lstStyle/>
          <a:p>
            <a:pPr algn="ctr">
              <a:lnSpc>
                <a:spcPts val="10797"/>
              </a:lnSpc>
            </a:pPr>
            <a:r>
              <a:rPr lang="en-US" sz="12555" spc="-853">
                <a:solidFill>
                  <a:srgbClr val="3B5704"/>
                </a:solidFill>
                <a:latin typeface="Norwester"/>
                <a:ea typeface="Norwester"/>
                <a:cs typeface="Norwester"/>
                <a:sym typeface="Norwester"/>
              </a:rPr>
              <a:t>Credit and Debit</a:t>
            </a:r>
          </a:p>
        </p:txBody>
      </p:sp>
      <p:grpSp>
        <p:nvGrpSpPr>
          <p:cNvPr name="Group 6" id="6"/>
          <p:cNvGrpSpPr/>
          <p:nvPr/>
        </p:nvGrpSpPr>
        <p:grpSpPr>
          <a:xfrm rot="0">
            <a:off x="17114672" y="884072"/>
            <a:ext cx="289257" cy="2892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9" id="9"/>
          <p:cNvGrpSpPr/>
          <p:nvPr/>
        </p:nvGrpSpPr>
        <p:grpSpPr>
          <a:xfrm rot="0">
            <a:off x="17114672" y="9113672"/>
            <a:ext cx="289257" cy="2892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2" id="12"/>
          <p:cNvGrpSpPr/>
          <p:nvPr/>
        </p:nvGrpSpPr>
        <p:grpSpPr>
          <a:xfrm rot="0">
            <a:off x="884072" y="884072"/>
            <a:ext cx="289257" cy="8518857"/>
            <a:chOff x="0" y="0"/>
            <a:chExt cx="385676" cy="11358476"/>
          </a:xfrm>
        </p:grpSpPr>
        <p:grpSp>
          <p:nvGrpSpPr>
            <p:cNvPr name="Group 13" id="13"/>
            <p:cNvGrpSpPr/>
            <p:nvPr/>
          </p:nvGrpSpPr>
          <p:grpSpPr>
            <a:xfrm rot="0">
              <a:off x="0" y="0"/>
              <a:ext cx="385676" cy="3856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6" id="16"/>
            <p:cNvGrpSpPr/>
            <p:nvPr/>
          </p:nvGrpSpPr>
          <p:grpSpPr>
            <a:xfrm rot="0">
              <a:off x="0" y="10972800"/>
              <a:ext cx="385676" cy="38567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grpSp>
        <p:nvGrpSpPr>
          <p:cNvPr name="Group 19" id="19"/>
          <p:cNvGrpSpPr/>
          <p:nvPr/>
        </p:nvGrpSpPr>
        <p:grpSpPr>
          <a:xfrm rot="0">
            <a:off x="8071390" y="4235334"/>
            <a:ext cx="5155558" cy="766943"/>
            <a:chOff x="0" y="0"/>
            <a:chExt cx="1357842" cy="201993"/>
          </a:xfrm>
        </p:grpSpPr>
        <p:sp>
          <p:nvSpPr>
            <p:cNvPr name="Freeform 20" id="20"/>
            <p:cNvSpPr/>
            <p:nvPr/>
          </p:nvSpPr>
          <p:spPr>
            <a:xfrm flipH="false" flipV="false" rot="0">
              <a:off x="0" y="0"/>
              <a:ext cx="1357842" cy="201993"/>
            </a:xfrm>
            <a:custGeom>
              <a:avLst/>
              <a:gdLst/>
              <a:ahLst/>
              <a:cxnLst/>
              <a:rect r="r" b="b" t="t" l="l"/>
              <a:pathLst>
                <a:path h="201993" w="1357842">
                  <a:moveTo>
                    <a:pt x="100997" y="0"/>
                  </a:moveTo>
                  <a:lnTo>
                    <a:pt x="1256846" y="0"/>
                  </a:lnTo>
                  <a:cubicBezTo>
                    <a:pt x="1312625" y="0"/>
                    <a:pt x="1357842" y="45218"/>
                    <a:pt x="1357842" y="100997"/>
                  </a:cubicBezTo>
                  <a:lnTo>
                    <a:pt x="1357842" y="100997"/>
                  </a:lnTo>
                  <a:cubicBezTo>
                    <a:pt x="1357842" y="127783"/>
                    <a:pt x="1347202" y="153472"/>
                    <a:pt x="1328261" y="172412"/>
                  </a:cubicBezTo>
                  <a:cubicBezTo>
                    <a:pt x="1309321" y="191353"/>
                    <a:pt x="1283632" y="201993"/>
                    <a:pt x="1256846" y="201993"/>
                  </a:cubicBezTo>
                  <a:lnTo>
                    <a:pt x="100997" y="201993"/>
                  </a:lnTo>
                  <a:cubicBezTo>
                    <a:pt x="45218" y="201993"/>
                    <a:pt x="0" y="156776"/>
                    <a:pt x="0" y="100997"/>
                  </a:cubicBezTo>
                  <a:lnTo>
                    <a:pt x="0" y="100997"/>
                  </a:lnTo>
                  <a:cubicBezTo>
                    <a:pt x="0" y="45218"/>
                    <a:pt x="45218" y="0"/>
                    <a:pt x="100997" y="0"/>
                  </a:cubicBezTo>
                  <a:close/>
                </a:path>
              </a:pathLst>
            </a:custGeom>
            <a:solidFill>
              <a:srgbClr val="3B5704"/>
            </a:solidFill>
          </p:spPr>
        </p:sp>
        <p:sp>
          <p:nvSpPr>
            <p:cNvPr name="TextBox 21" id="21"/>
            <p:cNvSpPr txBox="true"/>
            <p:nvPr/>
          </p:nvSpPr>
          <p:spPr>
            <a:xfrm>
              <a:off x="0" y="-47625"/>
              <a:ext cx="1357842" cy="249618"/>
            </a:xfrm>
            <a:prstGeom prst="rect">
              <a:avLst/>
            </a:prstGeom>
          </p:spPr>
          <p:txBody>
            <a:bodyPr anchor="ctr" rtlCol="false" tIns="50800" lIns="50800" bIns="50800" rIns="50800"/>
            <a:lstStyle/>
            <a:p>
              <a:pPr algn="ctr">
                <a:lnSpc>
                  <a:spcPts val="3336"/>
                </a:lnSpc>
              </a:pPr>
              <a:r>
                <a:rPr lang="en-US" sz="2400">
                  <a:solidFill>
                    <a:srgbClr val="EDFFCC"/>
                  </a:solidFill>
                  <a:latin typeface="Inter"/>
                  <a:ea typeface="Inter"/>
                  <a:cs typeface="Inter"/>
                  <a:sym typeface="Inter"/>
                </a:rPr>
                <a:t>Borrow Smar</a:t>
              </a:r>
              <a:r>
                <a:rPr lang="en-US" sz="2400">
                  <a:solidFill>
                    <a:srgbClr val="EDFFCC"/>
                  </a:solidFill>
                  <a:latin typeface="Inter"/>
                  <a:ea typeface="Inter"/>
                  <a:cs typeface="Inter"/>
                  <a:sym typeface="Inter"/>
                </a:rPr>
                <a:t>t, Repay Smarter</a:t>
              </a:r>
            </a:p>
          </p:txBody>
        </p:sp>
      </p:grpSp>
      <p:sp>
        <p:nvSpPr>
          <p:cNvPr name="TextBox 22" id="22"/>
          <p:cNvSpPr txBox="true"/>
          <p:nvPr/>
        </p:nvSpPr>
        <p:spPr>
          <a:xfrm rot="0">
            <a:off x="7284037" y="5507102"/>
            <a:ext cx="9975263" cy="1766748"/>
          </a:xfrm>
          <a:prstGeom prst="rect">
            <a:avLst/>
          </a:prstGeom>
        </p:spPr>
        <p:txBody>
          <a:bodyPr anchor="t" rtlCol="false" tIns="0" lIns="0" bIns="0" rIns="0">
            <a:spAutoFit/>
          </a:bodyPr>
          <a:lstStyle/>
          <a:p>
            <a:pPr algn="just">
              <a:lnSpc>
                <a:spcPts val="2830"/>
              </a:lnSpc>
              <a:spcBef>
                <a:spcPct val="0"/>
              </a:spcBef>
            </a:pPr>
            <a:r>
              <a:rPr lang="en-US" sz="2036">
                <a:solidFill>
                  <a:srgbClr val="3B5704"/>
                </a:solidFill>
                <a:latin typeface="Inter"/>
                <a:ea typeface="Inter"/>
                <a:cs typeface="Inter"/>
                <a:sym typeface="Inter"/>
              </a:rPr>
              <a:t>Lorem ipsum dolor sit amet, consectetur adipiscing elit. Etiam eget ipsum quis metus convallis porta. Praesent dapibus faucibus leo quis efficitur. Suspendisse potenti. Fusce dignissim ornare nisl, non interdum justo ullamcorper vitae. Class aptent taciti sociosqu ad litora torquent per conubia nostra, per inceptos himenaeos.</a:t>
            </a:r>
          </a:p>
        </p:txBody>
      </p:sp>
      <p:sp>
        <p:nvSpPr>
          <p:cNvPr name="Freeform 23" id="23"/>
          <p:cNvSpPr/>
          <p:nvPr/>
        </p:nvSpPr>
        <p:spPr>
          <a:xfrm flipH="false" flipV="false" rot="0">
            <a:off x="1444856" y="4222961"/>
            <a:ext cx="5562956" cy="4460479"/>
          </a:xfrm>
          <a:custGeom>
            <a:avLst/>
            <a:gdLst/>
            <a:ahLst/>
            <a:cxnLst/>
            <a:rect r="r" b="b" t="t" l="l"/>
            <a:pathLst>
              <a:path h="4460479" w="5562956">
                <a:moveTo>
                  <a:pt x="0" y="0"/>
                </a:moveTo>
                <a:lnTo>
                  <a:pt x="5562956" y="0"/>
                </a:lnTo>
                <a:lnTo>
                  <a:pt x="5562956" y="4460479"/>
                </a:lnTo>
                <a:lnTo>
                  <a:pt x="0" y="4460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857956" cy="435020"/>
          </a:xfrm>
        </p:grpSpPr>
        <p:sp>
          <p:nvSpPr>
            <p:cNvPr name="Freeform 3" id="3"/>
            <p:cNvSpPr/>
            <p:nvPr/>
          </p:nvSpPr>
          <p:spPr>
            <a:xfrm flipH="false" flipV="false" rot="0">
              <a:off x="0" y="0"/>
              <a:ext cx="857956" cy="435020"/>
            </a:xfrm>
            <a:custGeom>
              <a:avLst/>
              <a:gdLst/>
              <a:ahLst/>
              <a:cxnLst/>
              <a:rect r="r" b="b" t="t" l="l"/>
              <a:pathLst>
                <a:path h="435020" w="857956">
                  <a:moveTo>
                    <a:pt x="0" y="0"/>
                  </a:moveTo>
                  <a:lnTo>
                    <a:pt x="857956" y="0"/>
                  </a:lnTo>
                  <a:lnTo>
                    <a:pt x="857956"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857956" cy="473120"/>
            </a:xfrm>
            <a:prstGeom prst="rect">
              <a:avLst/>
            </a:prstGeom>
          </p:spPr>
          <p:txBody>
            <a:bodyPr anchor="ctr" rtlCol="false" tIns="50800" lIns="50800" bIns="50800" rIns="50800"/>
            <a:lstStyle/>
            <a:p>
              <a:pPr algn="ctr">
                <a:lnSpc>
                  <a:spcPts val="3197"/>
                </a:lnSpc>
              </a:pPr>
            </a:p>
          </p:txBody>
        </p:sp>
      </p:grpSp>
      <p:sp>
        <p:nvSpPr>
          <p:cNvPr name="TextBox 5" id="5"/>
          <p:cNvSpPr txBox="true"/>
          <p:nvPr/>
        </p:nvSpPr>
        <p:spPr>
          <a:xfrm rot="0">
            <a:off x="1905586" y="2134585"/>
            <a:ext cx="9142768" cy="2980531"/>
          </a:xfrm>
          <a:prstGeom prst="rect">
            <a:avLst/>
          </a:prstGeom>
        </p:spPr>
        <p:txBody>
          <a:bodyPr anchor="t" rtlCol="false" tIns="0" lIns="0" bIns="0" rIns="0">
            <a:spAutoFit/>
          </a:bodyPr>
          <a:lstStyle/>
          <a:p>
            <a:pPr algn="l">
              <a:lnSpc>
                <a:spcPts val="10797"/>
              </a:lnSpc>
            </a:pPr>
            <a:r>
              <a:rPr lang="en-US" sz="12555" spc="-853" b="true">
                <a:solidFill>
                  <a:srgbClr val="3B5704"/>
                </a:solidFill>
                <a:latin typeface="Poppins Medium"/>
                <a:ea typeface="Poppins Medium"/>
                <a:cs typeface="Poppins Medium"/>
                <a:sym typeface="Poppins Medium"/>
              </a:rPr>
              <a:t>Financial Technology </a:t>
            </a:r>
          </a:p>
        </p:txBody>
      </p:sp>
      <p:grpSp>
        <p:nvGrpSpPr>
          <p:cNvPr name="Group 6" id="6"/>
          <p:cNvGrpSpPr/>
          <p:nvPr/>
        </p:nvGrpSpPr>
        <p:grpSpPr>
          <a:xfrm rot="0">
            <a:off x="17114672" y="884072"/>
            <a:ext cx="289257" cy="2892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9" id="9"/>
          <p:cNvGrpSpPr/>
          <p:nvPr/>
        </p:nvGrpSpPr>
        <p:grpSpPr>
          <a:xfrm rot="0">
            <a:off x="17114672" y="9113672"/>
            <a:ext cx="289257" cy="2892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2" id="12"/>
          <p:cNvGrpSpPr/>
          <p:nvPr/>
        </p:nvGrpSpPr>
        <p:grpSpPr>
          <a:xfrm rot="0">
            <a:off x="884072" y="884072"/>
            <a:ext cx="289257" cy="8518857"/>
            <a:chOff x="0" y="0"/>
            <a:chExt cx="385676" cy="11358476"/>
          </a:xfrm>
        </p:grpSpPr>
        <p:grpSp>
          <p:nvGrpSpPr>
            <p:cNvPr name="Group 13" id="13"/>
            <p:cNvGrpSpPr/>
            <p:nvPr/>
          </p:nvGrpSpPr>
          <p:grpSpPr>
            <a:xfrm rot="0">
              <a:off x="0" y="0"/>
              <a:ext cx="385676" cy="3856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6" id="16"/>
            <p:cNvGrpSpPr/>
            <p:nvPr/>
          </p:nvGrpSpPr>
          <p:grpSpPr>
            <a:xfrm rot="0">
              <a:off x="0" y="10972800"/>
              <a:ext cx="385676" cy="38567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sp>
        <p:nvSpPr>
          <p:cNvPr name="TextBox 19" id="19"/>
          <p:cNvSpPr txBox="true"/>
          <p:nvPr/>
        </p:nvSpPr>
        <p:spPr>
          <a:xfrm rot="0">
            <a:off x="1173328" y="5067300"/>
            <a:ext cx="15771013" cy="2878909"/>
          </a:xfrm>
          <a:prstGeom prst="rect">
            <a:avLst/>
          </a:prstGeom>
        </p:spPr>
        <p:txBody>
          <a:bodyPr anchor="t" rtlCol="false" tIns="0" lIns="0" bIns="0" rIns="0">
            <a:spAutoFit/>
          </a:bodyPr>
          <a:lstStyle/>
          <a:p>
            <a:pPr algn="just">
              <a:lnSpc>
                <a:spcPts val="4614"/>
              </a:lnSpc>
              <a:spcBef>
                <a:spcPct val="0"/>
              </a:spcBef>
            </a:pPr>
            <a:r>
              <a:rPr lang="en-US" sz="3319">
                <a:solidFill>
                  <a:srgbClr val="3B5704"/>
                </a:solidFill>
                <a:latin typeface="Inter"/>
                <a:ea typeface="Inter"/>
                <a:cs typeface="Inter"/>
                <a:sym typeface="Inter"/>
              </a:rPr>
              <a:t>Lorem ipsum dolor sit amet, consectetur adipiscing elit. Etiam eget ipsum quis metus convallis porta. Praesent dapibus faucibus leo quis efficitur. Suspendisse potenti. Fusce dignissim ornare nisl, non interdum justo ullamcorper vitae. Class aptent taciti sociosqu ad litora torquent per conubia nostra, per inceptos himenaeos.</a:t>
            </a:r>
          </a:p>
        </p:txBody>
      </p:sp>
      <p:sp>
        <p:nvSpPr>
          <p:cNvPr name="Freeform 20" id="20"/>
          <p:cNvSpPr/>
          <p:nvPr/>
        </p:nvSpPr>
        <p:spPr>
          <a:xfrm flipH="false" flipV="false" rot="0">
            <a:off x="10715837" y="1561509"/>
            <a:ext cx="6228505" cy="7107215"/>
          </a:xfrm>
          <a:custGeom>
            <a:avLst/>
            <a:gdLst/>
            <a:ahLst/>
            <a:cxnLst/>
            <a:rect r="r" b="b" t="t" l="l"/>
            <a:pathLst>
              <a:path h="7107215" w="6228505">
                <a:moveTo>
                  <a:pt x="0" y="0"/>
                </a:moveTo>
                <a:lnTo>
                  <a:pt x="6228505" y="0"/>
                </a:lnTo>
                <a:lnTo>
                  <a:pt x="6228505" y="7107215"/>
                </a:lnTo>
                <a:lnTo>
                  <a:pt x="0" y="7107215"/>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9571124" y="1028700"/>
            <a:ext cx="7688176" cy="8229600"/>
            <a:chOff x="0" y="0"/>
            <a:chExt cx="406400" cy="435020"/>
          </a:xfrm>
        </p:grpSpPr>
        <p:sp>
          <p:nvSpPr>
            <p:cNvPr name="Freeform 3" id="3"/>
            <p:cNvSpPr/>
            <p:nvPr/>
          </p:nvSpPr>
          <p:spPr>
            <a:xfrm flipH="false" flipV="false" rot="0">
              <a:off x="0" y="0"/>
              <a:ext cx="406400" cy="435020"/>
            </a:xfrm>
            <a:custGeom>
              <a:avLst/>
              <a:gdLst/>
              <a:ahLst/>
              <a:cxnLst/>
              <a:rect r="r" b="b" t="t" l="l"/>
              <a:pathLst>
                <a:path h="435020" w="406400">
                  <a:moveTo>
                    <a:pt x="0" y="0"/>
                  </a:moveTo>
                  <a:lnTo>
                    <a:pt x="406400" y="0"/>
                  </a:lnTo>
                  <a:lnTo>
                    <a:pt x="406400"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406400" cy="473120"/>
            </a:xfrm>
            <a:prstGeom prst="rect">
              <a:avLst/>
            </a:prstGeom>
          </p:spPr>
          <p:txBody>
            <a:bodyPr anchor="ctr" rtlCol="false" tIns="50800" lIns="50800" bIns="50800" rIns="50800"/>
            <a:lstStyle/>
            <a:p>
              <a:pPr algn="ctr">
                <a:lnSpc>
                  <a:spcPts val="3197"/>
                </a:lnSpc>
              </a:pPr>
            </a:p>
          </p:txBody>
        </p:sp>
      </p:grpSp>
      <p:grpSp>
        <p:nvGrpSpPr>
          <p:cNvPr name="Group 5" id="5"/>
          <p:cNvGrpSpPr/>
          <p:nvPr/>
        </p:nvGrpSpPr>
        <p:grpSpPr>
          <a:xfrm rot="0">
            <a:off x="9426495" y="884072"/>
            <a:ext cx="289257" cy="2892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8" id="8"/>
          <p:cNvGrpSpPr/>
          <p:nvPr/>
        </p:nvGrpSpPr>
        <p:grpSpPr>
          <a:xfrm rot="0">
            <a:off x="17114672" y="884072"/>
            <a:ext cx="289257" cy="28925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1" id="11"/>
          <p:cNvGrpSpPr/>
          <p:nvPr/>
        </p:nvGrpSpPr>
        <p:grpSpPr>
          <a:xfrm rot="0">
            <a:off x="17114672" y="9113672"/>
            <a:ext cx="289257" cy="28925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4" id="14"/>
          <p:cNvGrpSpPr/>
          <p:nvPr/>
        </p:nvGrpSpPr>
        <p:grpSpPr>
          <a:xfrm rot="0">
            <a:off x="9426495" y="9113672"/>
            <a:ext cx="289257" cy="28925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sp>
        <p:nvSpPr>
          <p:cNvPr name="TextBox 17" id="17"/>
          <p:cNvSpPr txBox="true"/>
          <p:nvPr/>
        </p:nvSpPr>
        <p:spPr>
          <a:xfrm rot="0">
            <a:off x="1028700" y="1338562"/>
            <a:ext cx="8115300" cy="3060903"/>
          </a:xfrm>
          <a:prstGeom prst="rect">
            <a:avLst/>
          </a:prstGeom>
        </p:spPr>
        <p:txBody>
          <a:bodyPr anchor="t" rtlCol="false" tIns="0" lIns="0" bIns="0" rIns="0">
            <a:spAutoFit/>
          </a:bodyPr>
          <a:lstStyle/>
          <a:p>
            <a:pPr algn="l">
              <a:lnSpc>
                <a:spcPts val="23434"/>
              </a:lnSpc>
            </a:pPr>
            <a:r>
              <a:rPr lang="en-US" sz="17488" spc="-1189" b="true">
                <a:solidFill>
                  <a:srgbClr val="3B5704"/>
                </a:solidFill>
                <a:latin typeface="Poppins Medium"/>
                <a:ea typeface="Poppins Medium"/>
                <a:cs typeface="Poppins Medium"/>
                <a:sym typeface="Poppins Medium"/>
              </a:rPr>
              <a:t>Breaks</a:t>
            </a:r>
          </a:p>
        </p:txBody>
      </p:sp>
      <p:sp>
        <p:nvSpPr>
          <p:cNvPr name="Freeform 18" id="18"/>
          <p:cNvSpPr/>
          <p:nvPr/>
        </p:nvSpPr>
        <p:spPr>
          <a:xfrm flipH="false" flipV="false" rot="0">
            <a:off x="10315777" y="1363702"/>
            <a:ext cx="6198869" cy="7559596"/>
          </a:xfrm>
          <a:custGeom>
            <a:avLst/>
            <a:gdLst/>
            <a:ahLst/>
            <a:cxnLst/>
            <a:rect r="r" b="b" t="t" l="l"/>
            <a:pathLst>
              <a:path h="7559596" w="6198869">
                <a:moveTo>
                  <a:pt x="0" y="0"/>
                </a:moveTo>
                <a:lnTo>
                  <a:pt x="6198869" y="0"/>
                </a:lnTo>
                <a:lnTo>
                  <a:pt x="6198869" y="7559596"/>
                </a:lnTo>
                <a:lnTo>
                  <a:pt x="0" y="7559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1028700" y="5512143"/>
            <a:ext cx="7508425" cy="2217295"/>
          </a:xfrm>
          <a:prstGeom prst="rect">
            <a:avLst/>
          </a:prstGeom>
        </p:spPr>
        <p:txBody>
          <a:bodyPr anchor="t" rtlCol="false" tIns="0" lIns="0" bIns="0" rIns="0">
            <a:spAutoFit/>
          </a:bodyPr>
          <a:lstStyle/>
          <a:p>
            <a:pPr algn="ctr">
              <a:lnSpc>
                <a:spcPts val="8895"/>
              </a:lnSpc>
              <a:spcBef>
                <a:spcPct val="0"/>
              </a:spcBef>
            </a:pPr>
            <a:r>
              <a:rPr lang="en-US" sz="6399">
                <a:solidFill>
                  <a:srgbClr val="3B5704"/>
                </a:solidFill>
                <a:latin typeface="Inter"/>
                <a:ea typeface="Inter"/>
                <a:cs typeface="Inter"/>
                <a:sym typeface="Inter"/>
              </a:rPr>
              <a:t>supply creates its own Demand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FFCC"/>
        </a:solidFill>
      </p:bgPr>
    </p:bg>
    <p:spTree>
      <p:nvGrpSpPr>
        <p:cNvPr id="1" name=""/>
        <p:cNvGrpSpPr/>
        <p:nvPr/>
      </p:nvGrpSpPr>
      <p:grpSpPr>
        <a:xfrm>
          <a:off x="0" y="0"/>
          <a:ext cx="0" cy="0"/>
          <a:chOff x="0" y="0"/>
          <a:chExt cx="0" cy="0"/>
        </a:xfrm>
      </p:grpSpPr>
      <p:grpSp>
        <p:nvGrpSpPr>
          <p:cNvPr name="Group 2" id="2"/>
          <p:cNvGrpSpPr/>
          <p:nvPr/>
        </p:nvGrpSpPr>
        <p:grpSpPr>
          <a:xfrm rot="0">
            <a:off x="9571124" y="1028700"/>
            <a:ext cx="7688176" cy="8229600"/>
            <a:chOff x="0" y="0"/>
            <a:chExt cx="406400" cy="435020"/>
          </a:xfrm>
        </p:grpSpPr>
        <p:sp>
          <p:nvSpPr>
            <p:cNvPr name="Freeform 3" id="3"/>
            <p:cNvSpPr/>
            <p:nvPr/>
          </p:nvSpPr>
          <p:spPr>
            <a:xfrm flipH="false" flipV="false" rot="0">
              <a:off x="0" y="0"/>
              <a:ext cx="406400" cy="435020"/>
            </a:xfrm>
            <a:custGeom>
              <a:avLst/>
              <a:gdLst/>
              <a:ahLst/>
              <a:cxnLst/>
              <a:rect r="r" b="b" t="t" l="l"/>
              <a:pathLst>
                <a:path h="435020" w="406400">
                  <a:moveTo>
                    <a:pt x="0" y="0"/>
                  </a:moveTo>
                  <a:lnTo>
                    <a:pt x="406400" y="0"/>
                  </a:lnTo>
                  <a:lnTo>
                    <a:pt x="406400" y="435020"/>
                  </a:lnTo>
                  <a:lnTo>
                    <a:pt x="0" y="435020"/>
                  </a:lnTo>
                  <a:close/>
                </a:path>
              </a:pathLst>
            </a:custGeom>
            <a:solidFill>
              <a:srgbClr val="EDFFCC"/>
            </a:solidFill>
            <a:ln w="9525" cap="sq">
              <a:solidFill>
                <a:srgbClr val="3B5704"/>
              </a:solidFill>
              <a:prstDash val="solid"/>
              <a:miter/>
            </a:ln>
          </p:spPr>
        </p:sp>
        <p:sp>
          <p:nvSpPr>
            <p:cNvPr name="TextBox 4" id="4"/>
            <p:cNvSpPr txBox="true"/>
            <p:nvPr/>
          </p:nvSpPr>
          <p:spPr>
            <a:xfrm>
              <a:off x="0" y="-38100"/>
              <a:ext cx="406400" cy="473120"/>
            </a:xfrm>
            <a:prstGeom prst="rect">
              <a:avLst/>
            </a:prstGeom>
          </p:spPr>
          <p:txBody>
            <a:bodyPr anchor="ctr" rtlCol="false" tIns="50800" lIns="50800" bIns="50800" rIns="50800"/>
            <a:lstStyle/>
            <a:p>
              <a:pPr algn="ctr">
                <a:lnSpc>
                  <a:spcPts val="3197"/>
                </a:lnSpc>
              </a:pPr>
            </a:p>
          </p:txBody>
        </p:sp>
      </p:grpSp>
      <p:grpSp>
        <p:nvGrpSpPr>
          <p:cNvPr name="Group 5" id="5"/>
          <p:cNvGrpSpPr/>
          <p:nvPr/>
        </p:nvGrpSpPr>
        <p:grpSpPr>
          <a:xfrm rot="0">
            <a:off x="9426495" y="884072"/>
            <a:ext cx="289257" cy="2892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8" id="8"/>
          <p:cNvGrpSpPr/>
          <p:nvPr/>
        </p:nvGrpSpPr>
        <p:grpSpPr>
          <a:xfrm rot="0">
            <a:off x="17114672" y="884072"/>
            <a:ext cx="289257" cy="28925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1" id="11"/>
          <p:cNvGrpSpPr/>
          <p:nvPr/>
        </p:nvGrpSpPr>
        <p:grpSpPr>
          <a:xfrm rot="0">
            <a:off x="17114672" y="9113672"/>
            <a:ext cx="289257" cy="28925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grpSp>
        <p:nvGrpSpPr>
          <p:cNvPr name="Group 14" id="14"/>
          <p:cNvGrpSpPr/>
          <p:nvPr/>
        </p:nvGrpSpPr>
        <p:grpSpPr>
          <a:xfrm rot="0">
            <a:off x="9426495" y="9113672"/>
            <a:ext cx="289257" cy="28925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5704"/>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3197"/>
                </a:lnSpc>
              </a:pPr>
            </a:p>
          </p:txBody>
        </p:sp>
      </p:grpSp>
      <p:sp>
        <p:nvSpPr>
          <p:cNvPr name="TextBox 17" id="17"/>
          <p:cNvSpPr txBox="true"/>
          <p:nvPr/>
        </p:nvSpPr>
        <p:spPr>
          <a:xfrm rot="0">
            <a:off x="1311195" y="3413023"/>
            <a:ext cx="8115300" cy="3060903"/>
          </a:xfrm>
          <a:prstGeom prst="rect">
            <a:avLst/>
          </a:prstGeom>
        </p:spPr>
        <p:txBody>
          <a:bodyPr anchor="t" rtlCol="false" tIns="0" lIns="0" bIns="0" rIns="0">
            <a:spAutoFit/>
          </a:bodyPr>
          <a:lstStyle/>
          <a:p>
            <a:pPr algn="l">
              <a:lnSpc>
                <a:spcPts val="23434"/>
              </a:lnSpc>
            </a:pPr>
            <a:r>
              <a:rPr lang="en-US" sz="17488" spc="-1189" b="true">
                <a:solidFill>
                  <a:srgbClr val="3B5704"/>
                </a:solidFill>
                <a:latin typeface="Poppins Medium"/>
                <a:ea typeface="Poppins Medium"/>
                <a:cs typeface="Poppins Medium"/>
                <a:sym typeface="Poppins Medium"/>
              </a:rPr>
              <a:t>Thanks</a:t>
            </a:r>
          </a:p>
        </p:txBody>
      </p:sp>
      <p:sp>
        <p:nvSpPr>
          <p:cNvPr name="Freeform 18" id="18"/>
          <p:cNvSpPr/>
          <p:nvPr/>
        </p:nvSpPr>
        <p:spPr>
          <a:xfrm flipH="false" flipV="false" rot="0">
            <a:off x="10297540" y="1533564"/>
            <a:ext cx="6235344" cy="7219872"/>
          </a:xfrm>
          <a:custGeom>
            <a:avLst/>
            <a:gdLst/>
            <a:ahLst/>
            <a:cxnLst/>
            <a:rect r="r" b="b" t="t" l="l"/>
            <a:pathLst>
              <a:path h="7219872" w="6235344">
                <a:moveTo>
                  <a:pt x="0" y="0"/>
                </a:moveTo>
                <a:lnTo>
                  <a:pt x="6235344" y="0"/>
                </a:lnTo>
                <a:lnTo>
                  <a:pt x="6235344" y="7219872"/>
                </a:lnTo>
                <a:lnTo>
                  <a:pt x="0" y="72198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DAHKAJrOokE</dc:identifier>
  <dcterms:modified xsi:type="dcterms:W3CDTF">2011-08-01T06:04:30Z</dcterms:modified>
  <cp:revision>1</cp:revision>
  <dc:title>REVALUATION OF ASSETS &amp; LIABILITIES</dc:title>
</cp:coreProperties>
</file>