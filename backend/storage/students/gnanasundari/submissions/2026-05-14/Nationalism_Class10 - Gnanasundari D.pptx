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-27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128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E3F7E"/>
          </a:solidFill>
          <a:ln w="12700">
            <a:solidFill>
              <a:srgbClr val="2E3F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0"/>
            <a:ext cx="164592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Class X | History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NATIONALISM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Europe &amp; India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Idea. Two Continents. One Revolution.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280160" cy="365760"/>
          </a:xfrm>
          <a:prstGeom prst="rect">
            <a:avLst>
              <a:gd name="adj" fmla="val 12500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812" y="589085"/>
            <a:ext cx="284797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287" y="2788920"/>
            <a:ext cx="28575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-3657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0" dirty="0">
                <a:solidFill>
                  <a:srgbClr val="E87722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 you have no country.
</a:t>
            </a: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language they let you speak.
No history they let you read.
No name they call you by.
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the story of millions across Europe and India in the 1800s.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0" y="914400"/>
            <a:ext cx="2560320" cy="1554480"/>
          </a:xfrm>
          <a:prstGeom prst="rect">
            <a:avLst/>
          </a:prstGeom>
          <a:solidFill>
            <a:srgbClr val="2E3F7E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ASK THE CLASS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63640" y="14173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couldn't speak Tamil / your mother tongue in school — how would you feel?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384048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 smtClean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8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5609" y="2759001"/>
            <a:ext cx="2733502" cy="1751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Nationalism?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813816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belief that people who share a common language, culture, history, or territory should form their own nation-state.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560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423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🗣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5603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91840" y="2331720"/>
            <a:ext cx="2560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2423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🏛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91840" y="3200400"/>
            <a:ext cx="25603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2560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423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🌍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0"/>
            <a:ext cx="25603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Territory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6477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Nationalism in EUROPE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651760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1789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468880" cy="1691640"/>
          </a:xfrm>
          <a:prstGeom prst="rect">
            <a:avLst/>
          </a:prstGeom>
          <a:solidFill>
            <a:srgbClr val="2E3F7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Revolution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70332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Liberty, Equality, Fraternity spreads nationalist ideas across Europe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2651760"/>
            <a:ext cx="365760" cy="3657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1848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0" y="3200400"/>
            <a:ext cx="2468880" cy="1691640"/>
          </a:xfrm>
          <a:prstGeom prst="rect">
            <a:avLst/>
          </a:prstGeom>
          <a:solidFill>
            <a:srgbClr val="2E3F7E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Springtime of Nations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370332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Revolutions erupt in France, Germany, Italy, Austria-Hungary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2651760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1871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43600" y="3200400"/>
            <a:ext cx="2468880" cy="1691640"/>
          </a:xfrm>
          <a:prstGeom prst="rect">
            <a:avLst/>
          </a:prstGeom>
          <a:solidFill>
            <a:srgbClr val="2E3F7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Unification of Germany &amp; Italy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370332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Bismarck unites German states; Garibaldi unites Italy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760" y="826477"/>
            <a:ext cx="3643533" cy="1276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Dream of a United Europe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12064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120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Frederic Sorrieu's Vision (1848)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Sorrieu, a French artist, painted people of all nations marching together, carrying their flags — the first visual dream of a 'United States of the World'.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120640" cy="41148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5120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Zollverein (1834)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customs union formed by Prussia that united 39 German states economically — paving the way for political unification.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5120640" cy="685800"/>
          </a:xfrm>
          <a:prstGeom prst="rect">
            <a:avLst/>
          </a:prstGeom>
          <a:solidFill>
            <a:srgbClr val="EBF4FF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1605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Quick Think: What would happen if Indian states each had different currencies &amp; customs?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274320"/>
            <a:ext cx="2926080" cy="4572000"/>
          </a:xfrm>
          <a:prstGeom prst="rect">
            <a:avLst/>
          </a:prstGeom>
          <a:solidFill>
            <a:srgbClr val="F0F4FF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74320"/>
            <a:ext cx="29260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214" y="450725"/>
            <a:ext cx="2410851" cy="2109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214" y="2769578"/>
            <a:ext cx="2457450" cy="1991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Nationalism in INDIA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3566160"/>
          </a:xfrm>
          <a:prstGeom prst="rect">
            <a:avLst/>
          </a:prstGeom>
          <a:solidFill>
            <a:srgbClr val="2E3F7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74320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 1857 Revolt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56032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war of independence — sepoys and nawabs unite against the British East India Company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3566160"/>
          </a:xfrm>
          <a:prstGeom prst="rect">
            <a:avLst/>
          </a:prstGeom>
          <a:solidFill>
            <a:srgbClr val="2E3F7E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188720"/>
            <a:ext cx="2743200" cy="6400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Print Culture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56032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Newspapers in vernacular languages spread nationalist ideas to common people across India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743200" cy="3566160"/>
          </a:xfrm>
          <a:prstGeom prst="rect">
            <a:avLst/>
          </a:prstGeom>
          <a:solidFill>
            <a:srgbClr val="2E3F7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188720"/>
            <a:ext cx="274320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Indian National Congress (1885)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56032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organized political platform — bringing educated Indians together to demand rights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IMAGE: A photograph of 1857 revolt / INC first session at Bombay ]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Gandhi &amp; the Birth of Mass Nationalism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303520" cy="9144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521208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“Be the change you wish to see in the world.”  — M.K. Gandhi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64008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48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88720" y="214884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148840"/>
            <a:ext cx="44805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Non-Cooperation Movement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64008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292608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926080"/>
            <a:ext cx="44805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Disobedience &amp; Dandi March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640080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03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88720" y="370332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703320"/>
            <a:ext cx="44805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India Movement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530352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5262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Real Example: Dandi March (1930) — Gandhi walked 241 miles to make salt, defying British law.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274320"/>
            <a:ext cx="2834640" cy="4572000"/>
          </a:xfrm>
          <a:prstGeom prst="rect">
            <a:avLst/>
          </a:prstGeom>
          <a:solidFill>
            <a:srgbClr val="EFF6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74320"/>
            <a:ext cx="28346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209" y="748063"/>
            <a:ext cx="2346301" cy="1675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344" y="2926080"/>
            <a:ext cx="2654032" cy="1631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QUICK ACTIVITY  (3 minutes)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solidFill>
            <a:srgbClr val="2E3F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CONNECT — Work with your neighbor!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🇪🇺 European Nationalism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Led by educated middle class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Triggered by French Revolution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Bismarck used 'Blood &amp; Iron'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Relied on art, music &amp; literature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402336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Indian Nationalism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3774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Led by Gandhi &amp; masses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Triggered by colonial exploitation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Used non-violence as a weapon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Used Swadeshi &amp; civil disobedience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51960" y="2606040"/>
            <a:ext cx="594360" cy="594360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526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What is ONE similarity you notice? Share with the class!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QUIZ TIME!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for the correct answer!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8595360" cy="1143000"/>
          </a:xfrm>
          <a:prstGeom prst="rect">
            <a:avLst/>
          </a:prstGeom>
          <a:solidFill>
            <a:srgbClr val="2E3F7E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Who said 'When France sneezes, the rest of Europe catches cold'?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Napoleon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984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Metternich ✓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Bismarck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0" y="1984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Garibaldi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8595360" cy="1143000"/>
          </a:xfrm>
          <a:prstGeom prst="rect">
            <a:avLst/>
          </a:prstGeom>
          <a:solidFill>
            <a:srgbClr val="2E3F7E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The Dandi March (1930) was to protest against...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Partition of Bengal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264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Rowlatt Act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Salt Tax ✓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3264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Simon Commission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794760"/>
            <a:ext cx="8595360" cy="1143000"/>
          </a:xfrm>
          <a:prstGeom prst="rect">
            <a:avLst/>
          </a:prstGeom>
          <a:solidFill>
            <a:srgbClr val="2E3F7E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Which treaty redrew Europe's map after Napoleon's defeat?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Treaty of Vienna ✓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544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Treaty of Paris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0" y="4251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Treaty of Versailles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4544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Treaty of Westphalia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2E3F7E"/>
          </a:solidFill>
          <a:ln w="12700">
            <a:solidFill>
              <a:srgbClr val="2E3F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960120"/>
            <a:ext cx="76809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Nationalism is the idea that people with shared culture/history should form their own nation.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64792"/>
            <a:ext cx="8595360" cy="685800"/>
          </a:xfrm>
          <a:prstGeom prst="rect">
            <a:avLst/>
          </a:prstGeom>
          <a:solidFill>
            <a:srgbClr val="1A2550"/>
          </a:solidFill>
          <a:ln w="12700">
            <a:solidFill>
              <a:srgbClr val="2E3F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64792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764792"/>
            <a:ext cx="76809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Europe, the French Revolution (1789) ignited the first wave of modern nationalism.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569464"/>
            <a:ext cx="8595360" cy="685800"/>
          </a:xfrm>
          <a:prstGeom prst="rect">
            <a:avLst/>
          </a:prstGeom>
          <a:solidFill>
            <a:srgbClr val="2E3F7E"/>
          </a:solidFill>
          <a:ln w="12700">
            <a:solidFill>
              <a:srgbClr val="2E3F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69464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2569464"/>
            <a:ext cx="76809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Romanticist writers, artists, and musicians helped build a sense of national identity.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374136"/>
            <a:ext cx="8595360" cy="685800"/>
          </a:xfrm>
          <a:prstGeom prst="rect">
            <a:avLst/>
          </a:prstGeom>
          <a:solidFill>
            <a:srgbClr val="1A2550"/>
          </a:solidFill>
          <a:ln w="12700">
            <a:solidFill>
              <a:srgbClr val="2E3F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374136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3374136"/>
            <a:ext cx="76809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India, nationalism took the form of non-violent resistance under Mahatma Gandhi.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178808"/>
            <a:ext cx="8595360" cy="685800"/>
          </a:xfrm>
          <a:prstGeom prst="rect">
            <a:avLst/>
          </a:prstGeom>
          <a:solidFill>
            <a:srgbClr val="2E3F7E"/>
          </a:solidFill>
          <a:ln w="12700">
            <a:solidFill>
              <a:srgbClr val="2E3F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178808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4178808"/>
            <a:ext cx="76809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movements show that ordinary people — not just leaders — make history.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0"/>
            <a:ext cx="13716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0"/>
            <a:ext cx="137160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 This Always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“Nations are not born. They are built — by ordinary people who dared to dream of something bigger than themselves.”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6858000" cy="0"/>
          </a:xfrm>
          <a:prstGeom prst="line">
            <a:avLst/>
          </a:prstGeom>
          <a:noFill/>
          <a:ln w="254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Reflection Question for Homework: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456432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what ways do you think nationalism still shapes the world today — and is it always a positive force?"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History • The Rise of Nationalism in Europe (Ch.1) • Nationalism in India (Ch.3)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711</Words>
  <Application>Microsoft Office PowerPoint</Application>
  <PresentationFormat>On-screen Show (16:9)</PresentationFormat>
  <Paragraphs>114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Nationalism in Europe &amp; India</dc:title>
  <dc:subject>PptxGenJS Presentation</dc:subject>
  <dc:creator>PptxGenJS</dc:creator>
  <cp:lastModifiedBy>Windows User</cp:lastModifiedBy>
  <cp:revision>4</cp:revision>
  <dcterms:created xsi:type="dcterms:W3CDTF">2026-05-15T05:48:16Z</dcterms:created>
  <dcterms:modified xsi:type="dcterms:W3CDTF">2026-05-15T06:07:30Z</dcterms:modified>
</cp:coreProperties>
</file>