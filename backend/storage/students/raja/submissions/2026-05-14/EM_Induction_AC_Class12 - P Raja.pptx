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two closely related units: Electromagnetic Induction (Faraday's Laws, Lenz's Law, inductance) and Alternating Current (AC generators, RLC circuits, resonance, transformers). These topics form the backbone of modern electrical engineering and power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students an overview of all the topics covered in this presentation. Use it to set expectations and show how EM induction leads naturally into AC current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Faraday's First Law establishes that any change in magnetic flux induces EMF. The Second Law gives the quantitative relationship. The negative sign (from Lenz's Law) indicates the direction of induced EMF opposes the change. Emphasise that it is the RATE of change, not the magnitude of flux,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Lenz's Law is a statement of energy conservation. If the induced current aided the cause, it would create more flux, induce more current — a perpetual motion machine. Encourage students to relate the minus sign in Faraday's equation directly to this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Motional EMF is key to understanding how generators work — mechanical motion is converted to electrical energy. Eddy currents are important for understanding core losses in transformers and motors, and students should know both their harmful effects and useful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Self-inductance is the inertia of electrical circuits — a coil resists changes in current just as mass resists changes in velocity. Mutual inductance is the operating principle of transformers. The coupling coefficient k = 1 for an ideal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 generator is a direct application of Faraday's Law. As the coil rotates at angular velocity ω, the flux changes sinusoidally, producing a sinusoidal EMF. Slip rings (vs. commutator in DC) allow bidirectional current flow. Emphasise why AC is preferred over DC for power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 values are the DC equivalent values that produce the same heating effect. The household supply of 230V is an RMS value — peak voltage is about 325V. Form factor and peak factor are important for understanding waveform characteristics and for designing rectifier circuits.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Phasors simplify AC circuit analysis by converting differential equations into algebraic ones. The three cases (R, L, C) must be memorised. A useful mnemonic: CIVIL — In a Capacitor, I leads V; V leads I in an inductor (L). Emphasise that phase difference is between V and I, not between different voltages.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LCR series circuit is the most important circuit in this chapter. Draw the phasor diagram alongside the impedance triangle. Students often confuse the two — the phasor diagram is for voltages; the impedance triangle is for resistance and reactances. The power factor cos φ = R/Z is crucial for practical AC circuits.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Resonance is the most fascinating phenomenon in AC circuits. The Q-factor tells us how sharp the resonance is — a radio receiver needs high Q to select one station from many. At resonance, voltages across L and C can exceed supply voltage by a factor of Q, which can be large (in practice, 100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in AC circuits is subtle because voltage and current are rarely in phase. True power alone does useful work. Wattless (reactive) current in inductors and capacitors increases the apparent load on the supply without doing useful work. Power companies penalise low power factors by charging for apparent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Transformers are why AC is used for power transmission globally. An ideal transformer conserves power: VₚIₚ = VₛIₛ. Real transformers are 95–99% efficient. The turn ratio is the key parameter — students should be comfortable calculating voltages, currents, and turns for both step-up and step-down configurations.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theory to real-world applications motivates students. Each application can be a discussion starter. Ask students: why is 50Hz chosen as the supply frequency? (It is a trade-off between transformer size and lighting flicker.) Why high voltage for transmission? (P_loss = I²R; high V → low I → low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entire chapter in these 7 points. Encourage students to make their own formula sheet. Suggest practice problems: (1) Calculate induced EMF for rotating coil; (2) Find resonant frequency; (3) Calculate transformer turns ratio; (4) Calculate power factor and true power in LCR circuit. End with: 'These principles power every electronic device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CD4"/>
          </a:solidFill>
          <a:ln/>
        </p:spPr>
      </p:sp>
      <p:sp>
        <p:nvSpPr>
          <p:cNvPr id="3" name="Shape 1"/>
          <p:cNvSpPr/>
          <p:nvPr/>
        </p:nvSpPr>
        <p:spPr>
          <a:xfrm>
            <a:off x="0" y="5070348"/>
            <a:ext cx="9144000" cy="73152"/>
          </a:xfrm>
          <a:prstGeom prst="rect">
            <a:avLst/>
          </a:prstGeom>
          <a:solidFill>
            <a:srgbClr val="00BCD4"/>
          </a:solidFill>
          <a:ln/>
        </p:spPr>
      </p:sp>
      <p:sp>
        <p:nvSpPr>
          <p:cNvPr id="4" name="Shape 2"/>
          <p:cNvSpPr/>
          <p:nvPr/>
        </p:nvSpPr>
        <p:spPr>
          <a:xfrm>
            <a:off x="-1097280" y="1371600"/>
            <a:ext cx="3657600" cy="3657600"/>
          </a:xfrm>
          <a:prstGeom prst="ellipse">
            <a:avLst/>
          </a:prstGeom>
          <a:solidFill>
            <a:srgbClr val="1565C0">
              <a:alpha val="25000"/>
            </a:srgbClr>
          </a:solidFill>
          <a:ln w="12700">
            <a:solidFill>
              <a:srgbClr val="1565C0">
                <a:alpha val="25000"/>
              </a:srgbClr>
            </a:solidFill>
            <a:prstDash val="solid"/>
          </a:ln>
        </p:spPr>
      </p:sp>
      <p:sp>
        <p:nvSpPr>
          <p:cNvPr id="5" name="Shape 3"/>
          <p:cNvSpPr/>
          <p:nvPr/>
        </p:nvSpPr>
        <p:spPr>
          <a:xfrm>
            <a:off x="7772400" y="-457200"/>
            <a:ext cx="2743200" cy="2743200"/>
          </a:xfrm>
          <a:prstGeom prst="ellipse">
            <a:avLst/>
          </a:prstGeom>
          <a:solidFill>
            <a:srgbClr val="00BCD4">
              <a:alpha val="20000"/>
            </a:srgbClr>
          </a:solidFill>
          <a:ln w="12700">
            <a:solidFill>
              <a:srgbClr val="00BCD4">
                <a:alpha val="20000"/>
              </a:srgbClr>
            </a:solidFill>
            <a:prstDash val="solid"/>
          </a:ln>
        </p:spPr>
      </p:sp>
      <p:sp>
        <p:nvSpPr>
          <p:cNvPr id="6" name="Text 4"/>
          <p:cNvSpPr/>
          <p:nvPr/>
        </p:nvSpPr>
        <p:spPr>
          <a:xfrm>
            <a:off x="731520" y="1371600"/>
            <a:ext cx="7680960" cy="164592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Electromagnetic Induction</a:t>
            </a:r>
            <a:endParaRPr lang="en-US" sz="3800" dirty="0"/>
          </a:p>
          <a:p>
            <a:pPr algn="ctr" indent="0" marL="0">
              <a:buNone/>
            </a:pPr>
            <a:r>
              <a:rPr lang="en-US" sz="3800" b="1" dirty="0">
                <a:solidFill>
                  <a:srgbClr val="FFFFFF"/>
                </a:solidFill>
                <a:latin typeface="Calibri" pitchFamily="34" charset="0"/>
                <a:ea typeface="Calibri" pitchFamily="34" charset="-122"/>
                <a:cs typeface="Calibri" pitchFamily="34" charset="-120"/>
              </a:rPr>
              <a:t>&amp; Alternating Current</a:t>
            </a:r>
            <a:endParaRPr lang="en-US" sz="3800" dirty="0"/>
          </a:p>
        </p:txBody>
      </p:sp>
      <p:sp>
        <p:nvSpPr>
          <p:cNvPr id="7" name="Text 5"/>
          <p:cNvSpPr/>
          <p:nvPr/>
        </p:nvSpPr>
        <p:spPr>
          <a:xfrm>
            <a:off x="731520" y="3108960"/>
            <a:ext cx="7680960" cy="548640"/>
          </a:xfrm>
          <a:prstGeom prst="rect">
            <a:avLst/>
          </a:prstGeom>
          <a:noFill/>
          <a:ln/>
        </p:spPr>
        <p:txBody>
          <a:bodyPr wrap="square" rtlCol="0" anchor="ctr"/>
          <a:lstStyle/>
          <a:p>
            <a:pPr algn="ctr" indent="0" marL="0">
              <a:buNone/>
            </a:pPr>
            <a:r>
              <a:rPr lang="en-US" sz="1800" dirty="0">
                <a:solidFill>
                  <a:srgbClr val="00BCD4"/>
                </a:solidFill>
                <a:latin typeface="Calibri" pitchFamily="34" charset="0"/>
                <a:ea typeface="Calibri" pitchFamily="34" charset="-122"/>
                <a:cs typeface="Calibri" pitchFamily="34" charset="-120"/>
              </a:rPr>
              <a:t>Class 12 Physics  ·  Units 6 &amp; 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Topics at a Glance</a:t>
            </a:r>
            <a:endParaRPr lang="en-US" sz="2400" dirty="0"/>
          </a:p>
        </p:txBody>
      </p:sp>
      <p:sp>
        <p:nvSpPr>
          <p:cNvPr id="6" name="Shape 4"/>
          <p:cNvSpPr/>
          <p:nvPr/>
        </p:nvSpPr>
        <p:spPr>
          <a:xfrm>
            <a:off x="365760" y="841248"/>
            <a:ext cx="8412480" cy="658368"/>
          </a:xfrm>
          <a:prstGeom prst="rect">
            <a:avLst/>
          </a:prstGeom>
          <a:solidFill>
            <a:srgbClr val="E3F2FD"/>
          </a:solidFill>
          <a:ln w="6350">
            <a:solidFill>
              <a:srgbClr val="E0E0E0"/>
            </a:solidFill>
            <a:prstDash val="solid"/>
          </a:ln>
        </p:spPr>
      </p:sp>
      <p:sp>
        <p:nvSpPr>
          <p:cNvPr id="7" name="Text 5"/>
          <p:cNvSpPr/>
          <p:nvPr/>
        </p:nvSpPr>
        <p:spPr>
          <a:xfrm>
            <a:off x="502920" y="886968"/>
            <a:ext cx="2377440" cy="566928"/>
          </a:xfrm>
          <a:prstGeom prst="rect">
            <a:avLst/>
          </a:prstGeom>
          <a:noFill/>
          <a:ln/>
        </p:spPr>
        <p:txBody>
          <a:bodyPr wrap="square" lIns="0" tIns="0" rIns="0" bIns="0" rtlCol="0" anchor="ctr"/>
          <a:lstStyle/>
          <a:p>
            <a:pPr indent="0" marL="0">
              <a:buNone/>
            </a:pPr>
            <a:r>
              <a:rPr lang="en-US" sz="1300" b="1" dirty="0">
                <a:solidFill>
                  <a:srgbClr val="1565C0"/>
                </a:solidFill>
              </a:rPr>
              <a:t>⚡ EM Induction</a:t>
            </a:r>
            <a:endParaRPr lang="en-US" sz="1300" dirty="0"/>
          </a:p>
        </p:txBody>
      </p:sp>
      <p:sp>
        <p:nvSpPr>
          <p:cNvPr id="8" name="Text 6"/>
          <p:cNvSpPr/>
          <p:nvPr/>
        </p:nvSpPr>
        <p:spPr>
          <a:xfrm>
            <a:off x="2926080" y="886968"/>
            <a:ext cx="5669280" cy="566928"/>
          </a:xfrm>
          <a:prstGeom prst="rect">
            <a:avLst/>
          </a:prstGeom>
          <a:noFill/>
          <a:ln/>
        </p:spPr>
        <p:txBody>
          <a:bodyPr wrap="square" lIns="0" tIns="0" rIns="0" bIns="0" rtlCol="0" anchor="ctr"/>
          <a:lstStyle/>
          <a:p>
            <a:pPr indent="0" marL="0">
              <a:buNone/>
            </a:pPr>
            <a:r>
              <a:rPr lang="en-US" sz="1200" dirty="0">
                <a:solidFill>
                  <a:srgbClr val="212121"/>
                </a:solidFill>
              </a:rPr>
              <a:t>Faraday's Laws, Lenz's Law, Motional EMF, Eddy Currents</a:t>
            </a:r>
            <a:endParaRPr lang="en-US" sz="1200" dirty="0"/>
          </a:p>
        </p:txBody>
      </p:sp>
      <p:sp>
        <p:nvSpPr>
          <p:cNvPr id="9" name="Shape 7"/>
          <p:cNvSpPr/>
          <p:nvPr/>
        </p:nvSpPr>
        <p:spPr>
          <a:xfrm>
            <a:off x="365760" y="1636776"/>
            <a:ext cx="8412480" cy="658368"/>
          </a:xfrm>
          <a:prstGeom prst="rect">
            <a:avLst/>
          </a:prstGeom>
          <a:solidFill>
            <a:srgbClr val="F9FAFB"/>
          </a:solidFill>
          <a:ln w="6350">
            <a:solidFill>
              <a:srgbClr val="E0E0E0"/>
            </a:solidFill>
            <a:prstDash val="solid"/>
          </a:ln>
        </p:spPr>
      </p:sp>
      <p:sp>
        <p:nvSpPr>
          <p:cNvPr id="10" name="Text 8"/>
          <p:cNvSpPr/>
          <p:nvPr/>
        </p:nvSpPr>
        <p:spPr>
          <a:xfrm>
            <a:off x="502920" y="1682496"/>
            <a:ext cx="2377440" cy="566928"/>
          </a:xfrm>
          <a:prstGeom prst="rect">
            <a:avLst/>
          </a:prstGeom>
          <a:noFill/>
          <a:ln/>
        </p:spPr>
        <p:txBody>
          <a:bodyPr wrap="square" lIns="0" tIns="0" rIns="0" bIns="0" rtlCol="0" anchor="ctr"/>
          <a:lstStyle/>
          <a:p>
            <a:pPr indent="0" marL="0">
              <a:buNone/>
            </a:pPr>
            <a:r>
              <a:rPr lang="en-US" sz="1300" b="1" dirty="0">
                <a:solidFill>
                  <a:srgbClr val="1565C0"/>
                </a:solidFill>
              </a:rPr>
              <a:t>🔁 Inductance</a:t>
            </a:r>
            <a:endParaRPr lang="en-US" sz="1300" dirty="0"/>
          </a:p>
        </p:txBody>
      </p:sp>
      <p:sp>
        <p:nvSpPr>
          <p:cNvPr id="11" name="Text 9"/>
          <p:cNvSpPr/>
          <p:nvPr/>
        </p:nvSpPr>
        <p:spPr>
          <a:xfrm>
            <a:off x="2926080" y="1682496"/>
            <a:ext cx="5669280" cy="566928"/>
          </a:xfrm>
          <a:prstGeom prst="rect">
            <a:avLst/>
          </a:prstGeom>
          <a:noFill/>
          <a:ln/>
        </p:spPr>
        <p:txBody>
          <a:bodyPr wrap="square" lIns="0" tIns="0" rIns="0" bIns="0" rtlCol="0" anchor="ctr"/>
          <a:lstStyle/>
          <a:p>
            <a:pPr indent="0" marL="0">
              <a:buNone/>
            </a:pPr>
            <a:r>
              <a:rPr lang="en-US" sz="1200" dirty="0">
                <a:solidFill>
                  <a:srgbClr val="212121"/>
                </a:solidFill>
              </a:rPr>
              <a:t>Self-Inductance, Mutual Inductance, Energy in Inductor</a:t>
            </a:r>
            <a:endParaRPr lang="en-US" sz="1200" dirty="0"/>
          </a:p>
        </p:txBody>
      </p:sp>
      <p:sp>
        <p:nvSpPr>
          <p:cNvPr id="12" name="Shape 10"/>
          <p:cNvSpPr/>
          <p:nvPr/>
        </p:nvSpPr>
        <p:spPr>
          <a:xfrm>
            <a:off x="365760" y="2432304"/>
            <a:ext cx="8412480" cy="658368"/>
          </a:xfrm>
          <a:prstGeom prst="rect">
            <a:avLst/>
          </a:prstGeom>
          <a:solidFill>
            <a:srgbClr val="E3F2FD"/>
          </a:solidFill>
          <a:ln w="6350">
            <a:solidFill>
              <a:srgbClr val="E0E0E0"/>
            </a:solidFill>
            <a:prstDash val="solid"/>
          </a:ln>
        </p:spPr>
      </p:sp>
      <p:sp>
        <p:nvSpPr>
          <p:cNvPr id="13" name="Text 11"/>
          <p:cNvSpPr/>
          <p:nvPr/>
        </p:nvSpPr>
        <p:spPr>
          <a:xfrm>
            <a:off x="502920" y="2478024"/>
            <a:ext cx="2377440" cy="566928"/>
          </a:xfrm>
          <a:prstGeom prst="rect">
            <a:avLst/>
          </a:prstGeom>
          <a:noFill/>
          <a:ln/>
        </p:spPr>
        <p:txBody>
          <a:bodyPr wrap="square" lIns="0" tIns="0" rIns="0" bIns="0" rtlCol="0" anchor="ctr"/>
          <a:lstStyle/>
          <a:p>
            <a:pPr indent="0" marL="0">
              <a:buNone/>
            </a:pPr>
            <a:r>
              <a:rPr lang="en-US" sz="1300" b="1" dirty="0">
                <a:solidFill>
                  <a:srgbClr val="1565C0"/>
                </a:solidFill>
              </a:rPr>
              <a:t>〜 AC Fundamentals</a:t>
            </a:r>
            <a:endParaRPr lang="en-US" sz="1300" dirty="0"/>
          </a:p>
        </p:txBody>
      </p:sp>
      <p:sp>
        <p:nvSpPr>
          <p:cNvPr id="14" name="Text 12"/>
          <p:cNvSpPr/>
          <p:nvPr/>
        </p:nvSpPr>
        <p:spPr>
          <a:xfrm>
            <a:off x="2926080" y="2478024"/>
            <a:ext cx="5669280" cy="566928"/>
          </a:xfrm>
          <a:prstGeom prst="rect">
            <a:avLst/>
          </a:prstGeom>
          <a:noFill/>
          <a:ln/>
        </p:spPr>
        <p:txBody>
          <a:bodyPr wrap="square" lIns="0" tIns="0" rIns="0" bIns="0" rtlCol="0" anchor="ctr"/>
          <a:lstStyle/>
          <a:p>
            <a:pPr indent="0" marL="0">
              <a:buNone/>
            </a:pPr>
            <a:r>
              <a:rPr lang="en-US" sz="1200" dirty="0">
                <a:solidFill>
                  <a:srgbClr val="212121"/>
                </a:solidFill>
              </a:rPr>
              <a:t>Generation, Peak &amp; RMS Values, Phase Relationships</a:t>
            </a:r>
            <a:endParaRPr lang="en-US" sz="1200" dirty="0"/>
          </a:p>
        </p:txBody>
      </p:sp>
      <p:sp>
        <p:nvSpPr>
          <p:cNvPr id="15" name="Shape 13"/>
          <p:cNvSpPr/>
          <p:nvPr/>
        </p:nvSpPr>
        <p:spPr>
          <a:xfrm>
            <a:off x="365760" y="3227832"/>
            <a:ext cx="8412480" cy="658368"/>
          </a:xfrm>
          <a:prstGeom prst="rect">
            <a:avLst/>
          </a:prstGeom>
          <a:solidFill>
            <a:srgbClr val="F9FAFB"/>
          </a:solidFill>
          <a:ln w="6350">
            <a:solidFill>
              <a:srgbClr val="E0E0E0"/>
            </a:solidFill>
            <a:prstDash val="solid"/>
          </a:ln>
        </p:spPr>
      </p:sp>
      <p:sp>
        <p:nvSpPr>
          <p:cNvPr id="16" name="Text 14"/>
          <p:cNvSpPr/>
          <p:nvPr/>
        </p:nvSpPr>
        <p:spPr>
          <a:xfrm>
            <a:off x="502920" y="3273552"/>
            <a:ext cx="2377440" cy="566928"/>
          </a:xfrm>
          <a:prstGeom prst="rect">
            <a:avLst/>
          </a:prstGeom>
          <a:noFill/>
          <a:ln/>
        </p:spPr>
        <p:txBody>
          <a:bodyPr wrap="square" lIns="0" tIns="0" rIns="0" bIns="0" rtlCol="0" anchor="ctr"/>
          <a:lstStyle/>
          <a:p>
            <a:pPr indent="0" marL="0">
              <a:buNone/>
            </a:pPr>
            <a:r>
              <a:rPr lang="en-US" sz="1300" b="1" dirty="0">
                <a:solidFill>
                  <a:srgbClr val="1565C0"/>
                </a:solidFill>
              </a:rPr>
              <a:t>🔌 AC Circuits</a:t>
            </a:r>
            <a:endParaRPr lang="en-US" sz="1300" dirty="0"/>
          </a:p>
        </p:txBody>
      </p:sp>
      <p:sp>
        <p:nvSpPr>
          <p:cNvPr id="17" name="Text 15"/>
          <p:cNvSpPr/>
          <p:nvPr/>
        </p:nvSpPr>
        <p:spPr>
          <a:xfrm>
            <a:off x="2926080" y="3273552"/>
            <a:ext cx="5669280" cy="566928"/>
          </a:xfrm>
          <a:prstGeom prst="rect">
            <a:avLst/>
          </a:prstGeom>
          <a:noFill/>
          <a:ln/>
        </p:spPr>
        <p:txBody>
          <a:bodyPr wrap="square" lIns="0" tIns="0" rIns="0" bIns="0" rtlCol="0" anchor="ctr"/>
          <a:lstStyle/>
          <a:p>
            <a:pPr indent="0" marL="0">
              <a:buNone/>
            </a:pPr>
            <a:r>
              <a:rPr lang="en-US" sz="1200" dirty="0">
                <a:solidFill>
                  <a:srgbClr val="212121"/>
                </a:solidFill>
              </a:rPr>
              <a:t>Phasors, Impedance, Power Factor, LCR Resonance</a:t>
            </a:r>
            <a:endParaRPr lang="en-US" sz="1200" dirty="0"/>
          </a:p>
        </p:txBody>
      </p:sp>
      <p:sp>
        <p:nvSpPr>
          <p:cNvPr id="18" name="Shape 16"/>
          <p:cNvSpPr/>
          <p:nvPr/>
        </p:nvSpPr>
        <p:spPr>
          <a:xfrm>
            <a:off x="365760" y="4023360"/>
            <a:ext cx="8412480" cy="658368"/>
          </a:xfrm>
          <a:prstGeom prst="rect">
            <a:avLst/>
          </a:prstGeom>
          <a:solidFill>
            <a:srgbClr val="E3F2FD"/>
          </a:solidFill>
          <a:ln w="6350">
            <a:solidFill>
              <a:srgbClr val="E0E0E0"/>
            </a:solidFill>
            <a:prstDash val="solid"/>
          </a:ln>
        </p:spPr>
      </p:sp>
      <p:sp>
        <p:nvSpPr>
          <p:cNvPr id="19" name="Text 17"/>
          <p:cNvSpPr/>
          <p:nvPr/>
        </p:nvSpPr>
        <p:spPr>
          <a:xfrm>
            <a:off x="502920" y="4069080"/>
            <a:ext cx="2377440" cy="566928"/>
          </a:xfrm>
          <a:prstGeom prst="rect">
            <a:avLst/>
          </a:prstGeom>
          <a:noFill/>
          <a:ln/>
        </p:spPr>
        <p:txBody>
          <a:bodyPr wrap="square" lIns="0" tIns="0" rIns="0" bIns="0" rtlCol="0" anchor="ctr"/>
          <a:lstStyle/>
          <a:p>
            <a:pPr indent="0" marL="0">
              <a:buNone/>
            </a:pPr>
            <a:r>
              <a:rPr lang="en-US" sz="1300" b="1" dirty="0">
                <a:solidFill>
                  <a:srgbClr val="1565C0"/>
                </a:solidFill>
              </a:rPr>
              <a:t>🔋 Transformers</a:t>
            </a:r>
            <a:endParaRPr lang="en-US" sz="1300" dirty="0"/>
          </a:p>
        </p:txBody>
      </p:sp>
      <p:sp>
        <p:nvSpPr>
          <p:cNvPr id="20" name="Text 18"/>
          <p:cNvSpPr/>
          <p:nvPr/>
        </p:nvSpPr>
        <p:spPr>
          <a:xfrm>
            <a:off x="2926080" y="4069080"/>
            <a:ext cx="5669280" cy="566928"/>
          </a:xfrm>
          <a:prstGeom prst="rect">
            <a:avLst/>
          </a:prstGeom>
          <a:noFill/>
          <a:ln/>
        </p:spPr>
        <p:txBody>
          <a:bodyPr wrap="square" lIns="0" tIns="0" rIns="0" bIns="0" rtlCol="0" anchor="ctr"/>
          <a:lstStyle/>
          <a:p>
            <a:pPr indent="0" marL="0">
              <a:buNone/>
            </a:pPr>
            <a:r>
              <a:rPr lang="en-US" sz="1200" dirty="0">
                <a:solidFill>
                  <a:srgbClr val="212121"/>
                </a:solidFill>
              </a:rPr>
              <a:t>Step-Up / Step-Down, Efficiency, Power Transmission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Faraday's Laws of Electromagnetic Induction</a:t>
            </a:r>
            <a:endParaRPr lang="en-US" sz="2400" dirty="0"/>
          </a:p>
        </p:txBody>
      </p:sp>
      <p:sp>
        <p:nvSpPr>
          <p:cNvPr id="6" name="Text 4"/>
          <p:cNvSpPr/>
          <p:nvPr/>
        </p:nvSpPr>
        <p:spPr>
          <a:xfrm>
            <a:off x="457200" y="914400"/>
            <a:ext cx="8229600" cy="457200"/>
          </a:xfrm>
          <a:prstGeom prst="rect">
            <a:avLst/>
          </a:prstGeom>
          <a:noFill/>
          <a:ln/>
        </p:spPr>
        <p:txBody>
          <a:bodyPr wrap="square" rtlCol="0" anchor="ctr"/>
          <a:lstStyle/>
          <a:p>
            <a:pPr indent="0" marL="0">
              <a:buNone/>
            </a:pPr>
            <a:r>
              <a:rPr lang="en-US" sz="1400" b="1" dirty="0">
                <a:solidFill>
                  <a:srgbClr val="1565C0"/>
                </a:solidFill>
              </a:rPr>
              <a:t>First Law:</a:t>
            </a:r>
            <a:pPr indent="0" marL="0">
              <a:buNone/>
            </a:pPr>
            <a:r>
              <a:rPr lang="en-US" sz="1400" dirty="0">
                <a:solidFill>
                  <a:srgbClr val="212121"/>
                </a:solidFill>
              </a:rPr>
              <a:t>  An EMF is induced in a conductor when the magnetic flux through it changes.</a:t>
            </a:r>
            <a:endParaRPr lang="en-US" sz="1400" dirty="0"/>
          </a:p>
        </p:txBody>
      </p:sp>
      <p:sp>
        <p:nvSpPr>
          <p:cNvPr id="7" name="Text 5"/>
          <p:cNvSpPr/>
          <p:nvPr/>
        </p:nvSpPr>
        <p:spPr>
          <a:xfrm>
            <a:off x="457200" y="1417320"/>
            <a:ext cx="8229600" cy="502920"/>
          </a:xfrm>
          <a:prstGeom prst="rect">
            <a:avLst/>
          </a:prstGeom>
          <a:noFill/>
          <a:ln/>
        </p:spPr>
        <p:txBody>
          <a:bodyPr wrap="square" rtlCol="0" anchor="ctr"/>
          <a:lstStyle/>
          <a:p>
            <a:pPr indent="0" marL="0">
              <a:buNone/>
            </a:pPr>
            <a:r>
              <a:rPr lang="en-US" sz="1400" b="1" dirty="0">
                <a:solidFill>
                  <a:srgbClr val="1565C0"/>
                </a:solidFill>
              </a:rPr>
              <a:t>Second Law:</a:t>
            </a:r>
            <a:pPr indent="0" marL="0">
              <a:buNone/>
            </a:pPr>
            <a:r>
              <a:rPr lang="en-US" sz="1400" dirty="0">
                <a:solidFill>
                  <a:srgbClr val="212121"/>
                </a:solidFill>
              </a:rPr>
              <a:t>  The magnitude of induced EMF equals the rate of change of magnetic flux linkage.</a:t>
            </a:r>
            <a:endParaRPr lang="en-US" sz="1400" dirty="0"/>
          </a:p>
        </p:txBody>
      </p:sp>
      <p:sp>
        <p:nvSpPr>
          <p:cNvPr id="8" name="Shape 6"/>
          <p:cNvSpPr/>
          <p:nvPr/>
        </p:nvSpPr>
        <p:spPr>
          <a:xfrm>
            <a:off x="457200" y="2011680"/>
            <a:ext cx="2651760" cy="822960"/>
          </a:xfrm>
          <a:prstGeom prst="rect">
            <a:avLst/>
          </a:prstGeom>
          <a:solidFill>
            <a:srgbClr val="E3F2FD"/>
          </a:solidFill>
          <a:ln w="19050">
            <a:solidFill>
              <a:srgbClr val="1565C0"/>
            </a:solidFill>
            <a:prstDash val="solid"/>
          </a:ln>
        </p:spPr>
      </p:sp>
      <p:sp>
        <p:nvSpPr>
          <p:cNvPr id="9" name="Text 7"/>
          <p:cNvSpPr/>
          <p:nvPr/>
        </p:nvSpPr>
        <p:spPr>
          <a:xfrm>
            <a:off x="548640" y="2057400"/>
            <a:ext cx="2468880" cy="731520"/>
          </a:xfrm>
          <a:prstGeom prst="rect">
            <a:avLst/>
          </a:prstGeom>
          <a:noFill/>
          <a:ln/>
        </p:spPr>
        <p:txBody>
          <a:bodyPr wrap="square" rtlCol="0" anchor="ctr"/>
          <a:lstStyle/>
          <a:p>
            <a:pPr algn="ctr" indent="0" marL="0">
              <a:buNone/>
            </a:pPr>
            <a:r>
              <a:rPr lang="en-US" sz="1500" b="1" dirty="0">
                <a:solidFill>
                  <a:srgbClr val="0D47A1"/>
                </a:solidFill>
              </a:rPr>
              <a:t>ε = −N (dΦ/dt)</a:t>
            </a:r>
            <a:endParaRPr lang="en-US" sz="1500" dirty="0"/>
          </a:p>
          <a:p>
            <a:pPr algn="ctr" indent="0" marL="0">
              <a:buNone/>
            </a:pPr>
            <a:r>
              <a:rPr lang="en-US" sz="1100" dirty="0">
                <a:solidFill>
                  <a:srgbClr val="546E7A"/>
                </a:solidFill>
              </a:rPr>
              <a:t>Induced EMF (Faraday's Law)</a:t>
            </a:r>
            <a:endParaRPr lang="en-US" sz="1500" dirty="0"/>
          </a:p>
        </p:txBody>
      </p:sp>
      <p:sp>
        <p:nvSpPr>
          <p:cNvPr id="10" name="Shape 8"/>
          <p:cNvSpPr/>
          <p:nvPr/>
        </p:nvSpPr>
        <p:spPr>
          <a:xfrm>
            <a:off x="3246120" y="2011680"/>
            <a:ext cx="2651760" cy="822960"/>
          </a:xfrm>
          <a:prstGeom prst="rect">
            <a:avLst/>
          </a:prstGeom>
          <a:solidFill>
            <a:srgbClr val="E3F2FD"/>
          </a:solidFill>
          <a:ln w="19050">
            <a:solidFill>
              <a:srgbClr val="1565C0"/>
            </a:solidFill>
            <a:prstDash val="solid"/>
          </a:ln>
        </p:spPr>
      </p:sp>
      <p:sp>
        <p:nvSpPr>
          <p:cNvPr id="11" name="Text 9"/>
          <p:cNvSpPr/>
          <p:nvPr/>
        </p:nvSpPr>
        <p:spPr>
          <a:xfrm>
            <a:off x="3337560" y="2057400"/>
            <a:ext cx="2468880" cy="731520"/>
          </a:xfrm>
          <a:prstGeom prst="rect">
            <a:avLst/>
          </a:prstGeom>
          <a:noFill/>
          <a:ln/>
        </p:spPr>
        <p:txBody>
          <a:bodyPr wrap="square" rtlCol="0" anchor="ctr"/>
          <a:lstStyle/>
          <a:p>
            <a:pPr algn="ctr" indent="0" marL="0">
              <a:buNone/>
            </a:pPr>
            <a:r>
              <a:rPr lang="en-US" sz="1500" b="1" dirty="0">
                <a:solidFill>
                  <a:srgbClr val="0D47A1"/>
                </a:solidFill>
              </a:rPr>
              <a:t>Φ = B · A · cos θ</a:t>
            </a:r>
            <a:endParaRPr lang="en-US" sz="1500" dirty="0"/>
          </a:p>
          <a:p>
            <a:pPr algn="ctr" indent="0" marL="0">
              <a:buNone/>
            </a:pPr>
            <a:r>
              <a:rPr lang="en-US" sz="1100" dirty="0">
                <a:solidFill>
                  <a:srgbClr val="546E7A"/>
                </a:solidFill>
              </a:rPr>
              <a:t>Magnetic Flux</a:t>
            </a:r>
            <a:endParaRPr lang="en-US" sz="1500" dirty="0"/>
          </a:p>
        </p:txBody>
      </p:sp>
      <p:sp>
        <p:nvSpPr>
          <p:cNvPr id="12" name="Shape 10"/>
          <p:cNvSpPr/>
          <p:nvPr/>
        </p:nvSpPr>
        <p:spPr>
          <a:xfrm>
            <a:off x="6035040" y="2011680"/>
            <a:ext cx="2651760" cy="822960"/>
          </a:xfrm>
          <a:prstGeom prst="rect">
            <a:avLst/>
          </a:prstGeom>
          <a:solidFill>
            <a:srgbClr val="E3F2FD"/>
          </a:solidFill>
          <a:ln w="19050">
            <a:solidFill>
              <a:srgbClr val="1565C0"/>
            </a:solidFill>
            <a:prstDash val="solid"/>
          </a:ln>
        </p:spPr>
      </p:sp>
      <p:sp>
        <p:nvSpPr>
          <p:cNvPr id="13" name="Text 11"/>
          <p:cNvSpPr/>
          <p:nvPr/>
        </p:nvSpPr>
        <p:spPr>
          <a:xfrm>
            <a:off x="6126480" y="2057400"/>
            <a:ext cx="2468880" cy="731520"/>
          </a:xfrm>
          <a:prstGeom prst="rect">
            <a:avLst/>
          </a:prstGeom>
          <a:noFill/>
          <a:ln/>
        </p:spPr>
        <p:txBody>
          <a:bodyPr wrap="square" rtlCol="0" anchor="ctr"/>
          <a:lstStyle/>
          <a:p>
            <a:pPr algn="ctr" indent="0" marL="0">
              <a:buNone/>
            </a:pPr>
            <a:r>
              <a:rPr lang="en-US" sz="1500" b="1" dirty="0">
                <a:solidFill>
                  <a:srgbClr val="0D47A1"/>
                </a:solidFill>
              </a:rPr>
              <a:t>ε = −dΦ_linkage/dt</a:t>
            </a:r>
            <a:endParaRPr lang="en-US" sz="1500" dirty="0"/>
          </a:p>
          <a:p>
            <a:pPr algn="ctr" indent="0" marL="0">
              <a:buNone/>
            </a:pPr>
            <a:r>
              <a:rPr lang="en-US" sz="1100" dirty="0">
                <a:solidFill>
                  <a:srgbClr val="546E7A"/>
                </a:solidFill>
              </a:rPr>
              <a:t>Flux Linkage (NΦ)</a:t>
            </a:r>
            <a:endParaRPr lang="en-US" sz="1500" dirty="0"/>
          </a:p>
        </p:txBody>
      </p:sp>
      <p:sp>
        <p:nvSpPr>
          <p:cNvPr id="14" name="Text 12"/>
          <p:cNvSpPr/>
          <p:nvPr/>
        </p:nvSpPr>
        <p:spPr>
          <a:xfrm>
            <a:off x="457200" y="2971800"/>
            <a:ext cx="8229600" cy="411480"/>
          </a:xfrm>
          <a:prstGeom prst="rect">
            <a:avLst/>
          </a:prstGeom>
          <a:noFill/>
          <a:ln/>
        </p:spPr>
        <p:txBody>
          <a:bodyPr wrap="square" rtlCol="0" anchor="ctr"/>
          <a:lstStyle/>
          <a:p>
            <a:pPr indent="0" marL="0">
              <a:buNone/>
            </a:pPr>
            <a:r>
              <a:rPr lang="en-US" sz="1200" b="1" dirty="0">
                <a:solidFill>
                  <a:srgbClr val="0D1B3E"/>
                </a:solidFill>
              </a:rPr>
              <a:t>Key Terms: </a:t>
            </a:r>
            <a:pPr indent="0" marL="0">
              <a:buNone/>
            </a:pPr>
            <a:r>
              <a:rPr lang="en-US" sz="1200" dirty="0">
                <a:solidFill>
                  <a:srgbClr val="546E7A"/>
                </a:solidFill>
              </a:rPr>
              <a:t>Magnetic Flux (Φ) — Weber (Wb)   |   Flux Linkage = NΦ   |   EMF unit: Volt (V)   |   N = Number of turns</a:t>
            </a:r>
            <a:endParaRPr lang="en-US" sz="1200" dirty="0"/>
          </a:p>
        </p:txBody>
      </p:sp>
      <p:sp>
        <p:nvSpPr>
          <p:cNvPr id="15" name="Shape 13"/>
          <p:cNvSpPr/>
          <p:nvPr/>
        </p:nvSpPr>
        <p:spPr>
          <a:xfrm>
            <a:off x="457200" y="3474720"/>
            <a:ext cx="8229600" cy="1417320"/>
          </a:xfrm>
          <a:prstGeom prst="rect">
            <a:avLst/>
          </a:prstGeom>
          <a:solidFill>
            <a:srgbClr val="FFF8E1"/>
          </a:solidFill>
          <a:ln w="12700">
            <a:solidFill>
              <a:srgbClr val="F9A825"/>
            </a:solidFill>
            <a:prstDash val="solid"/>
          </a:ln>
        </p:spPr>
      </p:sp>
      <p:sp>
        <p:nvSpPr>
          <p:cNvPr id="16" name="Text 14"/>
          <p:cNvSpPr/>
          <p:nvPr/>
        </p:nvSpPr>
        <p:spPr>
          <a:xfrm>
            <a:off x="594360" y="3547872"/>
            <a:ext cx="7955280" cy="1234440"/>
          </a:xfrm>
          <a:prstGeom prst="rect">
            <a:avLst/>
          </a:prstGeom>
          <a:noFill/>
          <a:ln/>
        </p:spPr>
        <p:txBody>
          <a:bodyPr wrap="square" rtlCol="0" anchor="ctr"/>
          <a:lstStyle/>
          <a:p>
            <a:pPr indent="0" marL="0">
              <a:buNone/>
            </a:pPr>
            <a:r>
              <a:rPr lang="en-US" sz="1300" b="1" dirty="0">
                <a:solidFill>
                  <a:srgbClr val="0D1B3E"/>
                </a:solidFill>
              </a:rPr>
              <a:t>💡 Flux Rule Summary
</a:t>
            </a:r>
            <a:pPr indent="0" marL="0">
              <a:buNone/>
            </a:pPr>
            <a:r>
              <a:rPr lang="en-US" sz="1300" dirty="0">
                <a:solidFill>
                  <a:srgbClr val="212121"/>
                </a:solidFill>
              </a:rPr>
              <a:t>• Flux increases → Induced current opposes increase
</a:t>
            </a:r>
            <a:endParaRPr lang="en-US" sz="1300" dirty="0"/>
          </a:p>
          <a:p>
            <a:pPr indent="0" marL="0">
              <a:buNone/>
            </a:pPr>
            <a:r>
              <a:rPr lang="en-US" sz="1300" dirty="0">
                <a:solidFill>
                  <a:srgbClr val="212121"/>
                </a:solidFill>
              </a:rPr>
              <a:t>• Flux decreases → Induced current supports the original field
</a:t>
            </a:r>
            <a:endParaRPr lang="en-US" sz="1300" dirty="0"/>
          </a:p>
          <a:p>
            <a:pPr indent="0" marL="0">
              <a:buNone/>
            </a:pPr>
            <a:r>
              <a:rPr lang="en-US" sz="1300" dirty="0">
                <a:solidFill>
                  <a:srgbClr val="212121"/>
                </a:solidFill>
              </a:rPr>
              <a:t>• Flux constant → No induced EMF (ε = 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Lenz's Law &amp; Conservation of Energy</a:t>
            </a:r>
            <a:endParaRPr lang="en-US" sz="2400" dirty="0"/>
          </a:p>
        </p:txBody>
      </p:sp>
      <p:sp>
        <p:nvSpPr>
          <p:cNvPr id="6" name="Text 4"/>
          <p:cNvSpPr/>
          <p:nvPr/>
        </p:nvSpPr>
        <p:spPr>
          <a:xfrm>
            <a:off x="457200" y="914400"/>
            <a:ext cx="8229600" cy="594360"/>
          </a:xfrm>
          <a:prstGeom prst="rect">
            <a:avLst/>
          </a:prstGeom>
          <a:noFill/>
          <a:ln/>
        </p:spPr>
        <p:txBody>
          <a:bodyPr wrap="square" rtlCol="0" anchor="ctr"/>
          <a:lstStyle/>
          <a:p>
            <a:pPr algn="ctr" indent="0" marL="0">
              <a:buNone/>
            </a:pPr>
            <a:r>
              <a:rPr lang="en-US" sz="1500" i="1" dirty="0">
                <a:solidFill>
                  <a:srgbClr val="0D1B3E"/>
                </a:solidFill>
                <a:latin typeface="Calibri" pitchFamily="34" charset="0"/>
                <a:ea typeface="Calibri" pitchFamily="34" charset="-122"/>
                <a:cs typeface="Calibri" pitchFamily="34" charset="-120"/>
              </a:rPr>
              <a:t>"The direction of the induced current is such that it opposes the cause producing it."</a:t>
            </a:r>
            <a:endParaRPr lang="en-US" sz="1500" dirty="0"/>
          </a:p>
        </p:txBody>
      </p:sp>
      <p:sp>
        <p:nvSpPr>
          <p:cNvPr id="7" name="Shape 5"/>
          <p:cNvSpPr/>
          <p:nvPr/>
        </p:nvSpPr>
        <p:spPr>
          <a:xfrm>
            <a:off x="365760" y="1773936"/>
            <a:ext cx="502920" cy="502920"/>
          </a:xfrm>
          <a:prstGeom prst="ellipse">
            <a:avLst/>
          </a:prstGeom>
          <a:solidFill>
            <a:srgbClr val="1565C0"/>
          </a:solidFill>
          <a:ln w="12700">
            <a:solidFill>
              <a:srgbClr val="1565C0"/>
            </a:solidFill>
            <a:prstDash val="solid"/>
          </a:ln>
        </p:spPr>
      </p:sp>
      <p:sp>
        <p:nvSpPr>
          <p:cNvPr id="8" name="Text 6"/>
          <p:cNvSpPr/>
          <p:nvPr/>
        </p:nvSpPr>
        <p:spPr>
          <a:xfrm>
            <a:off x="365760" y="1773936"/>
            <a:ext cx="50292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9" name="Text 7"/>
          <p:cNvSpPr/>
          <p:nvPr/>
        </p:nvSpPr>
        <p:spPr>
          <a:xfrm>
            <a:off x="1005840" y="1645920"/>
            <a:ext cx="7680960" cy="685800"/>
          </a:xfrm>
          <a:prstGeom prst="rect">
            <a:avLst/>
          </a:prstGeom>
          <a:noFill/>
          <a:ln/>
        </p:spPr>
        <p:txBody>
          <a:bodyPr wrap="square" rtlCol="0" anchor="ctr"/>
          <a:lstStyle/>
          <a:p>
            <a:pPr indent="0" marL="0">
              <a:buNone/>
            </a:pPr>
            <a:r>
              <a:rPr lang="en-US" sz="1300" b="1" dirty="0">
                <a:solidFill>
                  <a:srgbClr val="1565C0"/>
                </a:solidFill>
              </a:rPr>
              <a:t>Statement: </a:t>
            </a:r>
            <a:pPr indent="0" marL="0">
              <a:buNone/>
            </a:pPr>
            <a:r>
              <a:rPr lang="en-US" sz="1300" dirty="0">
                <a:solidFill>
                  <a:srgbClr val="212121"/>
                </a:solidFill>
              </a:rPr>
              <a:t>Induced EMF always opposes the change in magnetic flux (consequence of energy conservation).</a:t>
            </a:r>
            <a:endParaRPr lang="en-US" sz="1300" dirty="0"/>
          </a:p>
        </p:txBody>
      </p:sp>
      <p:sp>
        <p:nvSpPr>
          <p:cNvPr id="10" name="Shape 8"/>
          <p:cNvSpPr/>
          <p:nvPr/>
        </p:nvSpPr>
        <p:spPr>
          <a:xfrm>
            <a:off x="365760" y="2578608"/>
            <a:ext cx="502920" cy="502920"/>
          </a:xfrm>
          <a:prstGeom prst="ellipse">
            <a:avLst/>
          </a:prstGeom>
          <a:solidFill>
            <a:srgbClr val="1565C0"/>
          </a:solidFill>
          <a:ln w="12700">
            <a:solidFill>
              <a:srgbClr val="1565C0"/>
            </a:solidFill>
            <a:prstDash val="solid"/>
          </a:ln>
        </p:spPr>
      </p:sp>
      <p:sp>
        <p:nvSpPr>
          <p:cNvPr id="11" name="Text 9"/>
          <p:cNvSpPr/>
          <p:nvPr/>
        </p:nvSpPr>
        <p:spPr>
          <a:xfrm>
            <a:off x="365760" y="2578608"/>
            <a:ext cx="50292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2" name="Text 10"/>
          <p:cNvSpPr/>
          <p:nvPr/>
        </p:nvSpPr>
        <p:spPr>
          <a:xfrm>
            <a:off x="1005840" y="2450592"/>
            <a:ext cx="7680960" cy="685800"/>
          </a:xfrm>
          <a:prstGeom prst="rect">
            <a:avLst/>
          </a:prstGeom>
          <a:noFill/>
          <a:ln/>
        </p:spPr>
        <p:txBody>
          <a:bodyPr wrap="square" rtlCol="0" anchor="ctr"/>
          <a:lstStyle/>
          <a:p>
            <a:pPr indent="0" marL="0">
              <a:buNone/>
            </a:pPr>
            <a:r>
              <a:rPr lang="en-US" sz="1300" b="1" dirty="0">
                <a:solidFill>
                  <a:srgbClr val="1565C0"/>
                </a:solidFill>
              </a:rPr>
              <a:t>Energy Link: </a:t>
            </a:r>
            <a:pPr indent="0" marL="0">
              <a:buNone/>
            </a:pPr>
            <a:r>
              <a:rPr lang="en-US" sz="1300" dirty="0">
                <a:solidFill>
                  <a:srgbClr val="212121"/>
                </a:solidFill>
              </a:rPr>
              <a:t>Work done against opposing force = Electrical energy generated; no energy is created from nothing.</a:t>
            </a:r>
            <a:endParaRPr lang="en-US" sz="1300" dirty="0"/>
          </a:p>
        </p:txBody>
      </p:sp>
      <p:sp>
        <p:nvSpPr>
          <p:cNvPr id="13" name="Shape 11"/>
          <p:cNvSpPr/>
          <p:nvPr/>
        </p:nvSpPr>
        <p:spPr>
          <a:xfrm>
            <a:off x="365760" y="3383280"/>
            <a:ext cx="502920" cy="502920"/>
          </a:xfrm>
          <a:prstGeom prst="ellipse">
            <a:avLst/>
          </a:prstGeom>
          <a:solidFill>
            <a:srgbClr val="1565C0"/>
          </a:solidFill>
          <a:ln w="12700">
            <a:solidFill>
              <a:srgbClr val="1565C0"/>
            </a:solidFill>
            <a:prstDash val="solid"/>
          </a:ln>
        </p:spPr>
      </p:sp>
      <p:sp>
        <p:nvSpPr>
          <p:cNvPr id="14" name="Text 12"/>
          <p:cNvSpPr/>
          <p:nvPr/>
        </p:nvSpPr>
        <p:spPr>
          <a:xfrm>
            <a:off x="365760" y="3383280"/>
            <a:ext cx="50292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5" name="Text 13"/>
          <p:cNvSpPr/>
          <p:nvPr/>
        </p:nvSpPr>
        <p:spPr>
          <a:xfrm>
            <a:off x="1005840" y="3255264"/>
            <a:ext cx="7680960" cy="685800"/>
          </a:xfrm>
          <a:prstGeom prst="rect">
            <a:avLst/>
          </a:prstGeom>
          <a:noFill/>
          <a:ln/>
        </p:spPr>
        <p:txBody>
          <a:bodyPr wrap="square" rtlCol="0" anchor="ctr"/>
          <a:lstStyle/>
          <a:p>
            <a:pPr indent="0" marL="0">
              <a:buNone/>
            </a:pPr>
            <a:r>
              <a:rPr lang="en-US" sz="1300" b="1" dirty="0">
                <a:solidFill>
                  <a:srgbClr val="1565C0"/>
                </a:solidFill>
              </a:rPr>
              <a:t>Right-Hand Rule: </a:t>
            </a:r>
            <a:pPr indent="0" marL="0">
              <a:buNone/>
            </a:pPr>
            <a:r>
              <a:rPr lang="en-US" sz="1300" dirty="0">
                <a:solidFill>
                  <a:srgbClr val="212121"/>
                </a:solidFill>
              </a:rPr>
              <a:t>Curl fingers in direction of induced current; thumb points in direction of induced B-field.</a:t>
            </a:r>
            <a:endParaRPr lang="en-US" sz="1300" dirty="0"/>
          </a:p>
        </p:txBody>
      </p:sp>
      <p:sp>
        <p:nvSpPr>
          <p:cNvPr id="16" name="Shape 14"/>
          <p:cNvSpPr/>
          <p:nvPr/>
        </p:nvSpPr>
        <p:spPr>
          <a:xfrm>
            <a:off x="365760" y="4187952"/>
            <a:ext cx="502920" cy="502920"/>
          </a:xfrm>
          <a:prstGeom prst="ellipse">
            <a:avLst/>
          </a:prstGeom>
          <a:solidFill>
            <a:srgbClr val="1565C0"/>
          </a:solidFill>
          <a:ln w="12700">
            <a:solidFill>
              <a:srgbClr val="1565C0"/>
            </a:solidFill>
            <a:prstDash val="solid"/>
          </a:ln>
        </p:spPr>
      </p:sp>
      <p:sp>
        <p:nvSpPr>
          <p:cNvPr id="17" name="Text 15"/>
          <p:cNvSpPr/>
          <p:nvPr/>
        </p:nvSpPr>
        <p:spPr>
          <a:xfrm>
            <a:off x="365760" y="4187952"/>
            <a:ext cx="50292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8" name="Text 16"/>
          <p:cNvSpPr/>
          <p:nvPr/>
        </p:nvSpPr>
        <p:spPr>
          <a:xfrm>
            <a:off x="1005840" y="4059936"/>
            <a:ext cx="7680960" cy="685800"/>
          </a:xfrm>
          <a:prstGeom prst="rect">
            <a:avLst/>
          </a:prstGeom>
          <a:noFill/>
          <a:ln/>
        </p:spPr>
        <p:txBody>
          <a:bodyPr wrap="square" rtlCol="0" anchor="ctr"/>
          <a:lstStyle/>
          <a:p>
            <a:pPr indent="0" marL="0">
              <a:buNone/>
            </a:pPr>
            <a:r>
              <a:rPr lang="en-US" sz="1300" b="1" dirty="0">
                <a:solidFill>
                  <a:srgbClr val="1565C0"/>
                </a:solidFill>
              </a:rPr>
              <a:t>Sign in formula: </a:t>
            </a:r>
            <a:pPr indent="0" marL="0">
              <a:buNone/>
            </a:pPr>
            <a:r>
              <a:rPr lang="en-US" sz="1300" dirty="0">
                <a:solidFill>
                  <a:srgbClr val="212121"/>
                </a:solidFill>
              </a:rPr>
              <a:t>The minus sign in ε = −N(dΦ/dt) mathematically represents Lenz's Law.</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Motional EMF &amp; Eddy Currents</a:t>
            </a:r>
            <a:endParaRPr lang="en-US" sz="2400" dirty="0"/>
          </a:p>
        </p:txBody>
      </p:sp>
      <p:sp>
        <p:nvSpPr>
          <p:cNvPr id="6" name="Shape 4"/>
          <p:cNvSpPr/>
          <p:nvPr/>
        </p:nvSpPr>
        <p:spPr>
          <a:xfrm>
            <a:off x="365760" y="822960"/>
            <a:ext cx="4023360" cy="1965960"/>
          </a:xfrm>
          <a:prstGeom prst="rect">
            <a:avLst/>
          </a:prstGeom>
          <a:solidFill>
            <a:srgbClr val="E3F2FD"/>
          </a:solidFill>
          <a:ln w="12700">
            <a:solidFill>
              <a:srgbClr val="1565C0"/>
            </a:solidFill>
            <a:prstDash val="solid"/>
          </a:ln>
        </p:spPr>
      </p:sp>
      <p:sp>
        <p:nvSpPr>
          <p:cNvPr id="7" name="Text 5"/>
          <p:cNvSpPr/>
          <p:nvPr/>
        </p:nvSpPr>
        <p:spPr>
          <a:xfrm>
            <a:off x="457200" y="868680"/>
            <a:ext cx="3840480" cy="365760"/>
          </a:xfrm>
          <a:prstGeom prst="rect">
            <a:avLst/>
          </a:prstGeom>
          <a:noFill/>
          <a:ln/>
        </p:spPr>
        <p:txBody>
          <a:bodyPr wrap="square" rtlCol="0" anchor="ctr"/>
          <a:lstStyle/>
          <a:p>
            <a:pPr indent="0" marL="0">
              <a:buNone/>
            </a:pPr>
            <a:r>
              <a:rPr lang="en-US" sz="1500" b="1" dirty="0">
                <a:solidFill>
                  <a:srgbClr val="1565C0"/>
                </a:solidFill>
              </a:rPr>
              <a:t>Motional EMF</a:t>
            </a:r>
            <a:endParaRPr lang="en-US" sz="1500" dirty="0"/>
          </a:p>
        </p:txBody>
      </p:sp>
      <p:sp>
        <p:nvSpPr>
          <p:cNvPr id="8" name="Text 6"/>
          <p:cNvSpPr/>
          <p:nvPr/>
        </p:nvSpPr>
        <p:spPr>
          <a:xfrm>
            <a:off x="502920" y="1261872"/>
            <a:ext cx="3749040" cy="640080"/>
          </a:xfrm>
          <a:prstGeom prst="rect">
            <a:avLst/>
          </a:prstGeom>
          <a:noFill/>
          <a:ln/>
        </p:spPr>
        <p:txBody>
          <a:bodyPr wrap="square" rtlCol="0" anchor="ctr"/>
          <a:lstStyle/>
          <a:p>
            <a:pPr indent="0" marL="0">
              <a:buNone/>
            </a:pPr>
            <a:r>
              <a:rPr lang="en-US" sz="1300" dirty="0">
                <a:solidFill>
                  <a:srgbClr val="212121"/>
                </a:solidFill>
              </a:rPr>
              <a:t>When a conductor of length L moves with velocity v perpendicular to field B:
</a:t>
            </a:r>
            <a:endParaRPr lang="en-US" sz="1300" dirty="0"/>
          </a:p>
        </p:txBody>
      </p:sp>
      <p:sp>
        <p:nvSpPr>
          <p:cNvPr id="9" name="Shape 7"/>
          <p:cNvSpPr/>
          <p:nvPr/>
        </p:nvSpPr>
        <p:spPr>
          <a:xfrm>
            <a:off x="502920" y="1874520"/>
            <a:ext cx="1920240" cy="685800"/>
          </a:xfrm>
          <a:prstGeom prst="rect">
            <a:avLst/>
          </a:prstGeom>
          <a:solidFill>
            <a:srgbClr val="E3F2FD"/>
          </a:solidFill>
          <a:ln w="19050">
            <a:solidFill>
              <a:srgbClr val="1565C0"/>
            </a:solidFill>
            <a:prstDash val="solid"/>
          </a:ln>
        </p:spPr>
      </p:sp>
      <p:sp>
        <p:nvSpPr>
          <p:cNvPr id="10" name="Text 8"/>
          <p:cNvSpPr/>
          <p:nvPr/>
        </p:nvSpPr>
        <p:spPr>
          <a:xfrm>
            <a:off x="594360" y="1920240"/>
            <a:ext cx="1737360" cy="594360"/>
          </a:xfrm>
          <a:prstGeom prst="rect">
            <a:avLst/>
          </a:prstGeom>
          <a:noFill/>
          <a:ln/>
        </p:spPr>
        <p:txBody>
          <a:bodyPr wrap="square" rtlCol="0" anchor="ctr"/>
          <a:lstStyle/>
          <a:p>
            <a:pPr algn="ctr" indent="0" marL="0">
              <a:buNone/>
            </a:pPr>
            <a:r>
              <a:rPr lang="en-US" sz="1500" b="1" dirty="0">
                <a:solidFill>
                  <a:srgbClr val="0D47A1"/>
                </a:solidFill>
              </a:rPr>
              <a:t>ε = BLv</a:t>
            </a:r>
            <a:endParaRPr lang="en-US" sz="1500" dirty="0"/>
          </a:p>
          <a:p>
            <a:pPr algn="ctr" indent="0" marL="0">
              <a:buNone/>
            </a:pPr>
            <a:r>
              <a:rPr lang="en-US" sz="1100" dirty="0">
                <a:solidFill>
                  <a:srgbClr val="546E7A"/>
                </a:solidFill>
              </a:rPr>
              <a:t>B ⊥ v ⊥ L</a:t>
            </a:r>
            <a:endParaRPr lang="en-US" sz="1500" dirty="0"/>
          </a:p>
        </p:txBody>
      </p:sp>
      <p:sp>
        <p:nvSpPr>
          <p:cNvPr id="11" name="Shape 9"/>
          <p:cNvSpPr/>
          <p:nvPr/>
        </p:nvSpPr>
        <p:spPr>
          <a:xfrm>
            <a:off x="2606040" y="1874520"/>
            <a:ext cx="1920240" cy="685800"/>
          </a:xfrm>
          <a:prstGeom prst="rect">
            <a:avLst/>
          </a:prstGeom>
          <a:solidFill>
            <a:srgbClr val="E3F2FD"/>
          </a:solidFill>
          <a:ln w="19050">
            <a:solidFill>
              <a:srgbClr val="1565C0"/>
            </a:solidFill>
            <a:prstDash val="solid"/>
          </a:ln>
        </p:spPr>
      </p:sp>
      <p:sp>
        <p:nvSpPr>
          <p:cNvPr id="12" name="Text 10"/>
          <p:cNvSpPr/>
          <p:nvPr/>
        </p:nvSpPr>
        <p:spPr>
          <a:xfrm>
            <a:off x="2697480" y="1920240"/>
            <a:ext cx="1737360" cy="594360"/>
          </a:xfrm>
          <a:prstGeom prst="rect">
            <a:avLst/>
          </a:prstGeom>
          <a:noFill/>
          <a:ln/>
        </p:spPr>
        <p:txBody>
          <a:bodyPr wrap="square" rtlCol="0" anchor="ctr"/>
          <a:lstStyle/>
          <a:p>
            <a:pPr algn="ctr" indent="0" marL="0">
              <a:buNone/>
            </a:pPr>
            <a:r>
              <a:rPr lang="en-US" sz="1500" b="1" dirty="0">
                <a:solidFill>
                  <a:srgbClr val="0D47A1"/>
                </a:solidFill>
              </a:rPr>
              <a:t>ε = BLv sin θ</a:t>
            </a:r>
            <a:endParaRPr lang="en-US" sz="1500" dirty="0"/>
          </a:p>
          <a:p>
            <a:pPr algn="ctr" indent="0" marL="0">
              <a:buNone/>
            </a:pPr>
            <a:r>
              <a:rPr lang="en-US" sz="1100" dirty="0">
                <a:solidFill>
                  <a:srgbClr val="546E7A"/>
                </a:solidFill>
              </a:rPr>
              <a:t>General case (angle θ)</a:t>
            </a:r>
            <a:endParaRPr lang="en-US" sz="1500" dirty="0"/>
          </a:p>
        </p:txBody>
      </p:sp>
      <p:sp>
        <p:nvSpPr>
          <p:cNvPr id="13" name="Shape 11"/>
          <p:cNvSpPr/>
          <p:nvPr/>
        </p:nvSpPr>
        <p:spPr>
          <a:xfrm>
            <a:off x="4709160" y="822960"/>
            <a:ext cx="4023360" cy="1965960"/>
          </a:xfrm>
          <a:prstGeom prst="rect">
            <a:avLst/>
          </a:prstGeom>
          <a:solidFill>
            <a:srgbClr val="FFF8E1"/>
          </a:solidFill>
          <a:ln w="12700">
            <a:solidFill>
              <a:srgbClr val="F9A825"/>
            </a:solidFill>
            <a:prstDash val="solid"/>
          </a:ln>
        </p:spPr>
      </p:sp>
      <p:sp>
        <p:nvSpPr>
          <p:cNvPr id="14" name="Text 12"/>
          <p:cNvSpPr/>
          <p:nvPr/>
        </p:nvSpPr>
        <p:spPr>
          <a:xfrm>
            <a:off x="4800600" y="868680"/>
            <a:ext cx="3840480" cy="365760"/>
          </a:xfrm>
          <a:prstGeom prst="rect">
            <a:avLst/>
          </a:prstGeom>
          <a:noFill/>
          <a:ln/>
        </p:spPr>
        <p:txBody>
          <a:bodyPr wrap="square" rtlCol="0" anchor="ctr"/>
          <a:lstStyle/>
          <a:p>
            <a:pPr indent="0" marL="0">
              <a:buNone/>
            </a:pPr>
            <a:r>
              <a:rPr lang="en-US" sz="1500" b="1" dirty="0">
                <a:solidFill>
                  <a:srgbClr val="0D1B3E"/>
                </a:solidFill>
              </a:rPr>
              <a:t>Eddy Currents</a:t>
            </a:r>
            <a:endParaRPr lang="en-US" sz="1500" dirty="0"/>
          </a:p>
        </p:txBody>
      </p:sp>
      <p:sp>
        <p:nvSpPr>
          <p:cNvPr id="15" name="Text 13"/>
          <p:cNvSpPr/>
          <p:nvPr/>
        </p:nvSpPr>
        <p:spPr>
          <a:xfrm>
            <a:off x="4846320" y="1261872"/>
            <a:ext cx="3749040" cy="1463040"/>
          </a:xfrm>
          <a:prstGeom prst="rect">
            <a:avLst/>
          </a:prstGeom>
          <a:noFill/>
          <a:ln/>
        </p:spPr>
        <p:txBody>
          <a:bodyPr wrap="square" rtlCol="0" anchor="ctr"/>
          <a:lstStyle/>
          <a:p>
            <a:pPr indent="0" marL="0">
              <a:buNone/>
            </a:pPr>
            <a:r>
              <a:rPr lang="en-US" sz="1200" dirty="0">
                <a:solidFill>
                  <a:srgbClr val="212121"/>
                </a:solidFill>
              </a:rPr>
              <a:t>• Induced in bulk conductors in changing B-fields
</a:t>
            </a:r>
            <a:endParaRPr lang="en-US" sz="1200" dirty="0"/>
          </a:p>
          <a:p>
            <a:pPr indent="0" marL="0">
              <a:buNone/>
            </a:pPr>
            <a:r>
              <a:rPr lang="en-US" sz="1200" dirty="0">
                <a:solidFill>
                  <a:srgbClr val="212121"/>
                </a:solidFill>
              </a:rPr>
              <a:t>• Cause energy loss as heat (I²R)
</a:t>
            </a:r>
            <a:endParaRPr lang="en-US" sz="1200" dirty="0"/>
          </a:p>
          <a:p>
            <a:pPr indent="0" marL="0">
              <a:buNone/>
            </a:pPr>
            <a:r>
              <a:rPr lang="en-US" sz="1200" dirty="0">
                <a:solidFill>
                  <a:srgbClr val="212121"/>
                </a:solidFill>
              </a:rPr>
              <a:t>• Minimised by using laminated cores
</a:t>
            </a:r>
            <a:endParaRPr lang="en-US" sz="1200" dirty="0"/>
          </a:p>
          <a:p>
            <a:pPr indent="0" marL="0">
              <a:buNone/>
            </a:pPr>
            <a:r>
              <a:rPr lang="en-US" sz="1200" dirty="0">
                <a:solidFill>
                  <a:srgbClr val="212121"/>
                </a:solidFill>
              </a:rPr>
              <a:t>• Applications: magnetic braking, induction heating, metal detectors</a:t>
            </a:r>
            <a:endParaRPr lang="en-US" sz="1200" dirty="0"/>
          </a:p>
        </p:txBody>
      </p:sp>
      <p:sp>
        <p:nvSpPr>
          <p:cNvPr id="16" name="Shape 14"/>
          <p:cNvSpPr/>
          <p:nvPr/>
        </p:nvSpPr>
        <p:spPr>
          <a:xfrm>
            <a:off x="365760" y="2926080"/>
            <a:ext cx="8366760" cy="1965960"/>
          </a:xfrm>
          <a:prstGeom prst="rect">
            <a:avLst/>
          </a:prstGeom>
          <a:solidFill>
            <a:srgbClr val="F3E5F5"/>
          </a:solidFill>
          <a:ln w="12700">
            <a:solidFill>
              <a:srgbClr val="7B1FA2"/>
            </a:solidFill>
            <a:prstDash val="solid"/>
          </a:ln>
        </p:spPr>
      </p:sp>
      <p:sp>
        <p:nvSpPr>
          <p:cNvPr id="17" name="Text 15"/>
          <p:cNvSpPr/>
          <p:nvPr/>
        </p:nvSpPr>
        <p:spPr>
          <a:xfrm>
            <a:off x="548640" y="2999232"/>
            <a:ext cx="4572000" cy="320040"/>
          </a:xfrm>
          <a:prstGeom prst="rect">
            <a:avLst/>
          </a:prstGeom>
          <a:noFill/>
          <a:ln/>
        </p:spPr>
        <p:txBody>
          <a:bodyPr wrap="square" rtlCol="0" anchor="ctr"/>
          <a:lstStyle/>
          <a:p>
            <a:pPr indent="0" marL="0">
              <a:buNone/>
            </a:pPr>
            <a:r>
              <a:rPr lang="en-US" sz="1300" b="1" dirty="0">
                <a:solidFill>
                  <a:srgbClr val="7B1FA2"/>
                </a:solidFill>
              </a:rPr>
              <a:t>Applications of Motional EMF:</a:t>
            </a:r>
            <a:endParaRPr lang="en-US" sz="1300" dirty="0"/>
          </a:p>
        </p:txBody>
      </p:sp>
      <p:sp>
        <p:nvSpPr>
          <p:cNvPr id="18" name="Text 16"/>
          <p:cNvSpPr/>
          <p:nvPr/>
        </p:nvSpPr>
        <p:spPr>
          <a:xfrm>
            <a:off x="594360" y="3337560"/>
            <a:ext cx="7955280" cy="1417320"/>
          </a:xfrm>
          <a:prstGeom prst="rect">
            <a:avLst/>
          </a:prstGeom>
          <a:noFill/>
          <a:ln/>
        </p:spPr>
        <p:txBody>
          <a:bodyPr wrap="square" rtlCol="0" anchor="ctr"/>
          <a:lstStyle/>
          <a:p>
            <a:pPr indent="0" marL="0">
              <a:buNone/>
            </a:pPr>
            <a:r>
              <a:rPr lang="en-US" sz="1300" dirty="0">
                <a:solidFill>
                  <a:srgbClr val="212121"/>
                </a:solidFill>
              </a:rPr>
              <a:t>• Electric generators convert mechanical energy → electrical energy using motional EMF
</a:t>
            </a:r>
            <a:endParaRPr lang="en-US" sz="1300" dirty="0"/>
          </a:p>
          <a:p>
            <a:pPr indent="0" marL="0">
              <a:buNone/>
            </a:pPr>
            <a:r>
              <a:rPr lang="en-US" sz="1300" dirty="0">
                <a:solidFill>
                  <a:srgbClr val="212121"/>
                </a:solidFill>
              </a:rPr>
              <a:t>• Search coils (flux meters) measure magnetic fields
</a:t>
            </a:r>
            <a:endParaRPr lang="en-US" sz="1300" dirty="0"/>
          </a:p>
          <a:p>
            <a:pPr indent="0" marL="0">
              <a:buNone/>
            </a:pPr>
            <a:r>
              <a:rPr lang="en-US" sz="1300" dirty="0">
                <a:solidFill>
                  <a:srgbClr val="212121"/>
                </a:solidFill>
              </a:rPr>
              <a:t>• Railgun technology uses the F = BIL force in reverse of motional EMF principle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Self-Inductance &amp; Mutual Inductance</a:t>
            </a:r>
            <a:endParaRPr lang="en-US" sz="2400" dirty="0"/>
          </a:p>
        </p:txBody>
      </p:sp>
      <p:sp>
        <p:nvSpPr>
          <p:cNvPr id="6" name="Text 4"/>
          <p:cNvSpPr/>
          <p:nvPr/>
        </p:nvSpPr>
        <p:spPr>
          <a:xfrm>
            <a:off x="457200" y="914400"/>
            <a:ext cx="3931920" cy="365760"/>
          </a:xfrm>
          <a:prstGeom prst="rect">
            <a:avLst/>
          </a:prstGeom>
          <a:noFill/>
          <a:ln/>
        </p:spPr>
        <p:txBody>
          <a:bodyPr wrap="square" rtlCol="0" anchor="ctr"/>
          <a:lstStyle/>
          <a:p>
            <a:pPr indent="0" marL="0">
              <a:buNone/>
            </a:pPr>
            <a:r>
              <a:rPr lang="en-US" sz="1600" b="1" dirty="0">
                <a:solidFill>
                  <a:srgbClr val="1565C0"/>
                </a:solidFill>
              </a:rPr>
              <a:t>Self-Inductance (L)</a:t>
            </a:r>
            <a:endParaRPr lang="en-US" sz="1600" dirty="0"/>
          </a:p>
        </p:txBody>
      </p:sp>
      <p:sp>
        <p:nvSpPr>
          <p:cNvPr id="7" name="Text 5"/>
          <p:cNvSpPr/>
          <p:nvPr/>
        </p:nvSpPr>
        <p:spPr>
          <a:xfrm>
            <a:off x="457200" y="1298448"/>
            <a:ext cx="3931920" cy="502920"/>
          </a:xfrm>
          <a:prstGeom prst="rect">
            <a:avLst/>
          </a:prstGeom>
          <a:noFill/>
          <a:ln/>
        </p:spPr>
        <p:txBody>
          <a:bodyPr wrap="square" rtlCol="0" anchor="ctr"/>
          <a:lstStyle/>
          <a:p>
            <a:pPr indent="0" marL="0">
              <a:buNone/>
            </a:pPr>
            <a:r>
              <a:rPr lang="en-US" sz="1300" dirty="0">
                <a:solidFill>
                  <a:srgbClr val="212121"/>
                </a:solidFill>
              </a:rPr>
              <a:t>A coil opposes any change in current through it by inducing a back-EMF.</a:t>
            </a:r>
            <a:endParaRPr lang="en-US" sz="1300" dirty="0"/>
          </a:p>
        </p:txBody>
      </p:sp>
      <p:sp>
        <p:nvSpPr>
          <p:cNvPr id="8" name="Shape 6"/>
          <p:cNvSpPr/>
          <p:nvPr/>
        </p:nvSpPr>
        <p:spPr>
          <a:xfrm>
            <a:off x="457200" y="1828800"/>
            <a:ext cx="1828800" cy="777240"/>
          </a:xfrm>
          <a:prstGeom prst="rect">
            <a:avLst/>
          </a:prstGeom>
          <a:solidFill>
            <a:srgbClr val="E3F2FD"/>
          </a:solidFill>
          <a:ln w="19050">
            <a:solidFill>
              <a:srgbClr val="1565C0"/>
            </a:solidFill>
            <a:prstDash val="solid"/>
          </a:ln>
        </p:spPr>
      </p:sp>
      <p:sp>
        <p:nvSpPr>
          <p:cNvPr id="9" name="Text 7"/>
          <p:cNvSpPr/>
          <p:nvPr/>
        </p:nvSpPr>
        <p:spPr>
          <a:xfrm>
            <a:off x="548640" y="1874520"/>
            <a:ext cx="1645920" cy="685800"/>
          </a:xfrm>
          <a:prstGeom prst="rect">
            <a:avLst/>
          </a:prstGeom>
          <a:noFill/>
          <a:ln/>
        </p:spPr>
        <p:txBody>
          <a:bodyPr wrap="square" rtlCol="0" anchor="ctr"/>
          <a:lstStyle/>
          <a:p>
            <a:pPr algn="ctr" indent="0" marL="0">
              <a:buNone/>
            </a:pPr>
            <a:r>
              <a:rPr lang="en-US" sz="1500" b="1" dirty="0">
                <a:solidFill>
                  <a:srgbClr val="0D47A1"/>
                </a:solidFill>
              </a:rPr>
              <a:t>L = NΦ / I</a:t>
            </a:r>
            <a:endParaRPr lang="en-US" sz="1500" dirty="0"/>
          </a:p>
          <a:p>
            <a:pPr algn="ctr" indent="0" marL="0">
              <a:buNone/>
            </a:pPr>
            <a:r>
              <a:rPr lang="en-US" sz="1100" dirty="0">
                <a:solidFill>
                  <a:srgbClr val="546E7A"/>
                </a:solidFill>
              </a:rPr>
              <a:t>Inductance (Henry, H)</a:t>
            </a:r>
            <a:endParaRPr lang="en-US" sz="1500" dirty="0"/>
          </a:p>
        </p:txBody>
      </p:sp>
      <p:sp>
        <p:nvSpPr>
          <p:cNvPr id="10" name="Shape 8"/>
          <p:cNvSpPr/>
          <p:nvPr/>
        </p:nvSpPr>
        <p:spPr>
          <a:xfrm>
            <a:off x="2423160" y="1828800"/>
            <a:ext cx="1828800" cy="777240"/>
          </a:xfrm>
          <a:prstGeom prst="rect">
            <a:avLst/>
          </a:prstGeom>
          <a:solidFill>
            <a:srgbClr val="E3F2FD"/>
          </a:solidFill>
          <a:ln w="19050">
            <a:solidFill>
              <a:srgbClr val="1565C0"/>
            </a:solidFill>
            <a:prstDash val="solid"/>
          </a:ln>
        </p:spPr>
      </p:sp>
      <p:sp>
        <p:nvSpPr>
          <p:cNvPr id="11" name="Text 9"/>
          <p:cNvSpPr/>
          <p:nvPr/>
        </p:nvSpPr>
        <p:spPr>
          <a:xfrm>
            <a:off x="2514600" y="1874520"/>
            <a:ext cx="1645920" cy="685800"/>
          </a:xfrm>
          <a:prstGeom prst="rect">
            <a:avLst/>
          </a:prstGeom>
          <a:noFill/>
          <a:ln/>
        </p:spPr>
        <p:txBody>
          <a:bodyPr wrap="square" rtlCol="0" anchor="ctr"/>
          <a:lstStyle/>
          <a:p>
            <a:pPr algn="ctr" indent="0" marL="0">
              <a:buNone/>
            </a:pPr>
            <a:r>
              <a:rPr lang="en-US" sz="1500" b="1" dirty="0">
                <a:solidFill>
                  <a:srgbClr val="0D47A1"/>
                </a:solidFill>
              </a:rPr>
              <a:t>ε = −L (dI/dt)</a:t>
            </a:r>
            <a:endParaRPr lang="en-US" sz="1500" dirty="0"/>
          </a:p>
          <a:p>
            <a:pPr algn="ctr" indent="0" marL="0">
              <a:buNone/>
            </a:pPr>
            <a:r>
              <a:rPr lang="en-US" sz="1100" dirty="0">
                <a:solidFill>
                  <a:srgbClr val="546E7A"/>
                </a:solidFill>
              </a:rPr>
              <a:t>Back-EMF</a:t>
            </a:r>
            <a:endParaRPr lang="en-US" sz="1500" dirty="0"/>
          </a:p>
        </p:txBody>
      </p:sp>
      <p:sp>
        <p:nvSpPr>
          <p:cNvPr id="12" name="Shape 10"/>
          <p:cNvSpPr/>
          <p:nvPr/>
        </p:nvSpPr>
        <p:spPr>
          <a:xfrm>
            <a:off x="457200" y="2724912"/>
            <a:ext cx="3794760" cy="777240"/>
          </a:xfrm>
          <a:prstGeom prst="rect">
            <a:avLst/>
          </a:prstGeom>
          <a:solidFill>
            <a:srgbClr val="E3F2FD"/>
          </a:solidFill>
          <a:ln w="19050">
            <a:solidFill>
              <a:srgbClr val="1565C0"/>
            </a:solidFill>
            <a:prstDash val="solid"/>
          </a:ln>
        </p:spPr>
      </p:sp>
      <p:sp>
        <p:nvSpPr>
          <p:cNvPr id="13" name="Text 11"/>
          <p:cNvSpPr/>
          <p:nvPr/>
        </p:nvSpPr>
        <p:spPr>
          <a:xfrm>
            <a:off x="548640" y="2770632"/>
            <a:ext cx="3611880" cy="685800"/>
          </a:xfrm>
          <a:prstGeom prst="rect">
            <a:avLst/>
          </a:prstGeom>
          <a:noFill/>
          <a:ln/>
        </p:spPr>
        <p:txBody>
          <a:bodyPr wrap="square" rtlCol="0" anchor="ctr"/>
          <a:lstStyle/>
          <a:p>
            <a:pPr algn="ctr" indent="0" marL="0">
              <a:buNone/>
            </a:pPr>
            <a:r>
              <a:rPr lang="en-US" sz="1500" b="1" dirty="0">
                <a:solidFill>
                  <a:srgbClr val="0D47A1"/>
                </a:solidFill>
              </a:rPr>
              <a:t>L = μ₀μᵣN²A / l</a:t>
            </a:r>
            <a:endParaRPr lang="en-US" sz="1500" dirty="0"/>
          </a:p>
          <a:p>
            <a:pPr algn="ctr" indent="0" marL="0">
              <a:buNone/>
            </a:pPr>
            <a:r>
              <a:rPr lang="en-US" sz="1100" dirty="0">
                <a:solidFill>
                  <a:srgbClr val="546E7A"/>
                </a:solidFill>
              </a:rPr>
              <a:t>For solenoid</a:t>
            </a:r>
            <a:endParaRPr lang="en-US" sz="1500" dirty="0"/>
          </a:p>
        </p:txBody>
      </p:sp>
      <p:sp>
        <p:nvSpPr>
          <p:cNvPr id="14" name="Shape 12"/>
          <p:cNvSpPr/>
          <p:nvPr/>
        </p:nvSpPr>
        <p:spPr>
          <a:xfrm>
            <a:off x="4617720" y="822960"/>
            <a:ext cx="0" cy="4023360"/>
          </a:xfrm>
          <a:prstGeom prst="line">
            <a:avLst/>
          </a:prstGeom>
          <a:noFill/>
          <a:ln w="19050">
            <a:solidFill>
              <a:srgbClr val="00BCD4"/>
            </a:solidFill>
            <a:prstDash val="solid"/>
          </a:ln>
        </p:spPr>
      </p:sp>
      <p:sp>
        <p:nvSpPr>
          <p:cNvPr id="15" name="Text 13"/>
          <p:cNvSpPr/>
          <p:nvPr/>
        </p:nvSpPr>
        <p:spPr>
          <a:xfrm>
            <a:off x="4800600" y="914400"/>
            <a:ext cx="3931920" cy="365760"/>
          </a:xfrm>
          <a:prstGeom prst="rect">
            <a:avLst/>
          </a:prstGeom>
          <a:noFill/>
          <a:ln/>
        </p:spPr>
        <p:txBody>
          <a:bodyPr wrap="square" rtlCol="0" anchor="ctr"/>
          <a:lstStyle/>
          <a:p>
            <a:pPr indent="0" marL="0">
              <a:buNone/>
            </a:pPr>
            <a:r>
              <a:rPr lang="en-US" sz="1600" b="1" dirty="0">
                <a:solidFill>
                  <a:srgbClr val="7B1FA2"/>
                </a:solidFill>
              </a:rPr>
              <a:t>Mutual Inductance (M)</a:t>
            </a:r>
            <a:endParaRPr lang="en-US" sz="1600" dirty="0"/>
          </a:p>
        </p:txBody>
      </p:sp>
      <p:sp>
        <p:nvSpPr>
          <p:cNvPr id="16" name="Text 14"/>
          <p:cNvSpPr/>
          <p:nvPr/>
        </p:nvSpPr>
        <p:spPr>
          <a:xfrm>
            <a:off x="4800600" y="1298448"/>
            <a:ext cx="3931920" cy="502920"/>
          </a:xfrm>
          <a:prstGeom prst="rect">
            <a:avLst/>
          </a:prstGeom>
          <a:noFill/>
          <a:ln/>
        </p:spPr>
        <p:txBody>
          <a:bodyPr wrap="square" rtlCol="0" anchor="ctr"/>
          <a:lstStyle/>
          <a:p>
            <a:pPr indent="0" marL="0">
              <a:buNone/>
            </a:pPr>
            <a:r>
              <a:rPr lang="en-US" sz="1300" dirty="0">
                <a:solidFill>
                  <a:srgbClr val="212121"/>
                </a:solidFill>
              </a:rPr>
              <a:t>EMF induced in one coil due to changing current in a nearby coil.</a:t>
            </a:r>
            <a:endParaRPr lang="en-US" sz="1300" dirty="0"/>
          </a:p>
        </p:txBody>
      </p:sp>
      <p:sp>
        <p:nvSpPr>
          <p:cNvPr id="17" name="Shape 15"/>
          <p:cNvSpPr/>
          <p:nvPr/>
        </p:nvSpPr>
        <p:spPr>
          <a:xfrm>
            <a:off x="4800600" y="1828800"/>
            <a:ext cx="1828800" cy="777240"/>
          </a:xfrm>
          <a:prstGeom prst="rect">
            <a:avLst/>
          </a:prstGeom>
          <a:solidFill>
            <a:srgbClr val="E3F2FD"/>
          </a:solidFill>
          <a:ln w="19050">
            <a:solidFill>
              <a:srgbClr val="1565C0"/>
            </a:solidFill>
            <a:prstDash val="solid"/>
          </a:ln>
        </p:spPr>
      </p:sp>
      <p:sp>
        <p:nvSpPr>
          <p:cNvPr id="18" name="Text 16"/>
          <p:cNvSpPr/>
          <p:nvPr/>
        </p:nvSpPr>
        <p:spPr>
          <a:xfrm>
            <a:off x="4892040" y="1874520"/>
            <a:ext cx="1645920" cy="685800"/>
          </a:xfrm>
          <a:prstGeom prst="rect">
            <a:avLst/>
          </a:prstGeom>
          <a:noFill/>
          <a:ln/>
        </p:spPr>
        <p:txBody>
          <a:bodyPr wrap="square" rtlCol="0" anchor="ctr"/>
          <a:lstStyle/>
          <a:p>
            <a:pPr algn="ctr" indent="0" marL="0">
              <a:buNone/>
            </a:pPr>
            <a:r>
              <a:rPr lang="en-US" sz="1500" b="1" dirty="0">
                <a:solidFill>
                  <a:srgbClr val="0D47A1"/>
                </a:solidFill>
              </a:rPr>
              <a:t>M = N₂Φ₂₁ / I₁</a:t>
            </a:r>
            <a:endParaRPr lang="en-US" sz="1500" dirty="0"/>
          </a:p>
          <a:p>
            <a:pPr algn="ctr" indent="0" marL="0">
              <a:buNone/>
            </a:pPr>
            <a:r>
              <a:rPr lang="en-US" sz="1100" dirty="0">
                <a:solidFill>
                  <a:srgbClr val="546E7A"/>
                </a:solidFill>
              </a:rPr>
              <a:t>Mutual Inductance</a:t>
            </a:r>
            <a:endParaRPr lang="en-US" sz="1500" dirty="0"/>
          </a:p>
        </p:txBody>
      </p:sp>
      <p:sp>
        <p:nvSpPr>
          <p:cNvPr id="19" name="Shape 17"/>
          <p:cNvSpPr/>
          <p:nvPr/>
        </p:nvSpPr>
        <p:spPr>
          <a:xfrm>
            <a:off x="6766560" y="1828800"/>
            <a:ext cx="1828800" cy="777240"/>
          </a:xfrm>
          <a:prstGeom prst="rect">
            <a:avLst/>
          </a:prstGeom>
          <a:solidFill>
            <a:srgbClr val="E3F2FD"/>
          </a:solidFill>
          <a:ln w="19050">
            <a:solidFill>
              <a:srgbClr val="1565C0"/>
            </a:solidFill>
            <a:prstDash val="solid"/>
          </a:ln>
        </p:spPr>
      </p:sp>
      <p:sp>
        <p:nvSpPr>
          <p:cNvPr id="20" name="Text 18"/>
          <p:cNvSpPr/>
          <p:nvPr/>
        </p:nvSpPr>
        <p:spPr>
          <a:xfrm>
            <a:off x="6858000" y="1874520"/>
            <a:ext cx="1645920" cy="685800"/>
          </a:xfrm>
          <a:prstGeom prst="rect">
            <a:avLst/>
          </a:prstGeom>
          <a:noFill/>
          <a:ln/>
        </p:spPr>
        <p:txBody>
          <a:bodyPr wrap="square" rtlCol="0" anchor="ctr"/>
          <a:lstStyle/>
          <a:p>
            <a:pPr algn="ctr" indent="0" marL="0">
              <a:buNone/>
            </a:pPr>
            <a:r>
              <a:rPr lang="en-US" sz="1500" b="1" dirty="0">
                <a:solidFill>
                  <a:srgbClr val="0D47A1"/>
                </a:solidFill>
              </a:rPr>
              <a:t>ε₂ = −M (dI₁/dt)</a:t>
            </a:r>
            <a:endParaRPr lang="en-US" sz="1500" dirty="0"/>
          </a:p>
          <a:p>
            <a:pPr algn="ctr" indent="0" marL="0">
              <a:buNone/>
            </a:pPr>
            <a:r>
              <a:rPr lang="en-US" sz="1100" dirty="0">
                <a:solidFill>
                  <a:srgbClr val="546E7A"/>
                </a:solidFill>
              </a:rPr>
              <a:t>Induced EMF in coil 2</a:t>
            </a:r>
            <a:endParaRPr lang="en-US" sz="1500" dirty="0"/>
          </a:p>
        </p:txBody>
      </p:sp>
      <p:sp>
        <p:nvSpPr>
          <p:cNvPr id="21" name="Shape 19"/>
          <p:cNvSpPr/>
          <p:nvPr/>
        </p:nvSpPr>
        <p:spPr>
          <a:xfrm>
            <a:off x="4800600" y="2724912"/>
            <a:ext cx="3794760" cy="777240"/>
          </a:xfrm>
          <a:prstGeom prst="rect">
            <a:avLst/>
          </a:prstGeom>
          <a:solidFill>
            <a:srgbClr val="E3F2FD"/>
          </a:solidFill>
          <a:ln w="19050">
            <a:solidFill>
              <a:srgbClr val="1565C0"/>
            </a:solidFill>
            <a:prstDash val="solid"/>
          </a:ln>
        </p:spPr>
      </p:sp>
      <p:sp>
        <p:nvSpPr>
          <p:cNvPr id="22" name="Text 20"/>
          <p:cNvSpPr/>
          <p:nvPr/>
        </p:nvSpPr>
        <p:spPr>
          <a:xfrm>
            <a:off x="4892040" y="2770632"/>
            <a:ext cx="3611880" cy="685800"/>
          </a:xfrm>
          <a:prstGeom prst="rect">
            <a:avLst/>
          </a:prstGeom>
          <a:noFill/>
          <a:ln/>
        </p:spPr>
        <p:txBody>
          <a:bodyPr wrap="square" rtlCol="0" anchor="ctr"/>
          <a:lstStyle/>
          <a:p>
            <a:pPr algn="ctr" indent="0" marL="0">
              <a:buNone/>
            </a:pPr>
            <a:r>
              <a:rPr lang="en-US" sz="1500" b="1" dirty="0">
                <a:solidFill>
                  <a:srgbClr val="0D47A1"/>
                </a:solidFill>
              </a:rPr>
              <a:t>M = k√(L₁L₂)</a:t>
            </a:r>
            <a:endParaRPr lang="en-US" sz="1500" dirty="0"/>
          </a:p>
          <a:p>
            <a:pPr algn="ctr" indent="0" marL="0">
              <a:buNone/>
            </a:pPr>
            <a:r>
              <a:rPr lang="en-US" sz="1100" dirty="0">
                <a:solidFill>
                  <a:srgbClr val="546E7A"/>
                </a:solidFill>
              </a:rPr>
              <a:t>Coefficient of coupling</a:t>
            </a:r>
            <a:endParaRPr lang="en-US" sz="1500" dirty="0"/>
          </a:p>
        </p:txBody>
      </p:sp>
      <p:sp>
        <p:nvSpPr>
          <p:cNvPr id="23" name="Shape 21"/>
          <p:cNvSpPr/>
          <p:nvPr/>
        </p:nvSpPr>
        <p:spPr>
          <a:xfrm>
            <a:off x="457200" y="3657600"/>
            <a:ext cx="8229600" cy="1234440"/>
          </a:xfrm>
          <a:prstGeom prst="rect">
            <a:avLst/>
          </a:prstGeom>
          <a:solidFill>
            <a:srgbClr val="E3F2FD"/>
          </a:solidFill>
          <a:ln w="12700">
            <a:solidFill>
              <a:srgbClr val="1565C0"/>
            </a:solidFill>
            <a:prstDash val="solid"/>
          </a:ln>
        </p:spPr>
      </p:sp>
      <p:sp>
        <p:nvSpPr>
          <p:cNvPr id="24" name="Text 22"/>
          <p:cNvSpPr/>
          <p:nvPr/>
        </p:nvSpPr>
        <p:spPr>
          <a:xfrm>
            <a:off x="594360" y="3703320"/>
            <a:ext cx="7955280" cy="1097280"/>
          </a:xfrm>
          <a:prstGeom prst="rect">
            <a:avLst/>
          </a:prstGeom>
          <a:noFill/>
          <a:ln/>
        </p:spPr>
        <p:txBody>
          <a:bodyPr wrap="square" rtlCol="0" anchor="ctr"/>
          <a:lstStyle/>
          <a:p>
            <a:pPr indent="0" marL="0">
              <a:buNone/>
            </a:pPr>
            <a:r>
              <a:rPr lang="en-US" sz="1400" b="1" dirty="0">
                <a:solidFill>
                  <a:srgbClr val="0D1B3E"/>
                </a:solidFill>
              </a:rPr>
              <a:t>Energy stored in an inductor: </a:t>
            </a:r>
            <a:pPr indent="0" marL="0">
              <a:buNone/>
            </a:pPr>
            <a:r>
              <a:rPr lang="en-US" sz="1400" dirty="0">
                <a:solidFill>
                  <a:srgbClr val="212121"/>
                </a:solidFill>
              </a:rPr>
              <a:t>U = ½LI²  (analogous to ½mv² in mechanics)</a:t>
            </a:r>
            <a:pPr indent="0" marL="0">
              <a:buNone/>
            </a:pPr>
            <a:endParaRPr lang="en-US" sz="1400" dirty="0"/>
          </a:p>
          <a:p>
            <a:pPr indent="0" marL="0">
              <a:buNone/>
            </a:pPr>
            <a:r>
              <a:rPr lang="en-US" sz="1200" dirty="0">
                <a:solidFill>
                  <a:srgbClr val="546E7A"/>
                </a:solidFill>
              </a:rPr>
              <a:t>  Unit of Inductance: Henry (H) = Vs/A = Ω·s   |   k = coupling coefficient (0 ≤ k ≤ 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Generation of Alternating Current</a:t>
            </a:r>
            <a:endParaRPr lang="en-US" sz="2400" dirty="0"/>
          </a:p>
        </p:txBody>
      </p:sp>
      <p:sp>
        <p:nvSpPr>
          <p:cNvPr id="6" name="Text 4"/>
          <p:cNvSpPr/>
          <p:nvPr/>
        </p:nvSpPr>
        <p:spPr>
          <a:xfrm>
            <a:off x="457200" y="932688"/>
            <a:ext cx="8229600" cy="438912"/>
          </a:xfrm>
          <a:prstGeom prst="rect">
            <a:avLst/>
          </a:prstGeom>
          <a:noFill/>
          <a:ln/>
        </p:spPr>
        <p:txBody>
          <a:bodyPr wrap="square" rtlCol="0" anchor="ctr"/>
          <a:lstStyle/>
          <a:p>
            <a:pPr indent="0" marL="0">
              <a:buNone/>
            </a:pPr>
            <a:r>
              <a:rPr lang="en-US" sz="1400" dirty="0">
                <a:solidFill>
                  <a:srgbClr val="212121"/>
                </a:solidFill>
              </a:rPr>
              <a:t>An AC generator (alternator) converts mechanical energy into electrical energy using electromagnetic induction.</a:t>
            </a:r>
            <a:endParaRPr lang="en-US" sz="1400" dirty="0"/>
          </a:p>
        </p:txBody>
      </p:sp>
      <p:sp>
        <p:nvSpPr>
          <p:cNvPr id="7" name="Shape 5"/>
          <p:cNvSpPr/>
          <p:nvPr/>
        </p:nvSpPr>
        <p:spPr>
          <a:xfrm>
            <a:off x="365760" y="1481328"/>
            <a:ext cx="8412480" cy="594360"/>
          </a:xfrm>
          <a:prstGeom prst="rect">
            <a:avLst/>
          </a:prstGeom>
          <a:solidFill>
            <a:srgbClr val="E3F2FD"/>
          </a:solidFill>
          <a:ln w="6350">
            <a:solidFill>
              <a:srgbClr val="E0E0E0"/>
            </a:solidFill>
            <a:prstDash val="solid"/>
          </a:ln>
        </p:spPr>
      </p:sp>
      <p:sp>
        <p:nvSpPr>
          <p:cNvPr id="8" name="Text 6"/>
          <p:cNvSpPr/>
          <p:nvPr/>
        </p:nvSpPr>
        <p:spPr>
          <a:xfrm>
            <a:off x="457200" y="1527048"/>
            <a:ext cx="45720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9" name="Text 7"/>
          <p:cNvSpPr/>
          <p:nvPr/>
        </p:nvSpPr>
        <p:spPr>
          <a:xfrm>
            <a:off x="1005840" y="1481328"/>
            <a:ext cx="7589520" cy="594360"/>
          </a:xfrm>
          <a:prstGeom prst="rect">
            <a:avLst/>
          </a:prstGeom>
          <a:noFill/>
          <a:ln/>
        </p:spPr>
        <p:txBody>
          <a:bodyPr wrap="square" rtlCol="0" anchor="ctr"/>
          <a:lstStyle/>
          <a:p>
            <a:pPr indent="0" marL="0">
              <a:buNone/>
            </a:pPr>
            <a:r>
              <a:rPr lang="en-US" sz="1300" b="1" dirty="0">
                <a:solidFill>
                  <a:srgbClr val="1565C0"/>
                </a:solidFill>
              </a:rPr>
              <a:t>Armature Coil: </a:t>
            </a:r>
            <a:pPr indent="0" marL="0">
              <a:buNone/>
            </a:pPr>
            <a:r>
              <a:rPr lang="en-US" sz="1300" dirty="0">
                <a:solidFill>
                  <a:srgbClr val="212121"/>
                </a:solidFill>
              </a:rPr>
              <a:t>Rectangular coil (ABCD) that rotates in the magnetic field.</a:t>
            </a:r>
            <a:endParaRPr lang="en-US" sz="1300" dirty="0"/>
          </a:p>
        </p:txBody>
      </p:sp>
      <p:sp>
        <p:nvSpPr>
          <p:cNvPr id="10" name="Shape 8"/>
          <p:cNvSpPr/>
          <p:nvPr/>
        </p:nvSpPr>
        <p:spPr>
          <a:xfrm>
            <a:off x="365760" y="2157984"/>
            <a:ext cx="8412480" cy="594360"/>
          </a:xfrm>
          <a:prstGeom prst="rect">
            <a:avLst/>
          </a:prstGeom>
          <a:solidFill>
            <a:srgbClr val="FAFAFA"/>
          </a:solidFill>
          <a:ln w="6350">
            <a:solidFill>
              <a:srgbClr val="E0E0E0"/>
            </a:solidFill>
            <a:prstDash val="solid"/>
          </a:ln>
        </p:spPr>
      </p:sp>
      <p:sp>
        <p:nvSpPr>
          <p:cNvPr id="11" name="Text 9"/>
          <p:cNvSpPr/>
          <p:nvPr/>
        </p:nvSpPr>
        <p:spPr>
          <a:xfrm>
            <a:off x="457200" y="2203704"/>
            <a:ext cx="45720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2" name="Text 10"/>
          <p:cNvSpPr/>
          <p:nvPr/>
        </p:nvSpPr>
        <p:spPr>
          <a:xfrm>
            <a:off x="1005840" y="2157984"/>
            <a:ext cx="7589520" cy="594360"/>
          </a:xfrm>
          <a:prstGeom prst="rect">
            <a:avLst/>
          </a:prstGeom>
          <a:noFill/>
          <a:ln/>
        </p:spPr>
        <p:txBody>
          <a:bodyPr wrap="square" rtlCol="0" anchor="ctr"/>
          <a:lstStyle/>
          <a:p>
            <a:pPr indent="0" marL="0">
              <a:buNone/>
            </a:pPr>
            <a:r>
              <a:rPr lang="en-US" sz="1300" b="1" dirty="0">
                <a:solidFill>
                  <a:srgbClr val="1565C0"/>
                </a:solidFill>
              </a:rPr>
              <a:t>Field Magnets: </a:t>
            </a:r>
            <a:pPr indent="0" marL="0">
              <a:buNone/>
            </a:pPr>
            <a:r>
              <a:rPr lang="en-US" sz="1300" dirty="0">
                <a:solidFill>
                  <a:srgbClr val="212121"/>
                </a:solidFill>
              </a:rPr>
              <a:t>Provide a uniform magnetic field (permanent or electromagnets).</a:t>
            </a:r>
            <a:endParaRPr lang="en-US" sz="1300" dirty="0"/>
          </a:p>
        </p:txBody>
      </p:sp>
      <p:sp>
        <p:nvSpPr>
          <p:cNvPr id="13" name="Shape 11"/>
          <p:cNvSpPr/>
          <p:nvPr/>
        </p:nvSpPr>
        <p:spPr>
          <a:xfrm>
            <a:off x="365760" y="2834640"/>
            <a:ext cx="8412480" cy="594360"/>
          </a:xfrm>
          <a:prstGeom prst="rect">
            <a:avLst/>
          </a:prstGeom>
          <a:solidFill>
            <a:srgbClr val="E3F2FD"/>
          </a:solidFill>
          <a:ln w="6350">
            <a:solidFill>
              <a:srgbClr val="E0E0E0"/>
            </a:solidFill>
            <a:prstDash val="solid"/>
          </a:ln>
        </p:spPr>
      </p:sp>
      <p:sp>
        <p:nvSpPr>
          <p:cNvPr id="14" name="Text 12"/>
          <p:cNvSpPr/>
          <p:nvPr/>
        </p:nvSpPr>
        <p:spPr>
          <a:xfrm>
            <a:off x="457200" y="2880360"/>
            <a:ext cx="45720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5" name="Text 13"/>
          <p:cNvSpPr/>
          <p:nvPr/>
        </p:nvSpPr>
        <p:spPr>
          <a:xfrm>
            <a:off x="1005840" y="2834640"/>
            <a:ext cx="7589520" cy="594360"/>
          </a:xfrm>
          <a:prstGeom prst="rect">
            <a:avLst/>
          </a:prstGeom>
          <a:noFill/>
          <a:ln/>
        </p:spPr>
        <p:txBody>
          <a:bodyPr wrap="square" rtlCol="0" anchor="ctr"/>
          <a:lstStyle/>
          <a:p>
            <a:pPr indent="0" marL="0">
              <a:buNone/>
            </a:pPr>
            <a:r>
              <a:rPr lang="en-US" sz="1300" b="1" dirty="0">
                <a:solidFill>
                  <a:srgbClr val="1565C0"/>
                </a:solidFill>
              </a:rPr>
              <a:t>Slip Rings: </a:t>
            </a:r>
            <a:pPr indent="0" marL="0">
              <a:buNone/>
            </a:pPr>
            <a:r>
              <a:rPr lang="en-US" sz="1300" dirty="0">
                <a:solidFill>
                  <a:srgbClr val="212121"/>
                </a:solidFill>
              </a:rPr>
              <a:t>Allow continuous rotation; connected to the rotating coil.</a:t>
            </a:r>
            <a:endParaRPr lang="en-US" sz="1300" dirty="0"/>
          </a:p>
        </p:txBody>
      </p:sp>
      <p:sp>
        <p:nvSpPr>
          <p:cNvPr id="16" name="Shape 14"/>
          <p:cNvSpPr/>
          <p:nvPr/>
        </p:nvSpPr>
        <p:spPr>
          <a:xfrm>
            <a:off x="365760" y="3511296"/>
            <a:ext cx="8412480" cy="594360"/>
          </a:xfrm>
          <a:prstGeom prst="rect">
            <a:avLst/>
          </a:prstGeom>
          <a:solidFill>
            <a:srgbClr val="FAFAFA"/>
          </a:solidFill>
          <a:ln w="6350">
            <a:solidFill>
              <a:srgbClr val="E0E0E0"/>
            </a:solidFill>
            <a:prstDash val="solid"/>
          </a:ln>
        </p:spPr>
      </p:sp>
      <p:sp>
        <p:nvSpPr>
          <p:cNvPr id="17" name="Text 15"/>
          <p:cNvSpPr/>
          <p:nvPr/>
        </p:nvSpPr>
        <p:spPr>
          <a:xfrm>
            <a:off x="457200" y="3557016"/>
            <a:ext cx="45720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18" name="Text 16"/>
          <p:cNvSpPr/>
          <p:nvPr/>
        </p:nvSpPr>
        <p:spPr>
          <a:xfrm>
            <a:off x="1005840" y="3511296"/>
            <a:ext cx="7589520" cy="594360"/>
          </a:xfrm>
          <a:prstGeom prst="rect">
            <a:avLst/>
          </a:prstGeom>
          <a:noFill/>
          <a:ln/>
        </p:spPr>
        <p:txBody>
          <a:bodyPr wrap="square" rtlCol="0" anchor="ctr"/>
          <a:lstStyle/>
          <a:p>
            <a:pPr indent="0" marL="0">
              <a:buNone/>
            </a:pPr>
            <a:r>
              <a:rPr lang="en-US" sz="1300" b="1" dirty="0">
                <a:solidFill>
                  <a:srgbClr val="1565C0"/>
                </a:solidFill>
              </a:rPr>
              <a:t>Brushes: </a:t>
            </a:r>
            <a:pPr indent="0" marL="0">
              <a:buNone/>
            </a:pPr>
            <a:r>
              <a:rPr lang="en-US" sz="1300" dirty="0">
                <a:solidFill>
                  <a:srgbClr val="212121"/>
                </a:solidFill>
              </a:rPr>
              <a:t>Stationary carbon contacts that collect current from slip rings.</a:t>
            </a:r>
            <a:endParaRPr lang="en-US" sz="1300" dirty="0"/>
          </a:p>
        </p:txBody>
      </p:sp>
      <p:sp>
        <p:nvSpPr>
          <p:cNvPr id="19" name="Shape 17"/>
          <p:cNvSpPr/>
          <p:nvPr/>
        </p:nvSpPr>
        <p:spPr>
          <a:xfrm>
            <a:off x="365760" y="4187952"/>
            <a:ext cx="8412480" cy="594360"/>
          </a:xfrm>
          <a:prstGeom prst="rect">
            <a:avLst/>
          </a:prstGeom>
          <a:solidFill>
            <a:srgbClr val="E3F2FD"/>
          </a:solidFill>
          <a:ln w="6350">
            <a:solidFill>
              <a:srgbClr val="E0E0E0"/>
            </a:solidFill>
            <a:prstDash val="solid"/>
          </a:ln>
        </p:spPr>
      </p:sp>
      <p:sp>
        <p:nvSpPr>
          <p:cNvPr id="20" name="Text 18"/>
          <p:cNvSpPr/>
          <p:nvPr/>
        </p:nvSpPr>
        <p:spPr>
          <a:xfrm>
            <a:off x="457200" y="4233672"/>
            <a:ext cx="457200" cy="502920"/>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1" name="Text 19"/>
          <p:cNvSpPr/>
          <p:nvPr/>
        </p:nvSpPr>
        <p:spPr>
          <a:xfrm>
            <a:off x="1005840" y="4187952"/>
            <a:ext cx="7589520" cy="594360"/>
          </a:xfrm>
          <a:prstGeom prst="rect">
            <a:avLst/>
          </a:prstGeom>
          <a:noFill/>
          <a:ln/>
        </p:spPr>
        <p:txBody>
          <a:bodyPr wrap="square" rtlCol="0" anchor="ctr"/>
          <a:lstStyle/>
          <a:p>
            <a:pPr indent="0" marL="0">
              <a:buNone/>
            </a:pPr>
            <a:r>
              <a:rPr lang="en-US" sz="1300" b="1" dirty="0">
                <a:solidFill>
                  <a:srgbClr val="1565C0"/>
                </a:solidFill>
              </a:rPr>
              <a:t>Output: </a:t>
            </a:r>
            <a:pPr indent="0" marL="0">
              <a:buNone/>
            </a:pPr>
            <a:r>
              <a:rPr lang="en-US" sz="1300" dirty="0">
                <a:solidFill>
                  <a:srgbClr val="212121"/>
                </a:solidFill>
              </a:rPr>
              <a:t>Sinusoidal alternating EMF: ε = ε₀ sin(ωt)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AC Quantities: Peak, RMS &amp; Average Values</a:t>
            </a:r>
            <a:endParaRPr lang="en-US" sz="2400" dirty="0"/>
          </a:p>
        </p:txBody>
      </p:sp>
      <p:sp>
        <p:nvSpPr>
          <p:cNvPr id="6" name="Text 4"/>
          <p:cNvSpPr/>
          <p:nvPr/>
        </p:nvSpPr>
        <p:spPr>
          <a:xfrm>
            <a:off x="365760" y="914400"/>
            <a:ext cx="4754880" cy="347472"/>
          </a:xfrm>
          <a:prstGeom prst="rect">
            <a:avLst/>
          </a:prstGeom>
          <a:noFill/>
          <a:ln/>
        </p:spPr>
        <p:txBody>
          <a:bodyPr wrap="square" rtlCol="0" anchor="ctr"/>
          <a:lstStyle/>
          <a:p>
            <a:pPr indent="0" marL="0">
              <a:buNone/>
            </a:pPr>
            <a:r>
              <a:rPr lang="en-US" sz="1500" b="1" dirty="0">
                <a:solidFill>
                  <a:srgbClr val="0D1B3E"/>
                </a:solidFill>
              </a:rPr>
              <a:t>Key Expressions</a:t>
            </a:r>
            <a:endParaRPr lang="en-US" sz="1500" dirty="0"/>
          </a:p>
        </p:txBody>
      </p:sp>
      <p:sp>
        <p:nvSpPr>
          <p:cNvPr id="7" name="Shape 5"/>
          <p:cNvSpPr/>
          <p:nvPr/>
        </p:nvSpPr>
        <p:spPr>
          <a:xfrm>
            <a:off x="365760" y="1325880"/>
            <a:ext cx="2286000" cy="749808"/>
          </a:xfrm>
          <a:prstGeom prst="rect">
            <a:avLst/>
          </a:prstGeom>
          <a:solidFill>
            <a:srgbClr val="E3F2FD"/>
          </a:solidFill>
          <a:ln w="19050">
            <a:solidFill>
              <a:srgbClr val="1565C0"/>
            </a:solidFill>
            <a:prstDash val="solid"/>
          </a:ln>
        </p:spPr>
      </p:sp>
      <p:sp>
        <p:nvSpPr>
          <p:cNvPr id="8" name="Text 6"/>
          <p:cNvSpPr/>
          <p:nvPr/>
        </p:nvSpPr>
        <p:spPr>
          <a:xfrm>
            <a:off x="457200" y="1371600"/>
            <a:ext cx="2103120" cy="658368"/>
          </a:xfrm>
          <a:prstGeom prst="rect">
            <a:avLst/>
          </a:prstGeom>
          <a:noFill/>
          <a:ln/>
        </p:spPr>
        <p:txBody>
          <a:bodyPr wrap="square" rtlCol="0" anchor="ctr"/>
          <a:lstStyle/>
          <a:p>
            <a:pPr algn="ctr" indent="0" marL="0">
              <a:buNone/>
            </a:pPr>
            <a:r>
              <a:rPr lang="en-US" sz="1500" b="1" dirty="0">
                <a:solidFill>
                  <a:srgbClr val="0D47A1"/>
                </a:solidFill>
              </a:rPr>
              <a:t>ε = ε₀ sin(ωt)</a:t>
            </a:r>
            <a:endParaRPr lang="en-US" sz="1500" dirty="0"/>
          </a:p>
          <a:p>
            <a:pPr algn="ctr" indent="0" marL="0">
              <a:buNone/>
            </a:pPr>
            <a:r>
              <a:rPr lang="en-US" sz="1100" dirty="0">
                <a:solidFill>
                  <a:srgbClr val="546E7A"/>
                </a:solidFill>
              </a:rPr>
              <a:t>Instantaneous EMF</a:t>
            </a:r>
            <a:endParaRPr lang="en-US" sz="1500" dirty="0"/>
          </a:p>
        </p:txBody>
      </p:sp>
      <p:sp>
        <p:nvSpPr>
          <p:cNvPr id="9" name="Shape 7"/>
          <p:cNvSpPr/>
          <p:nvPr/>
        </p:nvSpPr>
        <p:spPr>
          <a:xfrm>
            <a:off x="2788920" y="1325880"/>
            <a:ext cx="2286000" cy="749808"/>
          </a:xfrm>
          <a:prstGeom prst="rect">
            <a:avLst/>
          </a:prstGeom>
          <a:solidFill>
            <a:srgbClr val="E3F2FD"/>
          </a:solidFill>
          <a:ln w="19050">
            <a:solidFill>
              <a:srgbClr val="1565C0"/>
            </a:solidFill>
            <a:prstDash val="solid"/>
          </a:ln>
        </p:spPr>
      </p:sp>
      <p:sp>
        <p:nvSpPr>
          <p:cNvPr id="10" name="Text 8"/>
          <p:cNvSpPr/>
          <p:nvPr/>
        </p:nvSpPr>
        <p:spPr>
          <a:xfrm>
            <a:off x="2880360" y="1371600"/>
            <a:ext cx="2103120" cy="658368"/>
          </a:xfrm>
          <a:prstGeom prst="rect">
            <a:avLst/>
          </a:prstGeom>
          <a:noFill/>
          <a:ln/>
        </p:spPr>
        <p:txBody>
          <a:bodyPr wrap="square" rtlCol="0" anchor="ctr"/>
          <a:lstStyle/>
          <a:p>
            <a:pPr algn="ctr" indent="0" marL="0">
              <a:buNone/>
            </a:pPr>
            <a:r>
              <a:rPr lang="en-US" sz="1500" b="1" dirty="0">
                <a:solidFill>
                  <a:srgbClr val="0D47A1"/>
                </a:solidFill>
              </a:rPr>
              <a:t>I = I₀ sin(ωt − φ)</a:t>
            </a:r>
            <a:endParaRPr lang="en-US" sz="1500" dirty="0"/>
          </a:p>
          <a:p>
            <a:pPr algn="ctr" indent="0" marL="0">
              <a:buNone/>
            </a:pPr>
            <a:r>
              <a:rPr lang="en-US" sz="1100" dirty="0">
                <a:solidFill>
                  <a:srgbClr val="546E7A"/>
                </a:solidFill>
              </a:rPr>
              <a:t>Instantaneous Current</a:t>
            </a:r>
            <a:endParaRPr lang="en-US" sz="1500" dirty="0"/>
          </a:p>
        </p:txBody>
      </p:sp>
      <p:sp>
        <p:nvSpPr>
          <p:cNvPr id="11" name="Shape 9"/>
          <p:cNvSpPr/>
          <p:nvPr/>
        </p:nvSpPr>
        <p:spPr>
          <a:xfrm>
            <a:off x="365760" y="2194560"/>
            <a:ext cx="2286000" cy="749808"/>
          </a:xfrm>
          <a:prstGeom prst="rect">
            <a:avLst/>
          </a:prstGeom>
          <a:solidFill>
            <a:srgbClr val="E3F2FD"/>
          </a:solidFill>
          <a:ln w="19050">
            <a:solidFill>
              <a:srgbClr val="1565C0"/>
            </a:solidFill>
            <a:prstDash val="solid"/>
          </a:ln>
        </p:spPr>
      </p:sp>
      <p:sp>
        <p:nvSpPr>
          <p:cNvPr id="12" name="Text 10"/>
          <p:cNvSpPr/>
          <p:nvPr/>
        </p:nvSpPr>
        <p:spPr>
          <a:xfrm>
            <a:off x="457200" y="2240280"/>
            <a:ext cx="2103120" cy="658368"/>
          </a:xfrm>
          <a:prstGeom prst="rect">
            <a:avLst/>
          </a:prstGeom>
          <a:noFill/>
          <a:ln/>
        </p:spPr>
        <p:txBody>
          <a:bodyPr wrap="square" rtlCol="0" anchor="ctr"/>
          <a:lstStyle/>
          <a:p>
            <a:pPr algn="ctr" indent="0" marL="0">
              <a:buNone/>
            </a:pPr>
            <a:r>
              <a:rPr lang="en-US" sz="1500" b="1" dirty="0">
                <a:solidFill>
                  <a:srgbClr val="0D47A1"/>
                </a:solidFill>
              </a:rPr>
              <a:t>Iᵣₘₛ = I₀ / √2 ≈ 0.707 I₀</a:t>
            </a:r>
            <a:endParaRPr lang="en-US" sz="1500" dirty="0"/>
          </a:p>
          <a:p>
            <a:pPr algn="ctr" indent="0" marL="0">
              <a:buNone/>
            </a:pPr>
            <a:r>
              <a:rPr lang="en-US" sz="1100" dirty="0">
                <a:solidFill>
                  <a:srgbClr val="546E7A"/>
                </a:solidFill>
              </a:rPr>
              <a:t>RMS Current</a:t>
            </a:r>
            <a:endParaRPr lang="en-US" sz="1500" dirty="0"/>
          </a:p>
        </p:txBody>
      </p:sp>
      <p:sp>
        <p:nvSpPr>
          <p:cNvPr id="13" name="Shape 11"/>
          <p:cNvSpPr/>
          <p:nvPr/>
        </p:nvSpPr>
        <p:spPr>
          <a:xfrm>
            <a:off x="2788920" y="2194560"/>
            <a:ext cx="2286000" cy="749808"/>
          </a:xfrm>
          <a:prstGeom prst="rect">
            <a:avLst/>
          </a:prstGeom>
          <a:solidFill>
            <a:srgbClr val="E3F2FD"/>
          </a:solidFill>
          <a:ln w="19050">
            <a:solidFill>
              <a:srgbClr val="1565C0"/>
            </a:solidFill>
            <a:prstDash val="solid"/>
          </a:ln>
        </p:spPr>
      </p:sp>
      <p:sp>
        <p:nvSpPr>
          <p:cNvPr id="14" name="Text 12"/>
          <p:cNvSpPr/>
          <p:nvPr/>
        </p:nvSpPr>
        <p:spPr>
          <a:xfrm>
            <a:off x="2880360" y="2240280"/>
            <a:ext cx="2103120" cy="658368"/>
          </a:xfrm>
          <a:prstGeom prst="rect">
            <a:avLst/>
          </a:prstGeom>
          <a:noFill/>
          <a:ln/>
        </p:spPr>
        <p:txBody>
          <a:bodyPr wrap="square" rtlCol="0" anchor="ctr"/>
          <a:lstStyle/>
          <a:p>
            <a:pPr algn="ctr" indent="0" marL="0">
              <a:buNone/>
            </a:pPr>
            <a:r>
              <a:rPr lang="en-US" sz="1500" b="1" dirty="0">
                <a:solidFill>
                  <a:srgbClr val="0D47A1"/>
                </a:solidFill>
              </a:rPr>
              <a:t>Vᵣₘₛ = V₀ / √2 ≈ 0.707 V₀</a:t>
            </a:r>
            <a:endParaRPr lang="en-US" sz="1500" dirty="0"/>
          </a:p>
          <a:p>
            <a:pPr algn="ctr" indent="0" marL="0">
              <a:buNone/>
            </a:pPr>
            <a:r>
              <a:rPr lang="en-US" sz="1100" dirty="0">
                <a:solidFill>
                  <a:srgbClr val="546E7A"/>
                </a:solidFill>
              </a:rPr>
              <a:t>RMS Voltage</a:t>
            </a:r>
            <a:endParaRPr lang="en-US" sz="1500" dirty="0"/>
          </a:p>
        </p:txBody>
      </p:sp>
      <p:sp>
        <p:nvSpPr>
          <p:cNvPr id="15" name="Shape 13"/>
          <p:cNvSpPr/>
          <p:nvPr/>
        </p:nvSpPr>
        <p:spPr>
          <a:xfrm>
            <a:off x="365760" y="3063240"/>
            <a:ext cx="2286000" cy="749808"/>
          </a:xfrm>
          <a:prstGeom prst="rect">
            <a:avLst/>
          </a:prstGeom>
          <a:solidFill>
            <a:srgbClr val="E3F2FD"/>
          </a:solidFill>
          <a:ln w="19050">
            <a:solidFill>
              <a:srgbClr val="1565C0"/>
            </a:solidFill>
            <a:prstDash val="solid"/>
          </a:ln>
        </p:spPr>
      </p:sp>
      <p:sp>
        <p:nvSpPr>
          <p:cNvPr id="16" name="Text 14"/>
          <p:cNvSpPr/>
          <p:nvPr/>
        </p:nvSpPr>
        <p:spPr>
          <a:xfrm>
            <a:off x="457200" y="3108960"/>
            <a:ext cx="2103120" cy="658368"/>
          </a:xfrm>
          <a:prstGeom prst="rect">
            <a:avLst/>
          </a:prstGeom>
          <a:noFill/>
          <a:ln/>
        </p:spPr>
        <p:txBody>
          <a:bodyPr wrap="square" rtlCol="0" anchor="ctr"/>
          <a:lstStyle/>
          <a:p>
            <a:pPr algn="ctr" indent="0" marL="0">
              <a:buNone/>
            </a:pPr>
            <a:r>
              <a:rPr lang="en-US" sz="1500" b="1" dirty="0">
                <a:solidFill>
                  <a:srgbClr val="0D47A1"/>
                </a:solidFill>
              </a:rPr>
              <a:t>I_avg = 2I₀/π ≈ 0.637 I₀</a:t>
            </a:r>
            <a:endParaRPr lang="en-US" sz="1500" dirty="0"/>
          </a:p>
          <a:p>
            <a:pPr algn="ctr" indent="0" marL="0">
              <a:buNone/>
            </a:pPr>
            <a:r>
              <a:rPr lang="en-US" sz="1100" dirty="0">
                <a:solidFill>
                  <a:srgbClr val="546E7A"/>
                </a:solidFill>
              </a:rPr>
              <a:t>Average (half-cycle)</a:t>
            </a:r>
            <a:endParaRPr lang="en-US" sz="1500" dirty="0"/>
          </a:p>
        </p:txBody>
      </p:sp>
      <p:sp>
        <p:nvSpPr>
          <p:cNvPr id="17" name="Shape 15"/>
          <p:cNvSpPr/>
          <p:nvPr/>
        </p:nvSpPr>
        <p:spPr>
          <a:xfrm>
            <a:off x="2788920" y="3063240"/>
            <a:ext cx="2286000" cy="749808"/>
          </a:xfrm>
          <a:prstGeom prst="rect">
            <a:avLst/>
          </a:prstGeom>
          <a:solidFill>
            <a:srgbClr val="E3F2FD"/>
          </a:solidFill>
          <a:ln w="19050">
            <a:solidFill>
              <a:srgbClr val="1565C0"/>
            </a:solidFill>
            <a:prstDash val="solid"/>
          </a:ln>
        </p:spPr>
      </p:sp>
      <p:sp>
        <p:nvSpPr>
          <p:cNvPr id="18" name="Text 16"/>
          <p:cNvSpPr/>
          <p:nvPr/>
        </p:nvSpPr>
        <p:spPr>
          <a:xfrm>
            <a:off x="2880360" y="3108960"/>
            <a:ext cx="2103120" cy="658368"/>
          </a:xfrm>
          <a:prstGeom prst="rect">
            <a:avLst/>
          </a:prstGeom>
          <a:noFill/>
          <a:ln/>
        </p:spPr>
        <p:txBody>
          <a:bodyPr wrap="square" rtlCol="0" anchor="ctr"/>
          <a:lstStyle/>
          <a:p>
            <a:pPr algn="ctr" indent="0" marL="0">
              <a:buNone/>
            </a:pPr>
            <a:r>
              <a:rPr lang="en-US" sz="1500" b="1" dirty="0">
                <a:solidFill>
                  <a:srgbClr val="0D47A1"/>
                </a:solidFill>
              </a:rPr>
              <a:t>ω = 2πf = 2π/T</a:t>
            </a:r>
            <a:endParaRPr lang="en-US" sz="1500" dirty="0"/>
          </a:p>
          <a:p>
            <a:pPr algn="ctr" indent="0" marL="0">
              <a:buNone/>
            </a:pPr>
            <a:r>
              <a:rPr lang="en-US" sz="1100" dirty="0">
                <a:solidFill>
                  <a:srgbClr val="546E7A"/>
                </a:solidFill>
              </a:rPr>
              <a:t>Angular Frequency</a:t>
            </a:r>
            <a:endParaRPr lang="en-US" sz="1500" dirty="0"/>
          </a:p>
        </p:txBody>
      </p:sp>
      <p:sp>
        <p:nvSpPr>
          <p:cNvPr id="19" name="Shape 17"/>
          <p:cNvSpPr/>
          <p:nvPr/>
        </p:nvSpPr>
        <p:spPr>
          <a:xfrm>
            <a:off x="5303520" y="914400"/>
            <a:ext cx="3474720" cy="4005072"/>
          </a:xfrm>
          <a:prstGeom prst="rect">
            <a:avLst/>
          </a:prstGeom>
          <a:solidFill>
            <a:srgbClr val="E3F2FD"/>
          </a:solidFill>
          <a:ln w="12700">
            <a:solidFill>
              <a:srgbClr val="1565C0"/>
            </a:solidFill>
            <a:prstDash val="solid"/>
          </a:ln>
        </p:spPr>
      </p:sp>
      <p:sp>
        <p:nvSpPr>
          <p:cNvPr id="20" name="Text 18"/>
          <p:cNvSpPr/>
          <p:nvPr/>
        </p:nvSpPr>
        <p:spPr>
          <a:xfrm>
            <a:off x="5394960" y="960120"/>
            <a:ext cx="3291840" cy="347472"/>
          </a:xfrm>
          <a:prstGeom prst="rect">
            <a:avLst/>
          </a:prstGeom>
          <a:noFill/>
          <a:ln/>
        </p:spPr>
        <p:txBody>
          <a:bodyPr wrap="square" rtlCol="0" anchor="ctr"/>
          <a:lstStyle/>
          <a:p>
            <a:pPr indent="0" marL="0">
              <a:buNone/>
            </a:pPr>
            <a:r>
              <a:rPr lang="en-US" sz="1400" b="1" dirty="0">
                <a:solidFill>
                  <a:srgbClr val="0D1B3E"/>
                </a:solidFill>
              </a:rPr>
              <a:t>Comparison Table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349240" y="1353312"/>
          <a:ext cx="3383280" cy="3429000"/>
        </p:xfrm>
        <a:graphic>
          <a:graphicData uri="http://schemas.openxmlformats.org/drawingml/2006/table">
            <a:tbl>
              <a:tblPr/>
              <a:tblGrid>
                <a:gridCol w="1127760"/>
                <a:gridCol w="1127760"/>
                <a:gridCol w="1127760"/>
              </a:tblGrid>
              <a:tr h="571500">
                <a:tc>
                  <a:txBody>
                    <a:bodyPr/>
                    <a:lstStyle/>
                    <a:p>
                      <a:pPr algn="ctr" indent="0" marL="0">
                        <a:buNone/>
                      </a:pPr>
                      <a:r>
                        <a:rPr lang="en-US" sz="1100" b="1" dirty="0">
                          <a:solidFill>
                            <a:srgbClr val="FFFFFF"/>
                          </a:solidFill>
                        </a:rPr>
                        <a:t>Quantity</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1565C0"/>
                    </a:solidFill>
                  </a:tcPr>
                </a:tc>
                <a:tc>
                  <a:txBody>
                    <a:bodyPr/>
                    <a:lstStyle/>
                    <a:p>
                      <a:pPr algn="ctr" indent="0" marL="0">
                        <a:buNone/>
                      </a:pPr>
                      <a:r>
                        <a:rPr lang="en-US" sz="1100" b="1" dirty="0">
                          <a:solidFill>
                            <a:srgbClr val="FFFFFF"/>
                          </a:solidFill>
                        </a:rPr>
                        <a:t>Symbol</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1565C0"/>
                    </a:solidFill>
                  </a:tcPr>
                </a:tc>
                <a:tc>
                  <a:txBody>
                    <a:bodyPr/>
                    <a:lstStyle/>
                    <a:p>
                      <a:pPr algn="ctr" indent="0" marL="0">
                        <a:buNone/>
                      </a:pPr>
                      <a:r>
                        <a:rPr lang="en-US" sz="1100" b="1" dirty="0">
                          <a:solidFill>
                            <a:srgbClr val="FFFFFF"/>
                          </a:solidFill>
                        </a:rPr>
                        <a:t>Relation to Peak</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1565C0"/>
                    </a:solidFill>
                  </a:tcPr>
                </a:tc>
              </a:tr>
              <a:tr h="571500">
                <a:tc>
                  <a:txBody>
                    <a:bodyPr/>
                    <a:lstStyle/>
                    <a:p>
                      <a:pPr algn="ctr" indent="0" marL="0">
                        <a:buNone/>
                      </a:pPr>
                      <a:r>
                        <a:rPr lang="en-US" sz="1100" dirty="0">
                          <a:solidFill>
                            <a:srgbClr val="212121"/>
                          </a:solidFill>
                        </a:rPr>
                        <a:t>RMS Voltage</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Vᵣₘₛ</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V₀/√2</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r>
              <a:tr h="571500">
                <a:tc>
                  <a:txBody>
                    <a:bodyPr/>
                    <a:lstStyle/>
                    <a:p>
                      <a:pPr algn="ctr" indent="0" marL="0">
                        <a:buNone/>
                      </a:pPr>
                      <a:r>
                        <a:rPr lang="en-US" sz="1100" dirty="0">
                          <a:solidFill>
                            <a:srgbClr val="212121"/>
                          </a:solidFill>
                        </a:rPr>
                        <a:t>RMS Current</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12121"/>
                          </a:solidFill>
                        </a:rPr>
                        <a:t>Iᵣₘₛ</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12121"/>
                          </a:solidFill>
                        </a:rPr>
                        <a:t>I₀/√2</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r>
              <a:tr h="571500">
                <a:tc>
                  <a:txBody>
                    <a:bodyPr/>
                    <a:lstStyle/>
                    <a:p>
                      <a:pPr algn="ctr" indent="0" marL="0">
                        <a:buNone/>
                      </a:pPr>
                      <a:r>
                        <a:rPr lang="en-US" sz="1100" dirty="0">
                          <a:solidFill>
                            <a:srgbClr val="212121"/>
                          </a:solidFill>
                        </a:rPr>
                        <a:t>Avg Voltage</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V_avg</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2V₀/π</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r>
              <a:tr h="571500">
                <a:tc>
                  <a:txBody>
                    <a:bodyPr/>
                    <a:lstStyle/>
                    <a:p>
                      <a:pPr algn="ctr" indent="0" marL="0">
                        <a:buNone/>
                      </a:pPr>
                      <a:r>
                        <a:rPr lang="en-US" sz="1100" dirty="0">
                          <a:solidFill>
                            <a:srgbClr val="212121"/>
                          </a:solidFill>
                        </a:rPr>
                        <a:t>Form Factor</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12121"/>
                          </a:solidFill>
                        </a:rPr>
                        <a:t>F</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12121"/>
                          </a:solidFill>
                        </a:rPr>
                        <a:t>Iᵣₘₛ/I_avg ≈ 1.11</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FFFFFF"/>
                    </a:solidFill>
                  </a:tcPr>
                </a:tc>
              </a:tr>
              <a:tr h="571500">
                <a:tc>
                  <a:txBody>
                    <a:bodyPr/>
                    <a:lstStyle/>
                    <a:p>
                      <a:pPr algn="ctr" indent="0" marL="0">
                        <a:buNone/>
                      </a:pPr>
                      <a:r>
                        <a:rPr lang="en-US" sz="1100" dirty="0">
                          <a:solidFill>
                            <a:srgbClr val="212121"/>
                          </a:solidFill>
                        </a:rPr>
                        <a:t>Peak Factor</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P</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c>
                  <a:txBody>
                    <a:bodyPr/>
                    <a:lstStyle/>
                    <a:p>
                      <a:pPr algn="ctr" indent="0" marL="0">
                        <a:buNone/>
                      </a:pPr>
                      <a:r>
                        <a:rPr lang="en-US" sz="1100" dirty="0">
                          <a:solidFill>
                            <a:srgbClr val="212121"/>
                          </a:solidFill>
                        </a:rPr>
                        <a:t>I₀/Iᵣₘₛ = √2 ≈ 1.41</a:t>
                      </a:r>
                      <a:endParaRPr lang="en-US" sz="1100" dirty="0"/>
                    </a:p>
                  </a:txBody>
                  <a:tcPr marL="91440" marR="91440" marT="45720" marB="45720">
                    <a:lnL w="6350" cap="flat" cmpd="sng" algn="ctr">
                      <a:solidFill>
                        <a:srgbClr val="90CAF9"/>
                      </a:solidFill>
                      <a:prstDash val="solid"/>
                      <a:round/>
                      <a:headEnd type="none" w="med" len="med"/>
                      <a:tailEnd type="none" w="med" len="med"/>
                    </a:lnL>
                    <a:lnR w="6350" cap="flat" cmpd="sng" algn="ctr">
                      <a:solidFill>
                        <a:srgbClr val="90CAF9"/>
                      </a:solidFill>
                      <a:prstDash val="solid"/>
                      <a:round/>
                      <a:headEnd type="none" w="med" len="med"/>
                      <a:tailEnd type="none" w="med" len="med"/>
                    </a:lnR>
                    <a:lnT w="6350" cap="flat" cmpd="sng" algn="ctr">
                      <a:solidFill>
                        <a:srgbClr val="90CAF9"/>
                      </a:solidFill>
                      <a:prstDash val="solid"/>
                      <a:round/>
                      <a:headEnd type="none" w="med" len="med"/>
                      <a:tailEnd type="none" w="med" len="med"/>
                    </a:lnT>
                    <a:lnB w="6350" cap="flat" cmpd="sng" algn="ctr">
                      <a:solidFill>
                        <a:srgbClr val="90CAF9"/>
                      </a:solidFill>
                      <a:prstDash val="solid"/>
                      <a:round/>
                      <a:headEnd type="none" w="med" len="med"/>
                      <a:tailEnd type="none" w="med" len="med"/>
                    </a:lnB>
                    <a:solidFill>
                      <a:srgbClr val="E3F2FD"/>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Phasors &amp; Phase Relationships in AC Circuits</a:t>
            </a:r>
            <a:endParaRPr lang="en-US" sz="2400" dirty="0"/>
          </a:p>
        </p:txBody>
      </p:sp>
      <p:sp>
        <p:nvSpPr>
          <p:cNvPr id="6" name="Text 4"/>
          <p:cNvSpPr/>
          <p:nvPr/>
        </p:nvSpPr>
        <p:spPr>
          <a:xfrm>
            <a:off x="457200" y="914400"/>
            <a:ext cx="8229600" cy="457200"/>
          </a:xfrm>
          <a:prstGeom prst="rect">
            <a:avLst/>
          </a:prstGeom>
          <a:noFill/>
          <a:ln/>
        </p:spPr>
        <p:txBody>
          <a:bodyPr wrap="square" rtlCol="0" anchor="ctr"/>
          <a:lstStyle/>
          <a:p>
            <a:pPr indent="0" marL="0">
              <a:buNone/>
            </a:pPr>
            <a:r>
              <a:rPr lang="en-US" sz="1300" dirty="0">
                <a:solidFill>
                  <a:srgbClr val="212121"/>
                </a:solidFill>
              </a:rPr>
              <a:t>A phasor is a rotating vector that represents a sinusoidal quantity. Its projection on the y-axis gives the instantaneous value.</a:t>
            </a:r>
            <a:endParaRPr lang="en-US" sz="1300" dirty="0"/>
          </a:p>
        </p:txBody>
      </p:sp>
      <p:sp>
        <p:nvSpPr>
          <p:cNvPr id="7" name="Shape 5"/>
          <p:cNvSpPr/>
          <p:nvPr/>
        </p:nvSpPr>
        <p:spPr>
          <a:xfrm>
            <a:off x="365760" y="1508760"/>
            <a:ext cx="2697480" cy="3364992"/>
          </a:xfrm>
          <a:prstGeom prst="rect">
            <a:avLst/>
          </a:prstGeom>
          <a:solidFill>
            <a:srgbClr val="FAFAFA"/>
          </a:solidFill>
          <a:ln w="19050">
            <a:solidFill>
              <a:srgbClr val="2E7D32"/>
            </a:solidFill>
            <a:prstDash val="solid"/>
          </a:ln>
        </p:spPr>
      </p:sp>
      <p:sp>
        <p:nvSpPr>
          <p:cNvPr id="8" name="Shape 6"/>
          <p:cNvSpPr/>
          <p:nvPr/>
        </p:nvSpPr>
        <p:spPr>
          <a:xfrm>
            <a:off x="365760" y="1508760"/>
            <a:ext cx="2697480" cy="384048"/>
          </a:xfrm>
          <a:prstGeom prst="rect">
            <a:avLst/>
          </a:prstGeom>
          <a:solidFill>
            <a:srgbClr val="2E7D32"/>
          </a:solidFill>
          <a:ln w="12700">
            <a:solidFill>
              <a:srgbClr val="2E7D32"/>
            </a:solidFill>
            <a:prstDash val="solid"/>
          </a:ln>
        </p:spPr>
      </p:sp>
      <p:sp>
        <p:nvSpPr>
          <p:cNvPr id="9" name="Text 7"/>
          <p:cNvSpPr/>
          <p:nvPr/>
        </p:nvSpPr>
        <p:spPr>
          <a:xfrm>
            <a:off x="438912" y="1508760"/>
            <a:ext cx="2551176" cy="384048"/>
          </a:xfrm>
          <a:prstGeom prst="rect">
            <a:avLst/>
          </a:prstGeom>
          <a:noFill/>
          <a:ln/>
        </p:spPr>
        <p:txBody>
          <a:bodyPr wrap="square" lIns="0" tIns="0" rIns="0" bIns="0" rtlCol="0" anchor="ctr"/>
          <a:lstStyle/>
          <a:p>
            <a:pPr indent="0" marL="0">
              <a:buNone/>
            </a:pPr>
            <a:r>
              <a:rPr lang="en-US" sz="1300" b="1" dirty="0">
                <a:solidFill>
                  <a:srgbClr val="FFFFFF"/>
                </a:solidFill>
              </a:rPr>
              <a:t>Pure Resistor (R)</a:t>
            </a:r>
            <a:endParaRPr lang="en-US" sz="1300" dirty="0"/>
          </a:p>
        </p:txBody>
      </p:sp>
      <p:sp>
        <p:nvSpPr>
          <p:cNvPr id="10" name="Text 8"/>
          <p:cNvSpPr/>
          <p:nvPr/>
        </p:nvSpPr>
        <p:spPr>
          <a:xfrm>
            <a:off x="457200" y="1938528"/>
            <a:ext cx="2514600" cy="2743200"/>
          </a:xfrm>
          <a:prstGeom prst="rect">
            <a:avLst/>
          </a:prstGeom>
          <a:noFill/>
          <a:ln/>
        </p:spPr>
        <p:txBody>
          <a:bodyPr wrap="square" rtlCol="0" anchor="t"/>
          <a:lstStyle/>
          <a:p>
            <a:pPr indent="0" marL="0">
              <a:buNone/>
            </a:pPr>
            <a:r>
              <a:rPr lang="en-US" sz="1200" b="1" dirty="0">
                <a:solidFill>
                  <a:srgbClr val="2E7D32"/>
                </a:solidFill>
              </a:rPr>
              <a:t>Phase: </a:t>
            </a:r>
            <a:pPr indent="0" marL="0">
              <a:buNone/>
            </a:pPr>
            <a:r>
              <a:rPr lang="en-US" sz="1200" dirty="0">
                <a:solidFill>
                  <a:srgbClr val="212121"/>
                </a:solidFill>
              </a:rPr>
              <a:t>V &amp; I in phase  (φ = 0°)</a:t>
            </a:r>
            <a:endParaRPr lang="en-US" sz="1200" dirty="0"/>
          </a:p>
          <a:p>
            <a:pPr indent="0" marL="0">
              <a:buNone/>
            </a:pPr>
            <a:endParaRPr lang="en-US" sz="1200" dirty="0"/>
          </a:p>
          <a:p>
            <a:pPr indent="0" marL="0">
              <a:buNone/>
            </a:pPr>
            <a:r>
              <a:rPr lang="en-US" sz="1200" b="1" dirty="0">
                <a:solidFill>
                  <a:srgbClr val="2E7D32"/>
                </a:solidFill>
              </a:rPr>
              <a:t>Voltage: </a:t>
            </a:r>
            <a:endParaRPr lang="en-US" sz="1200" dirty="0"/>
          </a:p>
          <a:p>
            <a:pPr indent="0" marL="0">
              <a:buNone/>
            </a:pPr>
            <a:r>
              <a:rPr lang="en-US" sz="1200" dirty="0">
                <a:solidFill>
                  <a:srgbClr val="212121"/>
                </a:solidFill>
              </a:rPr>
              <a:t>V = V₀ sin ωt</a:t>
            </a:r>
            <a:endParaRPr lang="en-US" sz="1200" dirty="0"/>
          </a:p>
          <a:p>
            <a:pPr indent="0" marL="0">
              <a:buNone/>
            </a:pPr>
            <a:endParaRPr lang="en-US" sz="1200" dirty="0"/>
          </a:p>
          <a:p>
            <a:pPr indent="0" marL="0">
              <a:buNone/>
            </a:pPr>
            <a:r>
              <a:rPr lang="en-US" sz="1200" b="1" dirty="0">
                <a:solidFill>
                  <a:srgbClr val="2E7D32"/>
                </a:solidFill>
              </a:rPr>
              <a:t>Current: </a:t>
            </a:r>
            <a:endParaRPr lang="en-US" sz="1200" dirty="0"/>
          </a:p>
          <a:p>
            <a:pPr indent="0" marL="0">
              <a:buNone/>
            </a:pPr>
            <a:r>
              <a:rPr lang="en-US" sz="1200" dirty="0">
                <a:solidFill>
                  <a:srgbClr val="212121"/>
                </a:solidFill>
              </a:rPr>
              <a:t>I = I₀ sin ωt</a:t>
            </a:r>
            <a:endParaRPr lang="en-US" sz="1200" dirty="0"/>
          </a:p>
          <a:p>
            <a:pPr indent="0" marL="0">
              <a:buNone/>
            </a:pPr>
            <a:endParaRPr lang="en-US" sz="1200" dirty="0"/>
          </a:p>
          <a:p>
            <a:pPr indent="0" marL="0">
              <a:buNone/>
            </a:pPr>
            <a:r>
              <a:rPr lang="en-US" sz="1200" b="1" dirty="0">
                <a:solidFill>
                  <a:srgbClr val="2E7D32"/>
                </a:solidFill>
              </a:rPr>
              <a:t>Impedance: </a:t>
            </a:r>
            <a:endParaRPr lang="en-US" sz="1200" dirty="0"/>
          </a:p>
          <a:p>
            <a:pPr indent="0" marL="0">
              <a:buNone/>
            </a:pPr>
            <a:r>
              <a:rPr lang="en-US" sz="1200" dirty="0">
                <a:solidFill>
                  <a:srgbClr val="212121"/>
                </a:solidFill>
              </a:rPr>
              <a:t>Z = R</a:t>
            </a:r>
            <a:endParaRPr lang="en-US" sz="1200" dirty="0"/>
          </a:p>
        </p:txBody>
      </p:sp>
      <p:sp>
        <p:nvSpPr>
          <p:cNvPr id="11" name="Shape 9"/>
          <p:cNvSpPr/>
          <p:nvPr/>
        </p:nvSpPr>
        <p:spPr>
          <a:xfrm>
            <a:off x="3200400" y="1508760"/>
            <a:ext cx="2697480" cy="3364992"/>
          </a:xfrm>
          <a:prstGeom prst="rect">
            <a:avLst/>
          </a:prstGeom>
          <a:solidFill>
            <a:srgbClr val="FAFAFA"/>
          </a:solidFill>
          <a:ln w="19050">
            <a:solidFill>
              <a:srgbClr val="1565C0"/>
            </a:solidFill>
            <a:prstDash val="solid"/>
          </a:ln>
        </p:spPr>
      </p:sp>
      <p:sp>
        <p:nvSpPr>
          <p:cNvPr id="12" name="Shape 10"/>
          <p:cNvSpPr/>
          <p:nvPr/>
        </p:nvSpPr>
        <p:spPr>
          <a:xfrm>
            <a:off x="3200400" y="1508760"/>
            <a:ext cx="2697480" cy="384048"/>
          </a:xfrm>
          <a:prstGeom prst="rect">
            <a:avLst/>
          </a:prstGeom>
          <a:solidFill>
            <a:srgbClr val="1565C0"/>
          </a:solidFill>
          <a:ln w="12700">
            <a:solidFill>
              <a:srgbClr val="1565C0"/>
            </a:solidFill>
            <a:prstDash val="solid"/>
          </a:ln>
        </p:spPr>
      </p:sp>
      <p:sp>
        <p:nvSpPr>
          <p:cNvPr id="13" name="Text 11"/>
          <p:cNvSpPr/>
          <p:nvPr/>
        </p:nvSpPr>
        <p:spPr>
          <a:xfrm>
            <a:off x="3273552" y="1508760"/>
            <a:ext cx="2551176" cy="384048"/>
          </a:xfrm>
          <a:prstGeom prst="rect">
            <a:avLst/>
          </a:prstGeom>
          <a:noFill/>
          <a:ln/>
        </p:spPr>
        <p:txBody>
          <a:bodyPr wrap="square" lIns="0" tIns="0" rIns="0" bIns="0" rtlCol="0" anchor="ctr"/>
          <a:lstStyle/>
          <a:p>
            <a:pPr indent="0" marL="0">
              <a:buNone/>
            </a:pPr>
            <a:r>
              <a:rPr lang="en-US" sz="1300" b="1" dirty="0">
                <a:solidFill>
                  <a:srgbClr val="FFFFFF"/>
                </a:solidFill>
              </a:rPr>
              <a:t>Pure Inductor (L)</a:t>
            </a:r>
            <a:endParaRPr lang="en-US" sz="1300" dirty="0"/>
          </a:p>
        </p:txBody>
      </p:sp>
      <p:sp>
        <p:nvSpPr>
          <p:cNvPr id="14" name="Text 12"/>
          <p:cNvSpPr/>
          <p:nvPr/>
        </p:nvSpPr>
        <p:spPr>
          <a:xfrm>
            <a:off x="3291840" y="1938528"/>
            <a:ext cx="2514600" cy="2743200"/>
          </a:xfrm>
          <a:prstGeom prst="rect">
            <a:avLst/>
          </a:prstGeom>
          <a:noFill/>
          <a:ln/>
        </p:spPr>
        <p:txBody>
          <a:bodyPr wrap="square" rtlCol="0" anchor="t"/>
          <a:lstStyle/>
          <a:p>
            <a:pPr indent="0" marL="0">
              <a:buNone/>
            </a:pPr>
            <a:r>
              <a:rPr lang="en-US" sz="1200" b="1" dirty="0">
                <a:solidFill>
                  <a:srgbClr val="1565C0"/>
                </a:solidFill>
              </a:rPr>
              <a:t>Phase: </a:t>
            </a:r>
            <a:pPr indent="0" marL="0">
              <a:buNone/>
            </a:pPr>
            <a:r>
              <a:rPr lang="en-US" sz="1200" dirty="0">
                <a:solidFill>
                  <a:srgbClr val="212121"/>
                </a:solidFill>
              </a:rPr>
              <a:t>I lags V by 90°  (φ = +90°)</a:t>
            </a:r>
            <a:endParaRPr lang="en-US" sz="1200" dirty="0"/>
          </a:p>
          <a:p>
            <a:pPr indent="0" marL="0">
              <a:buNone/>
            </a:pPr>
            <a:endParaRPr lang="en-US" sz="1200" dirty="0"/>
          </a:p>
          <a:p>
            <a:pPr indent="0" marL="0">
              <a:buNone/>
            </a:pPr>
            <a:r>
              <a:rPr lang="en-US" sz="1200" b="1" dirty="0">
                <a:solidFill>
                  <a:srgbClr val="1565C0"/>
                </a:solidFill>
              </a:rPr>
              <a:t>Voltage: </a:t>
            </a:r>
            <a:endParaRPr lang="en-US" sz="1200" dirty="0"/>
          </a:p>
          <a:p>
            <a:pPr indent="0" marL="0">
              <a:buNone/>
            </a:pPr>
            <a:r>
              <a:rPr lang="en-US" sz="1200" dirty="0">
                <a:solidFill>
                  <a:srgbClr val="212121"/>
                </a:solidFill>
              </a:rPr>
              <a:t>V = V₀ sin ωt</a:t>
            </a:r>
            <a:endParaRPr lang="en-US" sz="1200" dirty="0"/>
          </a:p>
          <a:p>
            <a:pPr indent="0" marL="0">
              <a:buNone/>
            </a:pPr>
            <a:endParaRPr lang="en-US" sz="1200" dirty="0"/>
          </a:p>
          <a:p>
            <a:pPr indent="0" marL="0">
              <a:buNone/>
            </a:pPr>
            <a:r>
              <a:rPr lang="en-US" sz="1200" b="1" dirty="0">
                <a:solidFill>
                  <a:srgbClr val="1565C0"/>
                </a:solidFill>
              </a:rPr>
              <a:t>Current: </a:t>
            </a:r>
            <a:endParaRPr lang="en-US" sz="1200" dirty="0"/>
          </a:p>
          <a:p>
            <a:pPr indent="0" marL="0">
              <a:buNone/>
            </a:pPr>
            <a:r>
              <a:rPr lang="en-US" sz="1200" dirty="0">
                <a:solidFill>
                  <a:srgbClr val="212121"/>
                </a:solidFill>
              </a:rPr>
              <a:t>I = I₀ sin(ωt−90°)</a:t>
            </a:r>
            <a:endParaRPr lang="en-US" sz="1200" dirty="0"/>
          </a:p>
          <a:p>
            <a:pPr indent="0" marL="0">
              <a:buNone/>
            </a:pPr>
            <a:endParaRPr lang="en-US" sz="1200" dirty="0"/>
          </a:p>
          <a:p>
            <a:pPr indent="0" marL="0">
              <a:buNone/>
            </a:pPr>
            <a:r>
              <a:rPr lang="en-US" sz="1200" b="1" dirty="0">
                <a:solidFill>
                  <a:srgbClr val="1565C0"/>
                </a:solidFill>
              </a:rPr>
              <a:t>Impedance: </a:t>
            </a:r>
            <a:endParaRPr lang="en-US" sz="1200" dirty="0"/>
          </a:p>
          <a:p>
            <a:pPr indent="0" marL="0">
              <a:buNone/>
            </a:pPr>
            <a:r>
              <a:rPr lang="en-US" sz="1200" dirty="0">
                <a:solidFill>
                  <a:srgbClr val="212121"/>
                </a:solidFill>
              </a:rPr>
              <a:t>X_L = ωL</a:t>
            </a:r>
            <a:endParaRPr lang="en-US" sz="1200" dirty="0"/>
          </a:p>
        </p:txBody>
      </p:sp>
      <p:sp>
        <p:nvSpPr>
          <p:cNvPr id="15" name="Shape 13"/>
          <p:cNvSpPr/>
          <p:nvPr/>
        </p:nvSpPr>
        <p:spPr>
          <a:xfrm>
            <a:off x="6035040" y="1508760"/>
            <a:ext cx="2697480" cy="3364992"/>
          </a:xfrm>
          <a:prstGeom prst="rect">
            <a:avLst/>
          </a:prstGeom>
          <a:solidFill>
            <a:srgbClr val="FAFAFA"/>
          </a:solidFill>
          <a:ln w="19050">
            <a:solidFill>
              <a:srgbClr val="6A1B9A"/>
            </a:solidFill>
            <a:prstDash val="solid"/>
          </a:ln>
        </p:spPr>
      </p:sp>
      <p:sp>
        <p:nvSpPr>
          <p:cNvPr id="16" name="Shape 14"/>
          <p:cNvSpPr/>
          <p:nvPr/>
        </p:nvSpPr>
        <p:spPr>
          <a:xfrm>
            <a:off x="6035040" y="1508760"/>
            <a:ext cx="2697480" cy="384048"/>
          </a:xfrm>
          <a:prstGeom prst="rect">
            <a:avLst/>
          </a:prstGeom>
          <a:solidFill>
            <a:srgbClr val="6A1B9A"/>
          </a:solidFill>
          <a:ln w="12700">
            <a:solidFill>
              <a:srgbClr val="6A1B9A"/>
            </a:solidFill>
            <a:prstDash val="solid"/>
          </a:ln>
        </p:spPr>
      </p:sp>
      <p:sp>
        <p:nvSpPr>
          <p:cNvPr id="17" name="Text 15"/>
          <p:cNvSpPr/>
          <p:nvPr/>
        </p:nvSpPr>
        <p:spPr>
          <a:xfrm>
            <a:off x="6108192" y="1508760"/>
            <a:ext cx="2551176" cy="384048"/>
          </a:xfrm>
          <a:prstGeom prst="rect">
            <a:avLst/>
          </a:prstGeom>
          <a:noFill/>
          <a:ln/>
        </p:spPr>
        <p:txBody>
          <a:bodyPr wrap="square" lIns="0" tIns="0" rIns="0" bIns="0" rtlCol="0" anchor="ctr"/>
          <a:lstStyle/>
          <a:p>
            <a:pPr indent="0" marL="0">
              <a:buNone/>
            </a:pPr>
            <a:r>
              <a:rPr lang="en-US" sz="1300" b="1" dirty="0">
                <a:solidFill>
                  <a:srgbClr val="FFFFFF"/>
                </a:solidFill>
              </a:rPr>
              <a:t>Pure Capacitor (C)</a:t>
            </a:r>
            <a:endParaRPr lang="en-US" sz="1300" dirty="0"/>
          </a:p>
        </p:txBody>
      </p:sp>
      <p:sp>
        <p:nvSpPr>
          <p:cNvPr id="18" name="Text 16"/>
          <p:cNvSpPr/>
          <p:nvPr/>
        </p:nvSpPr>
        <p:spPr>
          <a:xfrm>
            <a:off x="6126480" y="1938528"/>
            <a:ext cx="2514600" cy="2743200"/>
          </a:xfrm>
          <a:prstGeom prst="rect">
            <a:avLst/>
          </a:prstGeom>
          <a:noFill/>
          <a:ln/>
        </p:spPr>
        <p:txBody>
          <a:bodyPr wrap="square" rtlCol="0" anchor="t"/>
          <a:lstStyle/>
          <a:p>
            <a:pPr indent="0" marL="0">
              <a:buNone/>
            </a:pPr>
            <a:r>
              <a:rPr lang="en-US" sz="1200" b="1" dirty="0">
                <a:solidFill>
                  <a:srgbClr val="6A1B9A"/>
                </a:solidFill>
              </a:rPr>
              <a:t>Phase: </a:t>
            </a:r>
            <a:pPr indent="0" marL="0">
              <a:buNone/>
            </a:pPr>
            <a:r>
              <a:rPr lang="en-US" sz="1200" dirty="0">
                <a:solidFill>
                  <a:srgbClr val="212121"/>
                </a:solidFill>
              </a:rPr>
              <a:t>I leads V by 90°  (φ = −90°)</a:t>
            </a:r>
            <a:endParaRPr lang="en-US" sz="1200" dirty="0"/>
          </a:p>
          <a:p>
            <a:pPr indent="0" marL="0">
              <a:buNone/>
            </a:pPr>
            <a:endParaRPr lang="en-US" sz="1200" dirty="0"/>
          </a:p>
          <a:p>
            <a:pPr indent="0" marL="0">
              <a:buNone/>
            </a:pPr>
            <a:r>
              <a:rPr lang="en-US" sz="1200" b="1" dirty="0">
                <a:solidFill>
                  <a:srgbClr val="6A1B9A"/>
                </a:solidFill>
              </a:rPr>
              <a:t>Voltage: </a:t>
            </a:r>
            <a:endParaRPr lang="en-US" sz="1200" dirty="0"/>
          </a:p>
          <a:p>
            <a:pPr indent="0" marL="0">
              <a:buNone/>
            </a:pPr>
            <a:r>
              <a:rPr lang="en-US" sz="1200" dirty="0">
                <a:solidFill>
                  <a:srgbClr val="212121"/>
                </a:solidFill>
              </a:rPr>
              <a:t>V = V₀ sin ωt</a:t>
            </a:r>
            <a:endParaRPr lang="en-US" sz="1200" dirty="0"/>
          </a:p>
          <a:p>
            <a:pPr indent="0" marL="0">
              <a:buNone/>
            </a:pPr>
            <a:endParaRPr lang="en-US" sz="1200" dirty="0"/>
          </a:p>
          <a:p>
            <a:pPr indent="0" marL="0">
              <a:buNone/>
            </a:pPr>
            <a:r>
              <a:rPr lang="en-US" sz="1200" b="1" dirty="0">
                <a:solidFill>
                  <a:srgbClr val="6A1B9A"/>
                </a:solidFill>
              </a:rPr>
              <a:t>Current: </a:t>
            </a:r>
            <a:endParaRPr lang="en-US" sz="1200" dirty="0"/>
          </a:p>
          <a:p>
            <a:pPr indent="0" marL="0">
              <a:buNone/>
            </a:pPr>
            <a:r>
              <a:rPr lang="en-US" sz="1200" dirty="0">
                <a:solidFill>
                  <a:srgbClr val="212121"/>
                </a:solidFill>
              </a:rPr>
              <a:t>I = I₀ sin(ωt+90°)</a:t>
            </a:r>
            <a:endParaRPr lang="en-US" sz="1200" dirty="0"/>
          </a:p>
          <a:p>
            <a:pPr indent="0" marL="0">
              <a:buNone/>
            </a:pPr>
            <a:endParaRPr lang="en-US" sz="1200" dirty="0"/>
          </a:p>
          <a:p>
            <a:pPr indent="0" marL="0">
              <a:buNone/>
            </a:pPr>
            <a:r>
              <a:rPr lang="en-US" sz="1200" b="1" dirty="0">
                <a:solidFill>
                  <a:srgbClr val="6A1B9A"/>
                </a:solidFill>
              </a:rPr>
              <a:t>Impedance: </a:t>
            </a:r>
            <a:endParaRPr lang="en-US" sz="1200" dirty="0"/>
          </a:p>
          <a:p>
            <a:pPr indent="0" marL="0">
              <a:buNone/>
            </a:pPr>
            <a:r>
              <a:rPr lang="en-US" sz="1200" dirty="0">
                <a:solidFill>
                  <a:srgbClr val="212121"/>
                </a:solidFill>
              </a:rPr>
              <a:t>X_C = 1/(ωC)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LCR Series Circuit &amp; Impedance</a:t>
            </a:r>
            <a:endParaRPr lang="en-US" sz="2400" dirty="0"/>
          </a:p>
        </p:txBody>
      </p:sp>
      <p:sp>
        <p:nvSpPr>
          <p:cNvPr id="6" name="Text 4"/>
          <p:cNvSpPr/>
          <p:nvPr/>
        </p:nvSpPr>
        <p:spPr>
          <a:xfrm>
            <a:off x="457200" y="914400"/>
            <a:ext cx="8229600" cy="411480"/>
          </a:xfrm>
          <a:prstGeom prst="rect">
            <a:avLst/>
          </a:prstGeom>
          <a:noFill/>
          <a:ln/>
        </p:spPr>
        <p:txBody>
          <a:bodyPr wrap="square" rtlCol="0" anchor="ctr"/>
          <a:lstStyle/>
          <a:p>
            <a:pPr indent="0" marL="0">
              <a:buNone/>
            </a:pPr>
            <a:r>
              <a:rPr lang="en-US" sz="1300" dirty="0">
                <a:solidFill>
                  <a:srgbClr val="212121"/>
                </a:solidFill>
              </a:rPr>
              <a:t>In a series LCR circuit, the same current I flows through all elements but voltages are out of phase.</a:t>
            </a:r>
            <a:endParaRPr lang="en-US" sz="1300" dirty="0"/>
          </a:p>
        </p:txBody>
      </p:sp>
      <p:sp>
        <p:nvSpPr>
          <p:cNvPr id="7" name="Shape 5"/>
          <p:cNvSpPr/>
          <p:nvPr/>
        </p:nvSpPr>
        <p:spPr>
          <a:xfrm>
            <a:off x="365760" y="1417320"/>
            <a:ext cx="2697480" cy="777240"/>
          </a:xfrm>
          <a:prstGeom prst="rect">
            <a:avLst/>
          </a:prstGeom>
          <a:solidFill>
            <a:srgbClr val="E3F2FD"/>
          </a:solidFill>
          <a:ln w="19050">
            <a:solidFill>
              <a:srgbClr val="1565C0"/>
            </a:solidFill>
            <a:prstDash val="solid"/>
          </a:ln>
        </p:spPr>
      </p:sp>
      <p:sp>
        <p:nvSpPr>
          <p:cNvPr id="8" name="Text 6"/>
          <p:cNvSpPr/>
          <p:nvPr/>
        </p:nvSpPr>
        <p:spPr>
          <a:xfrm>
            <a:off x="457200" y="1463040"/>
            <a:ext cx="2514600" cy="685800"/>
          </a:xfrm>
          <a:prstGeom prst="rect">
            <a:avLst/>
          </a:prstGeom>
          <a:noFill/>
          <a:ln/>
        </p:spPr>
        <p:txBody>
          <a:bodyPr wrap="square" rtlCol="0" anchor="ctr"/>
          <a:lstStyle/>
          <a:p>
            <a:pPr algn="ctr" indent="0" marL="0">
              <a:buNone/>
            </a:pPr>
            <a:r>
              <a:rPr lang="en-US" sz="1500" b="1" dirty="0">
                <a:solidFill>
                  <a:srgbClr val="0D47A1"/>
                </a:solidFill>
              </a:rPr>
              <a:t>X_L = ωL</a:t>
            </a:r>
            <a:endParaRPr lang="en-US" sz="1500" dirty="0"/>
          </a:p>
          <a:p>
            <a:pPr algn="ctr" indent="0" marL="0">
              <a:buNone/>
            </a:pPr>
            <a:r>
              <a:rPr lang="en-US" sz="1100" dirty="0">
                <a:solidFill>
                  <a:srgbClr val="546E7A"/>
                </a:solidFill>
              </a:rPr>
              <a:t>Inductive Reactance (Ω)</a:t>
            </a:r>
            <a:endParaRPr lang="en-US" sz="1500" dirty="0"/>
          </a:p>
        </p:txBody>
      </p:sp>
      <p:sp>
        <p:nvSpPr>
          <p:cNvPr id="9" name="Shape 7"/>
          <p:cNvSpPr/>
          <p:nvPr/>
        </p:nvSpPr>
        <p:spPr>
          <a:xfrm>
            <a:off x="3200400" y="1417320"/>
            <a:ext cx="2697480" cy="777240"/>
          </a:xfrm>
          <a:prstGeom prst="rect">
            <a:avLst/>
          </a:prstGeom>
          <a:solidFill>
            <a:srgbClr val="E3F2FD"/>
          </a:solidFill>
          <a:ln w="19050">
            <a:solidFill>
              <a:srgbClr val="1565C0"/>
            </a:solidFill>
            <a:prstDash val="solid"/>
          </a:ln>
        </p:spPr>
      </p:sp>
      <p:sp>
        <p:nvSpPr>
          <p:cNvPr id="10" name="Text 8"/>
          <p:cNvSpPr/>
          <p:nvPr/>
        </p:nvSpPr>
        <p:spPr>
          <a:xfrm>
            <a:off x="3291840" y="1463040"/>
            <a:ext cx="2514600" cy="685800"/>
          </a:xfrm>
          <a:prstGeom prst="rect">
            <a:avLst/>
          </a:prstGeom>
          <a:noFill/>
          <a:ln/>
        </p:spPr>
        <p:txBody>
          <a:bodyPr wrap="square" rtlCol="0" anchor="ctr"/>
          <a:lstStyle/>
          <a:p>
            <a:pPr algn="ctr" indent="0" marL="0">
              <a:buNone/>
            </a:pPr>
            <a:r>
              <a:rPr lang="en-US" sz="1500" b="1" dirty="0">
                <a:solidFill>
                  <a:srgbClr val="0D47A1"/>
                </a:solidFill>
              </a:rPr>
              <a:t>X_C = 1/(ωC)</a:t>
            </a:r>
            <a:endParaRPr lang="en-US" sz="1500" dirty="0"/>
          </a:p>
          <a:p>
            <a:pPr algn="ctr" indent="0" marL="0">
              <a:buNone/>
            </a:pPr>
            <a:r>
              <a:rPr lang="en-US" sz="1100" dirty="0">
                <a:solidFill>
                  <a:srgbClr val="546E7A"/>
                </a:solidFill>
              </a:rPr>
              <a:t>Capacitive Reactance (Ω)</a:t>
            </a:r>
            <a:endParaRPr lang="en-US" sz="1500" dirty="0"/>
          </a:p>
        </p:txBody>
      </p:sp>
      <p:sp>
        <p:nvSpPr>
          <p:cNvPr id="11" name="Shape 9"/>
          <p:cNvSpPr/>
          <p:nvPr/>
        </p:nvSpPr>
        <p:spPr>
          <a:xfrm>
            <a:off x="6035040" y="1417320"/>
            <a:ext cx="2697480" cy="777240"/>
          </a:xfrm>
          <a:prstGeom prst="rect">
            <a:avLst/>
          </a:prstGeom>
          <a:solidFill>
            <a:srgbClr val="E3F2FD"/>
          </a:solidFill>
          <a:ln w="19050">
            <a:solidFill>
              <a:srgbClr val="1565C0"/>
            </a:solidFill>
            <a:prstDash val="solid"/>
          </a:ln>
        </p:spPr>
      </p:sp>
      <p:sp>
        <p:nvSpPr>
          <p:cNvPr id="12" name="Text 10"/>
          <p:cNvSpPr/>
          <p:nvPr/>
        </p:nvSpPr>
        <p:spPr>
          <a:xfrm>
            <a:off x="6126480" y="1463040"/>
            <a:ext cx="2514600" cy="685800"/>
          </a:xfrm>
          <a:prstGeom prst="rect">
            <a:avLst/>
          </a:prstGeom>
          <a:noFill/>
          <a:ln/>
        </p:spPr>
        <p:txBody>
          <a:bodyPr wrap="square" rtlCol="0" anchor="ctr"/>
          <a:lstStyle/>
          <a:p>
            <a:pPr algn="ctr" indent="0" marL="0">
              <a:buNone/>
            </a:pPr>
            <a:r>
              <a:rPr lang="en-US" sz="1500" b="1" dirty="0">
                <a:solidFill>
                  <a:srgbClr val="0D47A1"/>
                </a:solidFill>
              </a:rPr>
              <a:t>Z = √(R² + (X_L−X_C)²)</a:t>
            </a:r>
            <a:endParaRPr lang="en-US" sz="1500" dirty="0"/>
          </a:p>
          <a:p>
            <a:pPr algn="ctr" indent="0" marL="0">
              <a:buNone/>
            </a:pPr>
            <a:r>
              <a:rPr lang="en-US" sz="1100" dirty="0">
                <a:solidFill>
                  <a:srgbClr val="546E7A"/>
                </a:solidFill>
              </a:rPr>
              <a:t>Impedance Z (Ω)</a:t>
            </a:r>
            <a:endParaRPr lang="en-US" sz="1500" dirty="0"/>
          </a:p>
        </p:txBody>
      </p:sp>
      <p:sp>
        <p:nvSpPr>
          <p:cNvPr id="13" name="Shape 11"/>
          <p:cNvSpPr/>
          <p:nvPr/>
        </p:nvSpPr>
        <p:spPr>
          <a:xfrm>
            <a:off x="365760" y="2331720"/>
            <a:ext cx="2697480" cy="777240"/>
          </a:xfrm>
          <a:prstGeom prst="rect">
            <a:avLst/>
          </a:prstGeom>
          <a:solidFill>
            <a:srgbClr val="E3F2FD"/>
          </a:solidFill>
          <a:ln w="19050">
            <a:solidFill>
              <a:srgbClr val="1565C0"/>
            </a:solidFill>
            <a:prstDash val="solid"/>
          </a:ln>
        </p:spPr>
      </p:sp>
      <p:sp>
        <p:nvSpPr>
          <p:cNvPr id="14" name="Text 12"/>
          <p:cNvSpPr/>
          <p:nvPr/>
        </p:nvSpPr>
        <p:spPr>
          <a:xfrm>
            <a:off x="457200" y="2377440"/>
            <a:ext cx="2514600" cy="685800"/>
          </a:xfrm>
          <a:prstGeom prst="rect">
            <a:avLst/>
          </a:prstGeom>
          <a:noFill/>
          <a:ln/>
        </p:spPr>
        <p:txBody>
          <a:bodyPr wrap="square" rtlCol="0" anchor="ctr"/>
          <a:lstStyle/>
          <a:p>
            <a:pPr algn="ctr" indent="0" marL="0">
              <a:buNone/>
            </a:pPr>
            <a:r>
              <a:rPr lang="en-US" sz="1500" b="1" dirty="0">
                <a:solidFill>
                  <a:srgbClr val="0D47A1"/>
                </a:solidFill>
              </a:rPr>
              <a:t>tan φ = (X_L−X_C)/R</a:t>
            </a:r>
            <a:endParaRPr lang="en-US" sz="1500" dirty="0"/>
          </a:p>
          <a:p>
            <a:pPr algn="ctr" indent="0" marL="0">
              <a:buNone/>
            </a:pPr>
            <a:r>
              <a:rPr lang="en-US" sz="1100" dirty="0">
                <a:solidFill>
                  <a:srgbClr val="546E7A"/>
                </a:solidFill>
              </a:rPr>
              <a:t>Phase Angle φ</a:t>
            </a:r>
            <a:endParaRPr lang="en-US" sz="1500" dirty="0"/>
          </a:p>
        </p:txBody>
      </p:sp>
      <p:sp>
        <p:nvSpPr>
          <p:cNvPr id="15" name="Shape 13"/>
          <p:cNvSpPr/>
          <p:nvPr/>
        </p:nvSpPr>
        <p:spPr>
          <a:xfrm>
            <a:off x="3200400" y="2331720"/>
            <a:ext cx="2697480" cy="777240"/>
          </a:xfrm>
          <a:prstGeom prst="rect">
            <a:avLst/>
          </a:prstGeom>
          <a:solidFill>
            <a:srgbClr val="E3F2FD"/>
          </a:solidFill>
          <a:ln w="19050">
            <a:solidFill>
              <a:srgbClr val="1565C0"/>
            </a:solidFill>
            <a:prstDash val="solid"/>
          </a:ln>
        </p:spPr>
      </p:sp>
      <p:sp>
        <p:nvSpPr>
          <p:cNvPr id="16" name="Text 14"/>
          <p:cNvSpPr/>
          <p:nvPr/>
        </p:nvSpPr>
        <p:spPr>
          <a:xfrm>
            <a:off x="3291840" y="2377440"/>
            <a:ext cx="2514600" cy="685800"/>
          </a:xfrm>
          <a:prstGeom prst="rect">
            <a:avLst/>
          </a:prstGeom>
          <a:noFill/>
          <a:ln/>
        </p:spPr>
        <p:txBody>
          <a:bodyPr wrap="square" rtlCol="0" anchor="ctr"/>
          <a:lstStyle/>
          <a:p>
            <a:pPr algn="ctr" indent="0" marL="0">
              <a:buNone/>
            </a:pPr>
            <a:r>
              <a:rPr lang="en-US" sz="1500" b="1" dirty="0">
                <a:solidFill>
                  <a:srgbClr val="0D47A1"/>
                </a:solidFill>
              </a:rPr>
              <a:t>I = V/Z</a:t>
            </a:r>
            <a:endParaRPr lang="en-US" sz="1500" dirty="0"/>
          </a:p>
          <a:p>
            <a:pPr algn="ctr" indent="0" marL="0">
              <a:buNone/>
            </a:pPr>
            <a:r>
              <a:rPr lang="en-US" sz="1100" dirty="0">
                <a:solidFill>
                  <a:srgbClr val="546E7A"/>
                </a:solidFill>
              </a:rPr>
              <a:t>Current (Ohm's Law for AC)</a:t>
            </a:r>
            <a:endParaRPr lang="en-US" sz="1500" dirty="0"/>
          </a:p>
        </p:txBody>
      </p:sp>
      <p:sp>
        <p:nvSpPr>
          <p:cNvPr id="17" name="Shape 15"/>
          <p:cNvSpPr/>
          <p:nvPr/>
        </p:nvSpPr>
        <p:spPr>
          <a:xfrm>
            <a:off x="6035040" y="2331720"/>
            <a:ext cx="2697480" cy="777240"/>
          </a:xfrm>
          <a:prstGeom prst="rect">
            <a:avLst/>
          </a:prstGeom>
          <a:solidFill>
            <a:srgbClr val="E3F2FD"/>
          </a:solidFill>
          <a:ln w="19050">
            <a:solidFill>
              <a:srgbClr val="1565C0"/>
            </a:solidFill>
            <a:prstDash val="solid"/>
          </a:ln>
        </p:spPr>
      </p:sp>
      <p:sp>
        <p:nvSpPr>
          <p:cNvPr id="18" name="Text 16"/>
          <p:cNvSpPr/>
          <p:nvPr/>
        </p:nvSpPr>
        <p:spPr>
          <a:xfrm>
            <a:off x="6126480" y="2377440"/>
            <a:ext cx="2514600" cy="685800"/>
          </a:xfrm>
          <a:prstGeom prst="rect">
            <a:avLst/>
          </a:prstGeom>
          <a:noFill/>
          <a:ln/>
        </p:spPr>
        <p:txBody>
          <a:bodyPr wrap="square" rtlCol="0" anchor="ctr"/>
          <a:lstStyle/>
          <a:p>
            <a:pPr algn="ctr" indent="0" marL="0">
              <a:buNone/>
            </a:pPr>
            <a:r>
              <a:rPr lang="en-US" sz="1500" b="1" dirty="0">
                <a:solidFill>
                  <a:srgbClr val="0D47A1"/>
                </a:solidFill>
              </a:rPr>
              <a:t>P = Vᵣₘₛ Iᵣₘₛ cos φ</a:t>
            </a:r>
            <a:endParaRPr lang="en-US" sz="1500" dirty="0"/>
          </a:p>
          <a:p>
            <a:pPr algn="ctr" indent="0" marL="0">
              <a:buNone/>
            </a:pPr>
            <a:r>
              <a:rPr lang="en-US" sz="1100" dirty="0">
                <a:solidFill>
                  <a:srgbClr val="546E7A"/>
                </a:solidFill>
              </a:rPr>
              <a:t>True Power (W)</a:t>
            </a:r>
            <a:endParaRPr lang="en-US" sz="1500" dirty="0"/>
          </a:p>
        </p:txBody>
      </p:sp>
      <p:sp>
        <p:nvSpPr>
          <p:cNvPr id="19" name="Shape 17"/>
          <p:cNvSpPr/>
          <p:nvPr/>
        </p:nvSpPr>
        <p:spPr>
          <a:xfrm>
            <a:off x="365760" y="3337560"/>
            <a:ext cx="8366760" cy="1572768"/>
          </a:xfrm>
          <a:prstGeom prst="rect">
            <a:avLst/>
          </a:prstGeom>
          <a:solidFill>
            <a:srgbClr val="FFF8E1"/>
          </a:solidFill>
          <a:ln w="12700">
            <a:solidFill>
              <a:srgbClr val="F9A825"/>
            </a:solidFill>
            <a:prstDash val="solid"/>
          </a:ln>
        </p:spPr>
      </p:sp>
      <p:sp>
        <p:nvSpPr>
          <p:cNvPr id="20" name="Text 18"/>
          <p:cNvSpPr/>
          <p:nvPr/>
        </p:nvSpPr>
        <p:spPr>
          <a:xfrm>
            <a:off x="502920" y="3401568"/>
            <a:ext cx="2743200" cy="320040"/>
          </a:xfrm>
          <a:prstGeom prst="rect">
            <a:avLst/>
          </a:prstGeom>
          <a:noFill/>
          <a:ln/>
        </p:spPr>
        <p:txBody>
          <a:bodyPr wrap="square" rtlCol="0" anchor="ctr"/>
          <a:lstStyle/>
          <a:p>
            <a:pPr indent="0" marL="0">
              <a:buNone/>
            </a:pPr>
            <a:r>
              <a:rPr lang="en-US" sz="1300" b="1" dirty="0">
                <a:solidFill>
                  <a:srgbClr val="0D1B3E"/>
                </a:solidFill>
              </a:rPr>
              <a:t>Impedance Triangle</a:t>
            </a:r>
            <a:endParaRPr lang="en-US" sz="1300" dirty="0"/>
          </a:p>
        </p:txBody>
      </p:sp>
      <p:sp>
        <p:nvSpPr>
          <p:cNvPr id="21" name="Text 19"/>
          <p:cNvSpPr/>
          <p:nvPr/>
        </p:nvSpPr>
        <p:spPr>
          <a:xfrm>
            <a:off x="502920" y="3749040"/>
            <a:ext cx="8046720" cy="1051560"/>
          </a:xfrm>
          <a:prstGeom prst="rect">
            <a:avLst/>
          </a:prstGeom>
          <a:noFill/>
          <a:ln/>
        </p:spPr>
        <p:txBody>
          <a:bodyPr wrap="square" rtlCol="0" anchor="ctr"/>
          <a:lstStyle/>
          <a:p>
            <a:pPr indent="0" marL="0">
              <a:buNone/>
            </a:pPr>
            <a:r>
              <a:rPr lang="en-US" sz="1300" dirty="0">
                <a:solidFill>
                  <a:srgbClr val="212121"/>
                </a:solidFill>
              </a:rPr>
              <a:t>• Hypotenuse = Z  |  Horizontal = R  |  Vertical = (X_L − X_C)
</a:t>
            </a:r>
            <a:endParaRPr lang="en-US" sz="1300" dirty="0"/>
          </a:p>
          <a:p>
            <a:pPr indent="0" marL="0">
              <a:buNone/>
            </a:pPr>
            <a:r>
              <a:rPr lang="en-US" sz="1300" dirty="0">
                <a:solidFill>
                  <a:srgbClr val="212121"/>
                </a:solidFill>
              </a:rPr>
              <a:t>• cos φ = R/Z  (Power Factor)    |    sin φ = (X_L−X_C)/Z
</a:t>
            </a:r>
            <a:endParaRPr lang="en-US" sz="1300" dirty="0"/>
          </a:p>
          <a:p>
            <a:pPr indent="0" marL="0">
              <a:buNone/>
            </a:pPr>
            <a:r>
              <a:rPr lang="en-US" sz="1300" dirty="0">
                <a:solidFill>
                  <a:srgbClr val="212121"/>
                </a:solidFill>
              </a:rPr>
              <a:t>• When X_L &gt; X_C: circuit is inductive (I lags V)   |   When X_C &gt; X_L: capacitive (I leads V)</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Resonance in LCR Circuit</a:t>
            </a:r>
            <a:endParaRPr lang="en-US" sz="2400" dirty="0"/>
          </a:p>
        </p:txBody>
      </p:sp>
      <p:sp>
        <p:nvSpPr>
          <p:cNvPr id="6" name="Text 4"/>
          <p:cNvSpPr/>
          <p:nvPr/>
        </p:nvSpPr>
        <p:spPr>
          <a:xfrm>
            <a:off x="457200" y="914400"/>
            <a:ext cx="8229600" cy="438912"/>
          </a:xfrm>
          <a:prstGeom prst="rect">
            <a:avLst/>
          </a:prstGeom>
          <a:noFill/>
          <a:ln/>
        </p:spPr>
        <p:txBody>
          <a:bodyPr wrap="square" rtlCol="0" anchor="ctr"/>
          <a:lstStyle/>
          <a:p>
            <a:pPr indent="0" marL="0">
              <a:buNone/>
            </a:pPr>
            <a:r>
              <a:rPr lang="en-US" sz="1400" dirty="0">
                <a:solidFill>
                  <a:srgbClr val="212121"/>
                </a:solidFill>
              </a:rPr>
              <a:t>Resonance occurs when X_L = X_C, making impedance purely resistive (Z = R, minimum) and current maximum.</a:t>
            </a:r>
            <a:endParaRPr lang="en-US" sz="1400" dirty="0"/>
          </a:p>
        </p:txBody>
      </p:sp>
      <p:sp>
        <p:nvSpPr>
          <p:cNvPr id="7" name="Shape 5"/>
          <p:cNvSpPr/>
          <p:nvPr/>
        </p:nvSpPr>
        <p:spPr>
          <a:xfrm>
            <a:off x="365760" y="1463040"/>
            <a:ext cx="2606040" cy="822960"/>
          </a:xfrm>
          <a:prstGeom prst="rect">
            <a:avLst/>
          </a:prstGeom>
          <a:solidFill>
            <a:srgbClr val="E3F2FD"/>
          </a:solidFill>
          <a:ln w="19050">
            <a:solidFill>
              <a:srgbClr val="1565C0"/>
            </a:solidFill>
            <a:prstDash val="solid"/>
          </a:ln>
        </p:spPr>
      </p:sp>
      <p:sp>
        <p:nvSpPr>
          <p:cNvPr id="8" name="Text 6"/>
          <p:cNvSpPr/>
          <p:nvPr/>
        </p:nvSpPr>
        <p:spPr>
          <a:xfrm>
            <a:off x="457200" y="1508760"/>
            <a:ext cx="2423160" cy="731520"/>
          </a:xfrm>
          <a:prstGeom prst="rect">
            <a:avLst/>
          </a:prstGeom>
          <a:noFill/>
          <a:ln/>
        </p:spPr>
        <p:txBody>
          <a:bodyPr wrap="square" rtlCol="0" anchor="ctr"/>
          <a:lstStyle/>
          <a:p>
            <a:pPr algn="ctr" indent="0" marL="0">
              <a:buNone/>
            </a:pPr>
            <a:r>
              <a:rPr lang="en-US" sz="1500" b="1" dirty="0">
                <a:solidFill>
                  <a:srgbClr val="0D47A1"/>
                </a:solidFill>
              </a:rPr>
              <a:t>ω₀ = 1/√(LC)</a:t>
            </a:r>
            <a:endParaRPr lang="en-US" sz="1500" dirty="0"/>
          </a:p>
          <a:p>
            <a:pPr algn="ctr" indent="0" marL="0">
              <a:buNone/>
            </a:pPr>
            <a:r>
              <a:rPr lang="en-US" sz="1100" dirty="0">
                <a:solidFill>
                  <a:srgbClr val="546E7A"/>
                </a:solidFill>
              </a:rPr>
              <a:t>Resonant Angular Frequency</a:t>
            </a:r>
            <a:endParaRPr lang="en-US" sz="1500" dirty="0"/>
          </a:p>
        </p:txBody>
      </p:sp>
      <p:sp>
        <p:nvSpPr>
          <p:cNvPr id="9" name="Shape 7"/>
          <p:cNvSpPr/>
          <p:nvPr/>
        </p:nvSpPr>
        <p:spPr>
          <a:xfrm>
            <a:off x="3108960" y="1463040"/>
            <a:ext cx="2606040" cy="822960"/>
          </a:xfrm>
          <a:prstGeom prst="rect">
            <a:avLst/>
          </a:prstGeom>
          <a:solidFill>
            <a:srgbClr val="E3F2FD"/>
          </a:solidFill>
          <a:ln w="19050">
            <a:solidFill>
              <a:srgbClr val="1565C0"/>
            </a:solidFill>
            <a:prstDash val="solid"/>
          </a:ln>
        </p:spPr>
      </p:sp>
      <p:sp>
        <p:nvSpPr>
          <p:cNvPr id="10" name="Text 8"/>
          <p:cNvSpPr/>
          <p:nvPr/>
        </p:nvSpPr>
        <p:spPr>
          <a:xfrm>
            <a:off x="3200400" y="1508760"/>
            <a:ext cx="2423160" cy="731520"/>
          </a:xfrm>
          <a:prstGeom prst="rect">
            <a:avLst/>
          </a:prstGeom>
          <a:noFill/>
          <a:ln/>
        </p:spPr>
        <p:txBody>
          <a:bodyPr wrap="square" rtlCol="0" anchor="ctr"/>
          <a:lstStyle/>
          <a:p>
            <a:pPr algn="ctr" indent="0" marL="0">
              <a:buNone/>
            </a:pPr>
            <a:r>
              <a:rPr lang="en-US" sz="1500" b="1" dirty="0">
                <a:solidFill>
                  <a:srgbClr val="0D47A1"/>
                </a:solidFill>
              </a:rPr>
              <a:t>f₀ = 1/(2π√LC)</a:t>
            </a:r>
            <a:endParaRPr lang="en-US" sz="1500" dirty="0"/>
          </a:p>
          <a:p>
            <a:pPr algn="ctr" indent="0" marL="0">
              <a:buNone/>
            </a:pPr>
            <a:r>
              <a:rPr lang="en-US" sz="1100" dirty="0">
                <a:solidFill>
                  <a:srgbClr val="546E7A"/>
                </a:solidFill>
              </a:rPr>
              <a:t>Resonant Frequency (Hz)</a:t>
            </a:r>
            <a:endParaRPr lang="en-US" sz="1500" dirty="0"/>
          </a:p>
        </p:txBody>
      </p:sp>
      <p:sp>
        <p:nvSpPr>
          <p:cNvPr id="11" name="Shape 9"/>
          <p:cNvSpPr/>
          <p:nvPr/>
        </p:nvSpPr>
        <p:spPr>
          <a:xfrm>
            <a:off x="5852160" y="1463040"/>
            <a:ext cx="2880360" cy="822960"/>
          </a:xfrm>
          <a:prstGeom prst="rect">
            <a:avLst/>
          </a:prstGeom>
          <a:solidFill>
            <a:srgbClr val="E3F2FD"/>
          </a:solidFill>
          <a:ln w="19050">
            <a:solidFill>
              <a:srgbClr val="1565C0"/>
            </a:solidFill>
            <a:prstDash val="solid"/>
          </a:ln>
        </p:spPr>
      </p:sp>
      <p:sp>
        <p:nvSpPr>
          <p:cNvPr id="12" name="Text 10"/>
          <p:cNvSpPr/>
          <p:nvPr/>
        </p:nvSpPr>
        <p:spPr>
          <a:xfrm>
            <a:off x="5943600" y="1508760"/>
            <a:ext cx="2697480" cy="731520"/>
          </a:xfrm>
          <a:prstGeom prst="rect">
            <a:avLst/>
          </a:prstGeom>
          <a:noFill/>
          <a:ln/>
        </p:spPr>
        <p:txBody>
          <a:bodyPr wrap="square" rtlCol="0" anchor="ctr"/>
          <a:lstStyle/>
          <a:p>
            <a:pPr algn="ctr" indent="0" marL="0">
              <a:buNone/>
            </a:pPr>
            <a:r>
              <a:rPr lang="en-US" sz="1500" b="1" dirty="0">
                <a:solidFill>
                  <a:srgbClr val="0D47A1"/>
                </a:solidFill>
              </a:rPr>
              <a:t>Q = ω₀L/R = 1/(ω₀CR)</a:t>
            </a:r>
            <a:endParaRPr lang="en-US" sz="1500" dirty="0"/>
          </a:p>
          <a:p>
            <a:pPr algn="ctr" indent="0" marL="0">
              <a:buNone/>
            </a:pPr>
            <a:r>
              <a:rPr lang="en-US" sz="1100" dirty="0">
                <a:solidFill>
                  <a:srgbClr val="546E7A"/>
                </a:solidFill>
              </a:rPr>
              <a:t>Quality Factor (Q-factor)</a:t>
            </a:r>
            <a:endParaRPr lang="en-US" sz="1500" dirty="0"/>
          </a:p>
        </p:txBody>
      </p:sp>
      <p:sp>
        <p:nvSpPr>
          <p:cNvPr id="13" name="Shape 11"/>
          <p:cNvSpPr/>
          <p:nvPr/>
        </p:nvSpPr>
        <p:spPr>
          <a:xfrm>
            <a:off x="365760" y="2423160"/>
            <a:ext cx="3931920" cy="749808"/>
          </a:xfrm>
          <a:prstGeom prst="rect">
            <a:avLst/>
          </a:prstGeom>
          <a:solidFill>
            <a:srgbClr val="E3F2FD"/>
          </a:solidFill>
          <a:ln w="19050">
            <a:solidFill>
              <a:srgbClr val="1565C0"/>
            </a:solidFill>
            <a:prstDash val="solid"/>
          </a:ln>
        </p:spPr>
      </p:sp>
      <p:sp>
        <p:nvSpPr>
          <p:cNvPr id="14" name="Text 12"/>
          <p:cNvSpPr/>
          <p:nvPr/>
        </p:nvSpPr>
        <p:spPr>
          <a:xfrm>
            <a:off x="457200" y="2468880"/>
            <a:ext cx="3749040" cy="658368"/>
          </a:xfrm>
          <a:prstGeom prst="rect">
            <a:avLst/>
          </a:prstGeom>
          <a:noFill/>
          <a:ln/>
        </p:spPr>
        <p:txBody>
          <a:bodyPr wrap="square" rtlCol="0" anchor="ctr"/>
          <a:lstStyle/>
          <a:p>
            <a:pPr algn="ctr" indent="0" marL="0">
              <a:buNone/>
            </a:pPr>
            <a:r>
              <a:rPr lang="en-US" sz="1500" b="1" dirty="0">
                <a:solidFill>
                  <a:srgbClr val="0D47A1"/>
                </a:solidFill>
              </a:rPr>
              <a:t>Bandwidth = R/L = ω₀/Q</a:t>
            </a:r>
            <a:endParaRPr lang="en-US" sz="1500" dirty="0"/>
          </a:p>
          <a:p>
            <a:pPr algn="ctr" indent="0" marL="0">
              <a:buNone/>
            </a:pPr>
            <a:r>
              <a:rPr lang="en-US" sz="1100" dirty="0">
                <a:solidFill>
                  <a:srgbClr val="546E7A"/>
                </a:solidFill>
              </a:rPr>
              <a:t>Bandwidth (Δω)</a:t>
            </a:r>
            <a:endParaRPr lang="en-US" sz="1500" dirty="0"/>
          </a:p>
        </p:txBody>
      </p:sp>
      <p:sp>
        <p:nvSpPr>
          <p:cNvPr id="15" name="Shape 13"/>
          <p:cNvSpPr/>
          <p:nvPr/>
        </p:nvSpPr>
        <p:spPr>
          <a:xfrm>
            <a:off x="4434840" y="2423160"/>
            <a:ext cx="4297680" cy="749808"/>
          </a:xfrm>
          <a:prstGeom prst="rect">
            <a:avLst/>
          </a:prstGeom>
          <a:solidFill>
            <a:srgbClr val="E3F2FD"/>
          </a:solidFill>
          <a:ln w="19050">
            <a:solidFill>
              <a:srgbClr val="1565C0"/>
            </a:solidFill>
            <a:prstDash val="solid"/>
          </a:ln>
        </p:spPr>
      </p:sp>
      <p:sp>
        <p:nvSpPr>
          <p:cNvPr id="16" name="Text 14"/>
          <p:cNvSpPr/>
          <p:nvPr/>
        </p:nvSpPr>
        <p:spPr>
          <a:xfrm>
            <a:off x="4526280" y="2468880"/>
            <a:ext cx="4114800" cy="658368"/>
          </a:xfrm>
          <a:prstGeom prst="rect">
            <a:avLst/>
          </a:prstGeom>
          <a:noFill/>
          <a:ln/>
        </p:spPr>
        <p:txBody>
          <a:bodyPr wrap="square" rtlCol="0" anchor="ctr"/>
          <a:lstStyle/>
          <a:p>
            <a:pPr algn="ctr" indent="0" marL="0">
              <a:buNone/>
            </a:pPr>
            <a:r>
              <a:rPr lang="en-US" sz="1500" b="1" dirty="0">
                <a:solidFill>
                  <a:srgbClr val="0D47A1"/>
                </a:solidFill>
              </a:rPr>
              <a:t>I_max = V/R  (at resonance)</a:t>
            </a:r>
            <a:endParaRPr lang="en-US" sz="1500" dirty="0"/>
          </a:p>
          <a:p>
            <a:pPr algn="ctr" indent="0" marL="0">
              <a:buNone/>
            </a:pPr>
            <a:r>
              <a:rPr lang="en-US" sz="1100" dirty="0">
                <a:solidFill>
                  <a:srgbClr val="546E7A"/>
                </a:solidFill>
              </a:rPr>
              <a:t>Maximum Current</a:t>
            </a:r>
            <a:endParaRPr lang="en-US" sz="1500" dirty="0"/>
          </a:p>
        </p:txBody>
      </p:sp>
      <p:sp>
        <p:nvSpPr>
          <p:cNvPr id="17" name="Shape 15"/>
          <p:cNvSpPr/>
          <p:nvPr/>
        </p:nvSpPr>
        <p:spPr>
          <a:xfrm>
            <a:off x="365760" y="3291840"/>
            <a:ext cx="8366760" cy="1627632"/>
          </a:xfrm>
          <a:prstGeom prst="rect">
            <a:avLst/>
          </a:prstGeom>
          <a:solidFill>
            <a:srgbClr val="E3F2FD"/>
          </a:solidFill>
          <a:ln w="12700">
            <a:solidFill>
              <a:srgbClr val="1565C0"/>
            </a:solidFill>
            <a:prstDash val="solid"/>
          </a:ln>
        </p:spPr>
      </p:sp>
      <p:sp>
        <p:nvSpPr>
          <p:cNvPr id="18" name="Text 16"/>
          <p:cNvSpPr/>
          <p:nvPr/>
        </p:nvSpPr>
        <p:spPr>
          <a:xfrm>
            <a:off x="548640" y="3355848"/>
            <a:ext cx="4572000" cy="320040"/>
          </a:xfrm>
          <a:prstGeom prst="rect">
            <a:avLst/>
          </a:prstGeom>
          <a:noFill/>
          <a:ln/>
        </p:spPr>
        <p:txBody>
          <a:bodyPr wrap="square" rtlCol="0" anchor="ctr"/>
          <a:lstStyle/>
          <a:p>
            <a:pPr indent="0" marL="0">
              <a:buNone/>
            </a:pPr>
            <a:r>
              <a:rPr lang="en-US" sz="1300" b="1" dirty="0">
                <a:solidFill>
                  <a:srgbClr val="0D1B3E"/>
                </a:solidFill>
              </a:rPr>
              <a:t>Properties at Resonance:</a:t>
            </a:r>
            <a:endParaRPr lang="en-US" sz="1300" dirty="0"/>
          </a:p>
        </p:txBody>
      </p:sp>
      <p:sp>
        <p:nvSpPr>
          <p:cNvPr id="19" name="Text 17"/>
          <p:cNvSpPr/>
          <p:nvPr/>
        </p:nvSpPr>
        <p:spPr>
          <a:xfrm>
            <a:off x="548640" y="3685032"/>
            <a:ext cx="8046720" cy="1170432"/>
          </a:xfrm>
          <a:prstGeom prst="rect">
            <a:avLst/>
          </a:prstGeom>
          <a:noFill/>
          <a:ln/>
        </p:spPr>
        <p:txBody>
          <a:bodyPr wrap="square" rtlCol="0" anchor="ctr"/>
          <a:lstStyle/>
          <a:p>
            <a:pPr indent="0" marL="0">
              <a:buNone/>
            </a:pPr>
            <a:r>
              <a:rPr lang="en-US" sz="1300" dirty="0">
                <a:solidFill>
                  <a:srgbClr val="212121"/>
                </a:solidFill>
              </a:rPr>
              <a:t>• Z is minimum (= R);  Current I is maximum
</a:t>
            </a:r>
            <a:endParaRPr lang="en-US" sz="1300" dirty="0"/>
          </a:p>
          <a:p>
            <a:pPr indent="0" marL="0">
              <a:buNone/>
            </a:pPr>
            <a:r>
              <a:rPr lang="en-US" sz="1300" dirty="0">
                <a:solidFill>
                  <a:srgbClr val="212121"/>
                </a:solidFill>
              </a:rPr>
              <a:t>• Power factor cos φ = 1  (purely resistive behaviour)
</a:t>
            </a:r>
            <a:endParaRPr lang="en-US" sz="1300" dirty="0"/>
          </a:p>
          <a:p>
            <a:pPr indent="0" marL="0">
              <a:buNone/>
            </a:pPr>
            <a:r>
              <a:rPr lang="en-US" sz="1300" dirty="0">
                <a:solidFill>
                  <a:srgbClr val="212121"/>
                </a:solidFill>
              </a:rPr>
              <a:t>• Voltage across L and C may be much larger than supply voltage (voltage magnification = Q)
</a:t>
            </a:r>
            <a:endParaRPr lang="en-US" sz="1300" dirty="0"/>
          </a:p>
          <a:p>
            <a:pPr indent="0" marL="0">
              <a:buNone/>
            </a:pPr>
            <a:r>
              <a:rPr lang="en-US" sz="1300" dirty="0">
                <a:solidFill>
                  <a:srgbClr val="212121"/>
                </a:solidFill>
              </a:rPr>
              <a:t>• Higher Q → sharper resonance peak → better frequency selectivity (used in radio tuning)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Power in AC Circuits</a:t>
            </a:r>
            <a:endParaRPr lang="en-US" sz="2400" dirty="0"/>
          </a:p>
        </p:txBody>
      </p:sp>
      <p:sp>
        <p:nvSpPr>
          <p:cNvPr id="6" name="Shape 4"/>
          <p:cNvSpPr/>
          <p:nvPr/>
        </p:nvSpPr>
        <p:spPr>
          <a:xfrm>
            <a:off x="365760" y="914400"/>
            <a:ext cx="8366760" cy="1188720"/>
          </a:xfrm>
          <a:prstGeom prst="rect">
            <a:avLst/>
          </a:prstGeom>
          <a:solidFill>
            <a:srgbClr val="FAFAFA"/>
          </a:solidFill>
          <a:ln w="19050">
            <a:solidFill>
              <a:srgbClr val="2E7D32"/>
            </a:solidFill>
            <a:prstDash val="solid"/>
          </a:ln>
        </p:spPr>
      </p:sp>
      <p:sp>
        <p:nvSpPr>
          <p:cNvPr id="7" name="Shape 5"/>
          <p:cNvSpPr/>
          <p:nvPr/>
        </p:nvSpPr>
        <p:spPr>
          <a:xfrm>
            <a:off x="365760" y="914400"/>
            <a:ext cx="73152" cy="1188720"/>
          </a:xfrm>
          <a:prstGeom prst="rect">
            <a:avLst/>
          </a:prstGeom>
          <a:solidFill>
            <a:srgbClr val="2E7D32"/>
          </a:solidFill>
          <a:ln w="12700">
            <a:solidFill>
              <a:srgbClr val="2E7D32"/>
            </a:solidFill>
            <a:prstDash val="solid"/>
          </a:ln>
        </p:spPr>
      </p:sp>
      <p:sp>
        <p:nvSpPr>
          <p:cNvPr id="8" name="Text 6"/>
          <p:cNvSpPr/>
          <p:nvPr/>
        </p:nvSpPr>
        <p:spPr>
          <a:xfrm>
            <a:off x="548640" y="969264"/>
            <a:ext cx="4114800" cy="329184"/>
          </a:xfrm>
          <a:prstGeom prst="rect">
            <a:avLst/>
          </a:prstGeom>
          <a:noFill/>
          <a:ln/>
        </p:spPr>
        <p:txBody>
          <a:bodyPr wrap="square" lIns="0" tIns="0" rIns="0" bIns="0" rtlCol="0" anchor="ctr"/>
          <a:lstStyle/>
          <a:p>
            <a:pPr indent="0" marL="0">
              <a:buNone/>
            </a:pPr>
            <a:r>
              <a:rPr lang="en-US" sz="1400" b="1" dirty="0">
                <a:solidFill>
                  <a:srgbClr val="2E7D32"/>
                </a:solidFill>
              </a:rPr>
              <a:t>True (Active) Power (P)</a:t>
            </a:r>
            <a:endParaRPr lang="en-US" sz="1400" dirty="0"/>
          </a:p>
        </p:txBody>
      </p:sp>
      <p:sp>
        <p:nvSpPr>
          <p:cNvPr id="9" name="Text 7"/>
          <p:cNvSpPr/>
          <p:nvPr/>
        </p:nvSpPr>
        <p:spPr>
          <a:xfrm>
            <a:off x="548640" y="1316736"/>
            <a:ext cx="6858000" cy="274320"/>
          </a:xfrm>
          <a:prstGeom prst="rect">
            <a:avLst/>
          </a:prstGeom>
          <a:noFill/>
          <a:ln/>
        </p:spPr>
        <p:txBody>
          <a:bodyPr wrap="square" rtlCol="0" anchor="ctr"/>
          <a:lstStyle/>
          <a:p>
            <a:pPr indent="0" marL="0">
              <a:buNone/>
            </a:pPr>
            <a:r>
              <a:rPr lang="en-US" sz="1200" dirty="0">
                <a:solidFill>
                  <a:srgbClr val="0D47A1"/>
                </a:solidFill>
              </a:rPr>
              <a:t>Formula: P = Vᵣₘₛ Iᵣₘₛ cos φ   |   Unit: Watt (W)</a:t>
            </a:r>
            <a:endParaRPr lang="en-US" sz="1200" dirty="0"/>
          </a:p>
        </p:txBody>
      </p:sp>
      <p:sp>
        <p:nvSpPr>
          <p:cNvPr id="10" name="Text 8"/>
          <p:cNvSpPr/>
          <p:nvPr/>
        </p:nvSpPr>
        <p:spPr>
          <a:xfrm>
            <a:off x="548640" y="1609344"/>
            <a:ext cx="7863840" cy="384048"/>
          </a:xfrm>
          <a:prstGeom prst="rect">
            <a:avLst/>
          </a:prstGeom>
          <a:noFill/>
          <a:ln/>
        </p:spPr>
        <p:txBody>
          <a:bodyPr wrap="square" rtlCol="0" anchor="ctr"/>
          <a:lstStyle/>
          <a:p>
            <a:pPr indent="0" marL="0">
              <a:buNone/>
            </a:pPr>
            <a:r>
              <a:rPr lang="en-US" sz="1200" dirty="0">
                <a:solidFill>
                  <a:srgbClr val="212121"/>
                </a:solidFill>
              </a:rPr>
              <a:t>Actual power consumed; does useful work. Maximum when cos φ = 1.</a:t>
            </a:r>
            <a:endParaRPr lang="en-US" sz="1200" dirty="0"/>
          </a:p>
        </p:txBody>
      </p:sp>
      <p:sp>
        <p:nvSpPr>
          <p:cNvPr id="11" name="Shape 9"/>
          <p:cNvSpPr/>
          <p:nvPr/>
        </p:nvSpPr>
        <p:spPr>
          <a:xfrm>
            <a:off x="365760" y="2240280"/>
            <a:ext cx="8366760" cy="1188720"/>
          </a:xfrm>
          <a:prstGeom prst="rect">
            <a:avLst/>
          </a:prstGeom>
          <a:solidFill>
            <a:srgbClr val="FAFAFA"/>
          </a:solidFill>
          <a:ln w="19050">
            <a:solidFill>
              <a:srgbClr val="1565C0"/>
            </a:solidFill>
            <a:prstDash val="solid"/>
          </a:ln>
        </p:spPr>
      </p:sp>
      <p:sp>
        <p:nvSpPr>
          <p:cNvPr id="12" name="Shape 10"/>
          <p:cNvSpPr/>
          <p:nvPr/>
        </p:nvSpPr>
        <p:spPr>
          <a:xfrm>
            <a:off x="365760" y="2240280"/>
            <a:ext cx="73152" cy="1188720"/>
          </a:xfrm>
          <a:prstGeom prst="rect">
            <a:avLst/>
          </a:prstGeom>
          <a:solidFill>
            <a:srgbClr val="1565C0"/>
          </a:solidFill>
          <a:ln w="12700">
            <a:solidFill>
              <a:srgbClr val="1565C0"/>
            </a:solidFill>
            <a:prstDash val="solid"/>
          </a:ln>
        </p:spPr>
      </p:sp>
      <p:sp>
        <p:nvSpPr>
          <p:cNvPr id="13" name="Text 11"/>
          <p:cNvSpPr/>
          <p:nvPr/>
        </p:nvSpPr>
        <p:spPr>
          <a:xfrm>
            <a:off x="548640" y="2295144"/>
            <a:ext cx="4114800" cy="329184"/>
          </a:xfrm>
          <a:prstGeom prst="rect">
            <a:avLst/>
          </a:prstGeom>
          <a:noFill/>
          <a:ln/>
        </p:spPr>
        <p:txBody>
          <a:bodyPr wrap="square" lIns="0" tIns="0" rIns="0" bIns="0" rtlCol="0" anchor="ctr"/>
          <a:lstStyle/>
          <a:p>
            <a:pPr indent="0" marL="0">
              <a:buNone/>
            </a:pPr>
            <a:r>
              <a:rPr lang="en-US" sz="1400" b="1" dirty="0">
                <a:solidFill>
                  <a:srgbClr val="1565C0"/>
                </a:solidFill>
              </a:rPr>
              <a:t>Reactive Power (Q)</a:t>
            </a:r>
            <a:endParaRPr lang="en-US" sz="1400" dirty="0"/>
          </a:p>
        </p:txBody>
      </p:sp>
      <p:sp>
        <p:nvSpPr>
          <p:cNvPr id="14" name="Text 12"/>
          <p:cNvSpPr/>
          <p:nvPr/>
        </p:nvSpPr>
        <p:spPr>
          <a:xfrm>
            <a:off x="548640" y="2642616"/>
            <a:ext cx="6858000" cy="274320"/>
          </a:xfrm>
          <a:prstGeom prst="rect">
            <a:avLst/>
          </a:prstGeom>
          <a:noFill/>
          <a:ln/>
        </p:spPr>
        <p:txBody>
          <a:bodyPr wrap="square" rtlCol="0" anchor="ctr"/>
          <a:lstStyle/>
          <a:p>
            <a:pPr indent="0" marL="0">
              <a:buNone/>
            </a:pPr>
            <a:r>
              <a:rPr lang="en-US" sz="1200" dirty="0">
                <a:solidFill>
                  <a:srgbClr val="0D47A1"/>
                </a:solidFill>
              </a:rPr>
              <a:t>Formula: Q = Vᵣₘₛ Iᵣₘₛ sin φ   |   Unit: VAR</a:t>
            </a:r>
            <a:endParaRPr lang="en-US" sz="1200" dirty="0"/>
          </a:p>
        </p:txBody>
      </p:sp>
      <p:sp>
        <p:nvSpPr>
          <p:cNvPr id="15" name="Text 13"/>
          <p:cNvSpPr/>
          <p:nvPr/>
        </p:nvSpPr>
        <p:spPr>
          <a:xfrm>
            <a:off x="548640" y="2935224"/>
            <a:ext cx="7863840" cy="384048"/>
          </a:xfrm>
          <a:prstGeom prst="rect">
            <a:avLst/>
          </a:prstGeom>
          <a:noFill/>
          <a:ln/>
        </p:spPr>
        <p:txBody>
          <a:bodyPr wrap="square" rtlCol="0" anchor="ctr"/>
          <a:lstStyle/>
          <a:p>
            <a:pPr indent="0" marL="0">
              <a:buNone/>
            </a:pPr>
            <a:r>
              <a:rPr lang="en-US" sz="1200" dirty="0">
                <a:solidFill>
                  <a:srgbClr val="212121"/>
                </a:solidFill>
              </a:rPr>
              <a:t>Energy oscillating between source and L/C; does no net work.</a:t>
            </a:r>
            <a:endParaRPr lang="en-US" sz="1200" dirty="0"/>
          </a:p>
        </p:txBody>
      </p:sp>
      <p:sp>
        <p:nvSpPr>
          <p:cNvPr id="16" name="Shape 14"/>
          <p:cNvSpPr/>
          <p:nvPr/>
        </p:nvSpPr>
        <p:spPr>
          <a:xfrm>
            <a:off x="365760" y="3566160"/>
            <a:ext cx="8366760" cy="1188720"/>
          </a:xfrm>
          <a:prstGeom prst="rect">
            <a:avLst/>
          </a:prstGeom>
          <a:solidFill>
            <a:srgbClr val="FAFAFA"/>
          </a:solidFill>
          <a:ln w="19050">
            <a:solidFill>
              <a:srgbClr val="6A1B9A"/>
            </a:solidFill>
            <a:prstDash val="solid"/>
          </a:ln>
        </p:spPr>
      </p:sp>
      <p:sp>
        <p:nvSpPr>
          <p:cNvPr id="17" name="Shape 15"/>
          <p:cNvSpPr/>
          <p:nvPr/>
        </p:nvSpPr>
        <p:spPr>
          <a:xfrm>
            <a:off x="365760" y="3566160"/>
            <a:ext cx="73152" cy="1188720"/>
          </a:xfrm>
          <a:prstGeom prst="rect">
            <a:avLst/>
          </a:prstGeom>
          <a:solidFill>
            <a:srgbClr val="6A1B9A"/>
          </a:solidFill>
          <a:ln w="12700">
            <a:solidFill>
              <a:srgbClr val="6A1B9A"/>
            </a:solidFill>
            <a:prstDash val="solid"/>
          </a:ln>
        </p:spPr>
      </p:sp>
      <p:sp>
        <p:nvSpPr>
          <p:cNvPr id="18" name="Text 16"/>
          <p:cNvSpPr/>
          <p:nvPr/>
        </p:nvSpPr>
        <p:spPr>
          <a:xfrm>
            <a:off x="548640" y="3621024"/>
            <a:ext cx="4114800" cy="329184"/>
          </a:xfrm>
          <a:prstGeom prst="rect">
            <a:avLst/>
          </a:prstGeom>
          <a:noFill/>
          <a:ln/>
        </p:spPr>
        <p:txBody>
          <a:bodyPr wrap="square" lIns="0" tIns="0" rIns="0" bIns="0" rtlCol="0" anchor="ctr"/>
          <a:lstStyle/>
          <a:p>
            <a:pPr indent="0" marL="0">
              <a:buNone/>
            </a:pPr>
            <a:r>
              <a:rPr lang="en-US" sz="1400" b="1" dirty="0">
                <a:solidFill>
                  <a:srgbClr val="6A1B9A"/>
                </a:solidFill>
              </a:rPr>
              <a:t>Apparent Power (S)</a:t>
            </a:r>
            <a:endParaRPr lang="en-US" sz="1400" dirty="0"/>
          </a:p>
        </p:txBody>
      </p:sp>
      <p:sp>
        <p:nvSpPr>
          <p:cNvPr id="19" name="Text 17"/>
          <p:cNvSpPr/>
          <p:nvPr/>
        </p:nvSpPr>
        <p:spPr>
          <a:xfrm>
            <a:off x="548640" y="3968496"/>
            <a:ext cx="6858000" cy="274320"/>
          </a:xfrm>
          <a:prstGeom prst="rect">
            <a:avLst/>
          </a:prstGeom>
          <a:noFill/>
          <a:ln/>
        </p:spPr>
        <p:txBody>
          <a:bodyPr wrap="square" rtlCol="0" anchor="ctr"/>
          <a:lstStyle/>
          <a:p>
            <a:pPr indent="0" marL="0">
              <a:buNone/>
            </a:pPr>
            <a:r>
              <a:rPr lang="en-US" sz="1200" dirty="0">
                <a:solidFill>
                  <a:srgbClr val="0D47A1"/>
                </a:solidFill>
              </a:rPr>
              <a:t>Formula: S = Vᵣₘₛ × Iᵣₘₛ   |   Unit: Volt-Ampere (VA)</a:t>
            </a:r>
            <a:endParaRPr lang="en-US" sz="1200" dirty="0"/>
          </a:p>
        </p:txBody>
      </p:sp>
      <p:sp>
        <p:nvSpPr>
          <p:cNvPr id="20" name="Text 18"/>
          <p:cNvSpPr/>
          <p:nvPr/>
        </p:nvSpPr>
        <p:spPr>
          <a:xfrm>
            <a:off x="548640" y="4261104"/>
            <a:ext cx="7863840" cy="384048"/>
          </a:xfrm>
          <a:prstGeom prst="rect">
            <a:avLst/>
          </a:prstGeom>
          <a:noFill/>
          <a:ln/>
        </p:spPr>
        <p:txBody>
          <a:bodyPr wrap="square" rtlCol="0" anchor="ctr"/>
          <a:lstStyle/>
          <a:p>
            <a:pPr indent="0" marL="0">
              <a:buNone/>
            </a:pPr>
            <a:r>
              <a:rPr lang="en-US" sz="1200" dirty="0">
                <a:solidFill>
                  <a:srgbClr val="212121"/>
                </a:solidFill>
              </a:rPr>
              <a:t>Total power supplied by source; S² = P² + Q².</a:t>
            </a:r>
            <a:endParaRPr lang="en-US" sz="1200" dirty="0"/>
          </a:p>
        </p:txBody>
      </p:sp>
      <p:sp>
        <p:nvSpPr>
          <p:cNvPr id="21" name="Shape 19"/>
          <p:cNvSpPr/>
          <p:nvPr/>
        </p:nvSpPr>
        <p:spPr>
          <a:xfrm>
            <a:off x="365760" y="4828032"/>
            <a:ext cx="8366760" cy="201168"/>
          </a:xfrm>
          <a:prstGeom prst="rect">
            <a:avLst/>
          </a:prstGeom>
          <a:solidFill>
            <a:srgbClr val="0D1B3E"/>
          </a:solidFill>
          <a:ln w="12700">
            <a:solidFill>
              <a:srgbClr val="0D1B3E"/>
            </a:solidFill>
            <a:prstDash val="solid"/>
          </a:ln>
        </p:spPr>
      </p:sp>
      <p:sp>
        <p:nvSpPr>
          <p:cNvPr id="22" name="Text 20"/>
          <p:cNvSpPr/>
          <p:nvPr/>
        </p:nvSpPr>
        <p:spPr>
          <a:xfrm>
            <a:off x="457200" y="4828032"/>
            <a:ext cx="8229600" cy="201168"/>
          </a:xfrm>
          <a:prstGeom prst="rect">
            <a:avLst/>
          </a:prstGeom>
          <a:noFill/>
          <a:ln/>
        </p:spPr>
        <p:txBody>
          <a:bodyPr wrap="square" lIns="0" tIns="0" rIns="0" bIns="0" rtlCol="0" anchor="ctr"/>
          <a:lstStyle/>
          <a:p>
            <a:pPr indent="0" marL="0">
              <a:buNone/>
            </a:pPr>
            <a:r>
              <a:rPr lang="en-US" sz="1100" dirty="0">
                <a:solidFill>
                  <a:srgbClr val="FFFFFF"/>
                </a:solidFill>
              </a:rPr>
              <a:t>Power Factor  cos φ = P/S = R/Z   |   Ideal circuits: cos φ = 1   |   Pure L or C: cos φ = 0 (wattless current)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Transformers</a:t>
            </a:r>
            <a:endParaRPr lang="en-US" sz="2400" dirty="0"/>
          </a:p>
        </p:txBody>
      </p:sp>
      <p:sp>
        <p:nvSpPr>
          <p:cNvPr id="6" name="Text 4"/>
          <p:cNvSpPr/>
          <p:nvPr/>
        </p:nvSpPr>
        <p:spPr>
          <a:xfrm>
            <a:off x="457200" y="914400"/>
            <a:ext cx="8229600" cy="420624"/>
          </a:xfrm>
          <a:prstGeom prst="rect">
            <a:avLst/>
          </a:prstGeom>
          <a:noFill/>
          <a:ln/>
        </p:spPr>
        <p:txBody>
          <a:bodyPr wrap="square" rtlCol="0" anchor="ctr"/>
          <a:lstStyle/>
          <a:p>
            <a:pPr indent="0" marL="0">
              <a:buNone/>
            </a:pPr>
            <a:r>
              <a:rPr lang="en-US" sz="1300" dirty="0">
                <a:solidFill>
                  <a:srgbClr val="212121"/>
                </a:solidFill>
              </a:rPr>
              <a:t>A transformer transfers electrical energy between two circuits through mutual induction, changing voltage and current levels.</a:t>
            </a:r>
            <a:endParaRPr lang="en-US" sz="1300" dirty="0"/>
          </a:p>
        </p:txBody>
      </p:sp>
      <p:sp>
        <p:nvSpPr>
          <p:cNvPr id="7" name="Shape 5"/>
          <p:cNvSpPr/>
          <p:nvPr/>
        </p:nvSpPr>
        <p:spPr>
          <a:xfrm>
            <a:off x="365760" y="1426464"/>
            <a:ext cx="3840480" cy="777240"/>
          </a:xfrm>
          <a:prstGeom prst="rect">
            <a:avLst/>
          </a:prstGeom>
          <a:solidFill>
            <a:srgbClr val="E3F2FD"/>
          </a:solidFill>
          <a:ln w="19050">
            <a:solidFill>
              <a:srgbClr val="1565C0"/>
            </a:solidFill>
            <a:prstDash val="solid"/>
          </a:ln>
        </p:spPr>
      </p:sp>
      <p:sp>
        <p:nvSpPr>
          <p:cNvPr id="8" name="Text 6"/>
          <p:cNvSpPr/>
          <p:nvPr/>
        </p:nvSpPr>
        <p:spPr>
          <a:xfrm>
            <a:off x="457200" y="1472184"/>
            <a:ext cx="3657600" cy="685800"/>
          </a:xfrm>
          <a:prstGeom prst="rect">
            <a:avLst/>
          </a:prstGeom>
          <a:noFill/>
          <a:ln/>
        </p:spPr>
        <p:txBody>
          <a:bodyPr wrap="square" rtlCol="0" anchor="ctr"/>
          <a:lstStyle/>
          <a:p>
            <a:pPr algn="ctr" indent="0" marL="0">
              <a:buNone/>
            </a:pPr>
            <a:r>
              <a:rPr lang="en-US" sz="1500" b="1" dirty="0">
                <a:solidFill>
                  <a:srgbClr val="0D47A1"/>
                </a:solidFill>
              </a:rPr>
              <a:t>Vₛ/Vₚ = Nₛ/Nₚ = Iₚ/Iₛ</a:t>
            </a:r>
            <a:endParaRPr lang="en-US" sz="1500" dirty="0"/>
          </a:p>
          <a:p>
            <a:pPr algn="ctr" indent="0" marL="0">
              <a:buNone/>
            </a:pPr>
            <a:r>
              <a:rPr lang="en-US" sz="1100" dirty="0">
                <a:solidFill>
                  <a:srgbClr val="546E7A"/>
                </a:solidFill>
              </a:rPr>
              <a:t>Transformer Ratio (ideal)</a:t>
            </a:r>
            <a:endParaRPr lang="en-US" sz="1500" dirty="0"/>
          </a:p>
        </p:txBody>
      </p:sp>
      <p:sp>
        <p:nvSpPr>
          <p:cNvPr id="9" name="Shape 7"/>
          <p:cNvSpPr/>
          <p:nvPr/>
        </p:nvSpPr>
        <p:spPr>
          <a:xfrm>
            <a:off x="4343400" y="1426464"/>
            <a:ext cx="4389120" cy="777240"/>
          </a:xfrm>
          <a:prstGeom prst="rect">
            <a:avLst/>
          </a:prstGeom>
          <a:solidFill>
            <a:srgbClr val="E3F2FD"/>
          </a:solidFill>
          <a:ln w="19050">
            <a:solidFill>
              <a:srgbClr val="1565C0"/>
            </a:solidFill>
            <a:prstDash val="solid"/>
          </a:ln>
        </p:spPr>
      </p:sp>
      <p:sp>
        <p:nvSpPr>
          <p:cNvPr id="10" name="Text 8"/>
          <p:cNvSpPr/>
          <p:nvPr/>
        </p:nvSpPr>
        <p:spPr>
          <a:xfrm>
            <a:off x="4434840" y="1472184"/>
            <a:ext cx="4206240" cy="685800"/>
          </a:xfrm>
          <a:prstGeom prst="rect">
            <a:avLst/>
          </a:prstGeom>
          <a:noFill/>
          <a:ln/>
        </p:spPr>
        <p:txBody>
          <a:bodyPr wrap="square" rtlCol="0" anchor="ctr"/>
          <a:lstStyle/>
          <a:p>
            <a:pPr algn="ctr" indent="0" marL="0">
              <a:buNone/>
            </a:pPr>
            <a:r>
              <a:rPr lang="en-US" sz="1500" b="1" dirty="0">
                <a:solidFill>
                  <a:srgbClr val="0D47A1"/>
                </a:solidFill>
              </a:rPr>
              <a:t>η = (Pₒᵤₜ/Pᵢₙ) × 100%</a:t>
            </a:r>
            <a:endParaRPr lang="en-US" sz="1500" dirty="0"/>
          </a:p>
          <a:p>
            <a:pPr algn="ctr" indent="0" marL="0">
              <a:buNone/>
            </a:pPr>
            <a:r>
              <a:rPr lang="en-US" sz="1100" dirty="0">
                <a:solidFill>
                  <a:srgbClr val="546E7A"/>
                </a:solidFill>
              </a:rPr>
              <a:t>Efficiency η</a:t>
            </a:r>
            <a:endParaRPr lang="en-US" sz="1500" dirty="0"/>
          </a:p>
        </p:txBody>
      </p:sp>
      <p:sp>
        <p:nvSpPr>
          <p:cNvPr id="11" name="Shape 9"/>
          <p:cNvSpPr/>
          <p:nvPr/>
        </p:nvSpPr>
        <p:spPr>
          <a:xfrm>
            <a:off x="365760" y="2331720"/>
            <a:ext cx="4069080" cy="1298448"/>
          </a:xfrm>
          <a:prstGeom prst="rect">
            <a:avLst/>
          </a:prstGeom>
          <a:solidFill>
            <a:srgbClr val="E3F2FD"/>
          </a:solidFill>
          <a:ln w="12700">
            <a:solidFill>
              <a:srgbClr val="1565C0"/>
            </a:solidFill>
            <a:prstDash val="solid"/>
          </a:ln>
        </p:spPr>
      </p:sp>
      <p:sp>
        <p:nvSpPr>
          <p:cNvPr id="12" name="Text 10"/>
          <p:cNvSpPr/>
          <p:nvPr/>
        </p:nvSpPr>
        <p:spPr>
          <a:xfrm>
            <a:off x="502920" y="2377440"/>
            <a:ext cx="3749040" cy="329184"/>
          </a:xfrm>
          <a:prstGeom prst="rect">
            <a:avLst/>
          </a:prstGeom>
          <a:noFill/>
          <a:ln/>
        </p:spPr>
        <p:txBody>
          <a:bodyPr wrap="square" rtlCol="0" anchor="ctr"/>
          <a:lstStyle/>
          <a:p>
            <a:pPr indent="0" marL="0">
              <a:buNone/>
            </a:pPr>
            <a:r>
              <a:rPr lang="en-US" sz="1300" b="1" dirty="0">
                <a:solidFill>
                  <a:srgbClr val="1565C0"/>
                </a:solidFill>
              </a:rPr>
              <a:t>Step-Up Transformer</a:t>
            </a:r>
            <a:endParaRPr lang="en-US" sz="1300" dirty="0"/>
          </a:p>
        </p:txBody>
      </p:sp>
      <p:sp>
        <p:nvSpPr>
          <p:cNvPr id="13" name="Text 11"/>
          <p:cNvSpPr/>
          <p:nvPr/>
        </p:nvSpPr>
        <p:spPr>
          <a:xfrm>
            <a:off x="502920" y="2724912"/>
            <a:ext cx="3794760" cy="822960"/>
          </a:xfrm>
          <a:prstGeom prst="rect">
            <a:avLst/>
          </a:prstGeom>
          <a:noFill/>
          <a:ln/>
        </p:spPr>
        <p:txBody>
          <a:bodyPr wrap="square" rtlCol="0" anchor="ctr"/>
          <a:lstStyle/>
          <a:p>
            <a:pPr indent="0" marL="0">
              <a:buNone/>
            </a:pPr>
            <a:r>
              <a:rPr lang="en-US" sz="1200" dirty="0">
                <a:solidFill>
                  <a:srgbClr val="212121"/>
                </a:solidFill>
              </a:rPr>
              <a:t>Nₛ &gt; Nₚ  →  Vₛ &gt; Vₚ  →  Iₛ &lt; Iₚ</a:t>
            </a:r>
            <a:endParaRPr lang="en-US" sz="1200" dirty="0"/>
          </a:p>
          <a:p>
            <a:pPr indent="0" marL="0">
              <a:buNone/>
            </a:pPr>
            <a:r>
              <a:rPr lang="en-US" sz="1200" dirty="0">
                <a:solidFill>
                  <a:srgbClr val="212121"/>
                </a:solidFill>
              </a:rPr>
              <a:t>Used in power transmission to increase voltage and reduce current (less I²R losses).</a:t>
            </a:r>
            <a:endParaRPr lang="en-US" sz="1200" dirty="0"/>
          </a:p>
        </p:txBody>
      </p:sp>
      <p:sp>
        <p:nvSpPr>
          <p:cNvPr id="14" name="Shape 12"/>
          <p:cNvSpPr/>
          <p:nvPr/>
        </p:nvSpPr>
        <p:spPr>
          <a:xfrm>
            <a:off x="4663440" y="2331720"/>
            <a:ext cx="4069080" cy="1298448"/>
          </a:xfrm>
          <a:prstGeom prst="rect">
            <a:avLst/>
          </a:prstGeom>
          <a:solidFill>
            <a:srgbClr val="FFF8E1"/>
          </a:solidFill>
          <a:ln w="12700">
            <a:solidFill>
              <a:srgbClr val="F9A825"/>
            </a:solidFill>
            <a:prstDash val="solid"/>
          </a:ln>
        </p:spPr>
      </p:sp>
      <p:sp>
        <p:nvSpPr>
          <p:cNvPr id="15" name="Text 13"/>
          <p:cNvSpPr/>
          <p:nvPr/>
        </p:nvSpPr>
        <p:spPr>
          <a:xfrm>
            <a:off x="4800600" y="2377440"/>
            <a:ext cx="3749040" cy="329184"/>
          </a:xfrm>
          <a:prstGeom prst="rect">
            <a:avLst/>
          </a:prstGeom>
          <a:noFill/>
          <a:ln/>
        </p:spPr>
        <p:txBody>
          <a:bodyPr wrap="square" rtlCol="0" anchor="ctr"/>
          <a:lstStyle/>
          <a:p>
            <a:pPr indent="0" marL="0">
              <a:buNone/>
            </a:pPr>
            <a:r>
              <a:rPr lang="en-US" sz="1300" b="1" dirty="0">
                <a:solidFill>
                  <a:srgbClr val="0D1B3E"/>
                </a:solidFill>
              </a:rPr>
              <a:t>Step-Down Transformer</a:t>
            </a:r>
            <a:endParaRPr lang="en-US" sz="1300" dirty="0"/>
          </a:p>
        </p:txBody>
      </p:sp>
      <p:sp>
        <p:nvSpPr>
          <p:cNvPr id="16" name="Text 14"/>
          <p:cNvSpPr/>
          <p:nvPr/>
        </p:nvSpPr>
        <p:spPr>
          <a:xfrm>
            <a:off x="4800600" y="2724912"/>
            <a:ext cx="3794760" cy="822960"/>
          </a:xfrm>
          <a:prstGeom prst="rect">
            <a:avLst/>
          </a:prstGeom>
          <a:noFill/>
          <a:ln/>
        </p:spPr>
        <p:txBody>
          <a:bodyPr wrap="square" rtlCol="0" anchor="ctr"/>
          <a:lstStyle/>
          <a:p>
            <a:pPr indent="0" marL="0">
              <a:buNone/>
            </a:pPr>
            <a:r>
              <a:rPr lang="en-US" sz="1200" dirty="0">
                <a:solidFill>
                  <a:srgbClr val="212121"/>
                </a:solidFill>
              </a:rPr>
              <a:t>Nₛ &lt; Nₚ  →  Vₛ &lt; Vₚ  →  Iₛ &gt; Iₚ</a:t>
            </a:r>
            <a:endParaRPr lang="en-US" sz="1200" dirty="0"/>
          </a:p>
          <a:p>
            <a:pPr indent="0" marL="0">
              <a:buNone/>
            </a:pPr>
            <a:r>
              <a:rPr lang="en-US" sz="1200" dirty="0">
                <a:solidFill>
                  <a:srgbClr val="212121"/>
                </a:solidFill>
              </a:rPr>
              <a:t>Used at consumer end to reduce high transmission voltage to safe usable levels (230 V).</a:t>
            </a:r>
            <a:endParaRPr lang="en-US" sz="1200" dirty="0"/>
          </a:p>
        </p:txBody>
      </p:sp>
      <p:sp>
        <p:nvSpPr>
          <p:cNvPr id="17" name="Shape 15"/>
          <p:cNvSpPr/>
          <p:nvPr/>
        </p:nvSpPr>
        <p:spPr>
          <a:xfrm>
            <a:off x="365760" y="3749040"/>
            <a:ext cx="8366760" cy="1143000"/>
          </a:xfrm>
          <a:prstGeom prst="rect">
            <a:avLst/>
          </a:prstGeom>
          <a:solidFill>
            <a:srgbClr val="FFEBEE"/>
          </a:solidFill>
          <a:ln w="12700">
            <a:solidFill>
              <a:srgbClr val="C62828"/>
            </a:solidFill>
            <a:prstDash val="solid"/>
          </a:ln>
        </p:spPr>
      </p:sp>
      <p:sp>
        <p:nvSpPr>
          <p:cNvPr id="18" name="Text 16"/>
          <p:cNvSpPr/>
          <p:nvPr/>
        </p:nvSpPr>
        <p:spPr>
          <a:xfrm>
            <a:off x="548640" y="3794760"/>
            <a:ext cx="4572000" cy="301752"/>
          </a:xfrm>
          <a:prstGeom prst="rect">
            <a:avLst/>
          </a:prstGeom>
          <a:noFill/>
          <a:ln/>
        </p:spPr>
        <p:txBody>
          <a:bodyPr wrap="square" rtlCol="0" anchor="ctr"/>
          <a:lstStyle/>
          <a:p>
            <a:pPr indent="0" marL="0">
              <a:buNone/>
            </a:pPr>
            <a:r>
              <a:rPr lang="en-US" sz="1300" b="1" dirty="0">
                <a:solidFill>
                  <a:srgbClr val="C62828"/>
                </a:solidFill>
              </a:rPr>
              <a:t>Energy Losses in Transformers:</a:t>
            </a:r>
            <a:endParaRPr lang="en-US" sz="1300" dirty="0"/>
          </a:p>
        </p:txBody>
      </p:sp>
      <p:sp>
        <p:nvSpPr>
          <p:cNvPr id="19" name="Text 17"/>
          <p:cNvSpPr/>
          <p:nvPr/>
        </p:nvSpPr>
        <p:spPr>
          <a:xfrm>
            <a:off x="548640" y="4114800"/>
            <a:ext cx="8046720" cy="685800"/>
          </a:xfrm>
          <a:prstGeom prst="rect">
            <a:avLst/>
          </a:prstGeom>
          <a:noFill/>
          <a:ln/>
        </p:spPr>
        <p:txBody>
          <a:bodyPr wrap="square" rtlCol="0" anchor="ctr"/>
          <a:lstStyle/>
          <a:p>
            <a:pPr indent="0" marL="0">
              <a:buNone/>
            </a:pPr>
            <a:r>
              <a:rPr lang="en-US" sz="1200" dirty="0">
                <a:solidFill>
                  <a:srgbClr val="212121"/>
                </a:solidFill>
              </a:rPr>
              <a:t>• Copper loss (I²R heating in windings)  </a:t>
            </a:r>
            <a:pPr indent="0" marL="0">
              <a:buNone/>
            </a:pPr>
            <a:r>
              <a:rPr lang="en-US" sz="1200" dirty="0">
                <a:solidFill>
                  <a:srgbClr val="212121"/>
                </a:solidFill>
              </a:rPr>
              <a:t>• Iron/Core loss (hysteresis + eddy currents — minimised by laminated silicon steel core)
</a:t>
            </a:r>
            <a:endParaRPr lang="en-US" sz="1200" dirty="0"/>
          </a:p>
          <a:p>
            <a:pPr indent="0" marL="0">
              <a:buNone/>
            </a:pPr>
            <a:r>
              <a:rPr lang="en-US" sz="1200" dirty="0">
                <a:solidFill>
                  <a:srgbClr val="212121"/>
                </a:solidFill>
              </a:rPr>
              <a:t>• Flux leakage (not all flux links both coils)  </a:t>
            </a:r>
            <a:pPr indent="0" marL="0">
              <a:buNone/>
            </a:pPr>
            <a:r>
              <a:rPr lang="en-US" sz="1200" dirty="0">
                <a:solidFill>
                  <a:srgbClr val="212121"/>
                </a:solidFill>
              </a:rPr>
              <a:t>• Dielectric losses in insulation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sp>
      <p:sp>
        <p:nvSpPr>
          <p:cNvPr id="3" name="Shape 1"/>
          <p:cNvSpPr/>
          <p:nvPr/>
        </p:nvSpPr>
        <p:spPr>
          <a:xfrm>
            <a:off x="0" y="5088636"/>
            <a:ext cx="9144000" cy="54864"/>
          </a:xfrm>
          <a:prstGeom prst="rect">
            <a:avLst/>
          </a:prstGeom>
          <a:solidFill>
            <a:srgbClr val="1565C0"/>
          </a:solidFill>
          <a:ln/>
        </p:spPr>
      </p:sp>
      <p:sp>
        <p:nvSpPr>
          <p:cNvPr id="4" name="Shape 2"/>
          <p:cNvSpPr/>
          <p:nvPr/>
        </p:nvSpPr>
        <p:spPr>
          <a:xfrm>
            <a:off x="0" y="54864"/>
            <a:ext cx="9144000" cy="658368"/>
          </a:xfrm>
          <a:prstGeom prst="rect">
            <a:avLst/>
          </a:prstGeom>
          <a:solidFill>
            <a:srgbClr val="0D1B3E"/>
          </a:solidFill>
          <a:ln/>
        </p:spPr>
      </p:sp>
      <p:sp>
        <p:nvSpPr>
          <p:cNvPr id="5" name="Text 3"/>
          <p:cNvSpPr/>
          <p:nvPr/>
        </p:nvSpPr>
        <p:spPr>
          <a:xfrm>
            <a:off x="365760" y="54864"/>
            <a:ext cx="8412480" cy="65836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Real-World Applications</a:t>
            </a:r>
            <a:endParaRPr lang="en-US" sz="2400" dirty="0"/>
          </a:p>
        </p:txBody>
      </p:sp>
      <p:sp>
        <p:nvSpPr>
          <p:cNvPr id="6" name="Shape 4"/>
          <p:cNvSpPr/>
          <p:nvPr/>
        </p:nvSpPr>
        <p:spPr>
          <a:xfrm>
            <a:off x="365760" y="914400"/>
            <a:ext cx="4160520" cy="1207008"/>
          </a:xfrm>
          <a:prstGeom prst="rect">
            <a:avLst/>
          </a:prstGeom>
          <a:solidFill>
            <a:srgbClr val="FAFAFA"/>
          </a:solidFill>
          <a:ln w="19050">
            <a:solidFill>
              <a:srgbClr val="1565C0"/>
            </a:solidFill>
            <a:prstDash val="solid"/>
          </a:ln>
        </p:spPr>
      </p:sp>
      <p:sp>
        <p:nvSpPr>
          <p:cNvPr id="7" name="Shape 5"/>
          <p:cNvSpPr/>
          <p:nvPr/>
        </p:nvSpPr>
        <p:spPr>
          <a:xfrm>
            <a:off x="457200" y="1143000"/>
            <a:ext cx="685800" cy="685800"/>
          </a:xfrm>
          <a:prstGeom prst="ellipse">
            <a:avLst/>
          </a:prstGeom>
          <a:solidFill>
            <a:srgbClr val="1565C0"/>
          </a:solidFill>
          <a:ln w="12700">
            <a:solidFill>
              <a:srgbClr val="1565C0"/>
            </a:solidFill>
            <a:prstDash val="solid"/>
          </a:ln>
        </p:spPr>
      </p:sp>
      <p:sp>
        <p:nvSpPr>
          <p:cNvPr id="8" name="Text 6"/>
          <p:cNvSpPr/>
          <p:nvPr/>
        </p:nvSpPr>
        <p:spPr>
          <a:xfrm>
            <a:off x="457200" y="1143000"/>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1261872" y="969264"/>
            <a:ext cx="3154680" cy="347472"/>
          </a:xfrm>
          <a:prstGeom prst="rect">
            <a:avLst/>
          </a:prstGeom>
          <a:noFill/>
          <a:ln/>
        </p:spPr>
        <p:txBody>
          <a:bodyPr wrap="square" lIns="0" tIns="0" rIns="0" bIns="0" rtlCol="0" anchor="ctr"/>
          <a:lstStyle/>
          <a:p>
            <a:pPr indent="0" marL="0">
              <a:buNone/>
            </a:pPr>
            <a:r>
              <a:rPr lang="en-US" sz="1300" b="1" dirty="0">
                <a:solidFill>
                  <a:srgbClr val="1565C0"/>
                </a:solidFill>
              </a:rPr>
              <a:t>Power Grids</a:t>
            </a:r>
            <a:endParaRPr lang="en-US" sz="1300" dirty="0"/>
          </a:p>
        </p:txBody>
      </p:sp>
      <p:sp>
        <p:nvSpPr>
          <p:cNvPr id="10" name="Text 8"/>
          <p:cNvSpPr/>
          <p:nvPr/>
        </p:nvSpPr>
        <p:spPr>
          <a:xfrm>
            <a:off x="1261872" y="1316736"/>
            <a:ext cx="3154680" cy="713232"/>
          </a:xfrm>
          <a:prstGeom prst="rect">
            <a:avLst/>
          </a:prstGeom>
          <a:noFill/>
          <a:ln/>
        </p:spPr>
        <p:txBody>
          <a:bodyPr wrap="square" rtlCol="0" anchor="ctr"/>
          <a:lstStyle/>
          <a:p>
            <a:pPr indent="0" marL="0">
              <a:buNone/>
            </a:pPr>
            <a:r>
              <a:rPr lang="en-US" sz="1150" dirty="0">
                <a:solidFill>
                  <a:srgbClr val="212121"/>
                </a:solidFill>
              </a:rPr>
              <a:t>Step-up transformers (400 kV) minimise transmission losses; step-down brings 230V to homes.</a:t>
            </a:r>
            <a:endParaRPr lang="en-US" sz="1150" dirty="0"/>
          </a:p>
        </p:txBody>
      </p:sp>
      <p:sp>
        <p:nvSpPr>
          <p:cNvPr id="11" name="Shape 9"/>
          <p:cNvSpPr/>
          <p:nvPr/>
        </p:nvSpPr>
        <p:spPr>
          <a:xfrm>
            <a:off x="4754880" y="914400"/>
            <a:ext cx="4160520" cy="1207008"/>
          </a:xfrm>
          <a:prstGeom prst="rect">
            <a:avLst/>
          </a:prstGeom>
          <a:solidFill>
            <a:srgbClr val="FAFAFA"/>
          </a:solidFill>
          <a:ln w="19050">
            <a:solidFill>
              <a:srgbClr val="7B1FA2"/>
            </a:solidFill>
            <a:prstDash val="solid"/>
          </a:ln>
        </p:spPr>
      </p:sp>
      <p:sp>
        <p:nvSpPr>
          <p:cNvPr id="12" name="Shape 10"/>
          <p:cNvSpPr/>
          <p:nvPr/>
        </p:nvSpPr>
        <p:spPr>
          <a:xfrm>
            <a:off x="4846320" y="1143000"/>
            <a:ext cx="685800" cy="685800"/>
          </a:xfrm>
          <a:prstGeom prst="ellipse">
            <a:avLst/>
          </a:prstGeom>
          <a:solidFill>
            <a:srgbClr val="7B1FA2"/>
          </a:solidFill>
          <a:ln w="12700">
            <a:solidFill>
              <a:srgbClr val="7B1FA2"/>
            </a:solidFill>
            <a:prstDash val="solid"/>
          </a:ln>
        </p:spPr>
      </p:sp>
      <p:sp>
        <p:nvSpPr>
          <p:cNvPr id="13" name="Text 11"/>
          <p:cNvSpPr/>
          <p:nvPr/>
        </p:nvSpPr>
        <p:spPr>
          <a:xfrm>
            <a:off x="4846320" y="1143000"/>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5650992" y="969264"/>
            <a:ext cx="3154680" cy="347472"/>
          </a:xfrm>
          <a:prstGeom prst="rect">
            <a:avLst/>
          </a:prstGeom>
          <a:noFill/>
          <a:ln/>
        </p:spPr>
        <p:txBody>
          <a:bodyPr wrap="square" lIns="0" tIns="0" rIns="0" bIns="0" rtlCol="0" anchor="ctr"/>
          <a:lstStyle/>
          <a:p>
            <a:pPr indent="0" marL="0">
              <a:buNone/>
            </a:pPr>
            <a:r>
              <a:rPr lang="en-US" sz="1300" b="1" dirty="0">
                <a:solidFill>
                  <a:srgbClr val="7B1FA2"/>
                </a:solidFill>
              </a:rPr>
              <a:t>Radio Tuning</a:t>
            </a:r>
            <a:endParaRPr lang="en-US" sz="1300" dirty="0"/>
          </a:p>
        </p:txBody>
      </p:sp>
      <p:sp>
        <p:nvSpPr>
          <p:cNvPr id="15" name="Text 13"/>
          <p:cNvSpPr/>
          <p:nvPr/>
        </p:nvSpPr>
        <p:spPr>
          <a:xfrm>
            <a:off x="5650992" y="1316736"/>
            <a:ext cx="3154680" cy="713232"/>
          </a:xfrm>
          <a:prstGeom prst="rect">
            <a:avLst/>
          </a:prstGeom>
          <a:noFill/>
          <a:ln/>
        </p:spPr>
        <p:txBody>
          <a:bodyPr wrap="square" rtlCol="0" anchor="ctr"/>
          <a:lstStyle/>
          <a:p>
            <a:pPr indent="0" marL="0">
              <a:buNone/>
            </a:pPr>
            <a:r>
              <a:rPr lang="en-US" sz="1150" dirty="0">
                <a:solidFill>
                  <a:srgbClr val="212121"/>
                </a:solidFill>
              </a:rPr>
              <a:t>Variable capacitor tunes the resonant frequency of an LCR circuit to select a station.</a:t>
            </a:r>
            <a:endParaRPr lang="en-US" sz="1150" dirty="0"/>
          </a:p>
        </p:txBody>
      </p:sp>
      <p:sp>
        <p:nvSpPr>
          <p:cNvPr id="16" name="Shape 14"/>
          <p:cNvSpPr/>
          <p:nvPr/>
        </p:nvSpPr>
        <p:spPr>
          <a:xfrm>
            <a:off x="365760" y="2267712"/>
            <a:ext cx="4160520" cy="1207008"/>
          </a:xfrm>
          <a:prstGeom prst="rect">
            <a:avLst/>
          </a:prstGeom>
          <a:solidFill>
            <a:srgbClr val="FAFAFA"/>
          </a:solidFill>
          <a:ln w="19050">
            <a:solidFill>
              <a:srgbClr val="C62828"/>
            </a:solidFill>
            <a:prstDash val="solid"/>
          </a:ln>
        </p:spPr>
      </p:sp>
      <p:sp>
        <p:nvSpPr>
          <p:cNvPr id="17" name="Shape 15"/>
          <p:cNvSpPr/>
          <p:nvPr/>
        </p:nvSpPr>
        <p:spPr>
          <a:xfrm>
            <a:off x="457200" y="2496312"/>
            <a:ext cx="685800" cy="685800"/>
          </a:xfrm>
          <a:prstGeom prst="ellipse">
            <a:avLst/>
          </a:prstGeom>
          <a:solidFill>
            <a:srgbClr val="C62828"/>
          </a:solidFill>
          <a:ln w="12700">
            <a:solidFill>
              <a:srgbClr val="C62828"/>
            </a:solidFill>
            <a:prstDash val="solid"/>
          </a:ln>
        </p:spPr>
      </p:sp>
      <p:sp>
        <p:nvSpPr>
          <p:cNvPr id="18" name="Text 16"/>
          <p:cNvSpPr/>
          <p:nvPr/>
        </p:nvSpPr>
        <p:spPr>
          <a:xfrm>
            <a:off x="457200" y="2496312"/>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1261872" y="2322576"/>
            <a:ext cx="3154680" cy="347472"/>
          </a:xfrm>
          <a:prstGeom prst="rect">
            <a:avLst/>
          </a:prstGeom>
          <a:noFill/>
          <a:ln/>
        </p:spPr>
        <p:txBody>
          <a:bodyPr wrap="square" lIns="0" tIns="0" rIns="0" bIns="0" rtlCol="0" anchor="ctr"/>
          <a:lstStyle/>
          <a:p>
            <a:pPr indent="0" marL="0">
              <a:buNone/>
            </a:pPr>
            <a:r>
              <a:rPr lang="en-US" sz="1300" b="1" dirty="0">
                <a:solidFill>
                  <a:srgbClr val="C62828"/>
                </a:solidFill>
              </a:rPr>
              <a:t>Induction Heating</a:t>
            </a:r>
            <a:endParaRPr lang="en-US" sz="1300" dirty="0"/>
          </a:p>
        </p:txBody>
      </p:sp>
      <p:sp>
        <p:nvSpPr>
          <p:cNvPr id="20" name="Text 18"/>
          <p:cNvSpPr/>
          <p:nvPr/>
        </p:nvSpPr>
        <p:spPr>
          <a:xfrm>
            <a:off x="1261872" y="2670048"/>
            <a:ext cx="3154680" cy="713232"/>
          </a:xfrm>
          <a:prstGeom prst="rect">
            <a:avLst/>
          </a:prstGeom>
          <a:noFill/>
          <a:ln/>
        </p:spPr>
        <p:txBody>
          <a:bodyPr wrap="square" rtlCol="0" anchor="ctr"/>
          <a:lstStyle/>
          <a:p>
            <a:pPr indent="0" marL="0">
              <a:buNone/>
            </a:pPr>
            <a:r>
              <a:rPr lang="en-US" sz="1150" dirty="0">
                <a:solidFill>
                  <a:srgbClr val="212121"/>
                </a:solidFill>
              </a:rPr>
              <a:t>Eddy currents in a metal workpiece generate heat for welding, melting, and hardening steel.</a:t>
            </a:r>
            <a:endParaRPr lang="en-US" sz="1150" dirty="0"/>
          </a:p>
        </p:txBody>
      </p:sp>
      <p:sp>
        <p:nvSpPr>
          <p:cNvPr id="21" name="Shape 19"/>
          <p:cNvSpPr/>
          <p:nvPr/>
        </p:nvSpPr>
        <p:spPr>
          <a:xfrm>
            <a:off x="4754880" y="2267712"/>
            <a:ext cx="4160520" cy="1207008"/>
          </a:xfrm>
          <a:prstGeom prst="rect">
            <a:avLst/>
          </a:prstGeom>
          <a:solidFill>
            <a:srgbClr val="FAFAFA"/>
          </a:solidFill>
          <a:ln w="19050">
            <a:solidFill>
              <a:srgbClr val="2E7D32"/>
            </a:solidFill>
            <a:prstDash val="solid"/>
          </a:ln>
        </p:spPr>
      </p:sp>
      <p:sp>
        <p:nvSpPr>
          <p:cNvPr id="22" name="Shape 20"/>
          <p:cNvSpPr/>
          <p:nvPr/>
        </p:nvSpPr>
        <p:spPr>
          <a:xfrm>
            <a:off x="4846320" y="2496312"/>
            <a:ext cx="685800" cy="685800"/>
          </a:xfrm>
          <a:prstGeom prst="ellipse">
            <a:avLst/>
          </a:prstGeom>
          <a:solidFill>
            <a:srgbClr val="2E7D32"/>
          </a:solidFill>
          <a:ln w="12700">
            <a:solidFill>
              <a:srgbClr val="2E7D32"/>
            </a:solidFill>
            <a:prstDash val="solid"/>
          </a:ln>
        </p:spPr>
      </p:sp>
      <p:sp>
        <p:nvSpPr>
          <p:cNvPr id="23" name="Text 21"/>
          <p:cNvSpPr/>
          <p:nvPr/>
        </p:nvSpPr>
        <p:spPr>
          <a:xfrm>
            <a:off x="4846320" y="2496312"/>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5650992" y="2322576"/>
            <a:ext cx="3154680" cy="347472"/>
          </a:xfrm>
          <a:prstGeom prst="rect">
            <a:avLst/>
          </a:prstGeom>
          <a:noFill/>
          <a:ln/>
        </p:spPr>
        <p:txBody>
          <a:bodyPr wrap="square" lIns="0" tIns="0" rIns="0" bIns="0" rtlCol="0" anchor="ctr"/>
          <a:lstStyle/>
          <a:p>
            <a:pPr indent="0" marL="0">
              <a:buNone/>
            </a:pPr>
            <a:r>
              <a:rPr lang="en-US" sz="1300" b="1" dirty="0">
                <a:solidFill>
                  <a:srgbClr val="2E7D32"/>
                </a:solidFill>
              </a:rPr>
              <a:t>Maglev / Braking</a:t>
            </a:r>
            <a:endParaRPr lang="en-US" sz="1300" dirty="0"/>
          </a:p>
        </p:txBody>
      </p:sp>
      <p:sp>
        <p:nvSpPr>
          <p:cNvPr id="25" name="Text 23"/>
          <p:cNvSpPr/>
          <p:nvPr/>
        </p:nvSpPr>
        <p:spPr>
          <a:xfrm>
            <a:off x="5650992" y="2670048"/>
            <a:ext cx="3154680" cy="713232"/>
          </a:xfrm>
          <a:prstGeom prst="rect">
            <a:avLst/>
          </a:prstGeom>
          <a:noFill/>
          <a:ln/>
        </p:spPr>
        <p:txBody>
          <a:bodyPr wrap="square" rtlCol="0" anchor="ctr"/>
          <a:lstStyle/>
          <a:p>
            <a:pPr indent="0" marL="0">
              <a:buNone/>
            </a:pPr>
            <a:r>
              <a:rPr lang="en-US" sz="1150" dirty="0">
                <a:solidFill>
                  <a:srgbClr val="212121"/>
                </a:solidFill>
              </a:rPr>
              <a:t>Eddy current braking in high-speed trains provides smooth, contact-free deceleration.</a:t>
            </a:r>
            <a:endParaRPr lang="en-US" sz="1150" dirty="0"/>
          </a:p>
        </p:txBody>
      </p:sp>
      <p:sp>
        <p:nvSpPr>
          <p:cNvPr id="26" name="Shape 24"/>
          <p:cNvSpPr/>
          <p:nvPr/>
        </p:nvSpPr>
        <p:spPr>
          <a:xfrm>
            <a:off x="365760" y="3621024"/>
            <a:ext cx="4160520" cy="1207008"/>
          </a:xfrm>
          <a:prstGeom prst="rect">
            <a:avLst/>
          </a:prstGeom>
          <a:solidFill>
            <a:srgbClr val="FAFAFA"/>
          </a:solidFill>
          <a:ln w="19050">
            <a:solidFill>
              <a:srgbClr val="E65100"/>
            </a:solidFill>
            <a:prstDash val="solid"/>
          </a:ln>
        </p:spPr>
      </p:sp>
      <p:sp>
        <p:nvSpPr>
          <p:cNvPr id="27" name="Shape 25"/>
          <p:cNvSpPr/>
          <p:nvPr/>
        </p:nvSpPr>
        <p:spPr>
          <a:xfrm>
            <a:off x="457200" y="3849624"/>
            <a:ext cx="685800" cy="685800"/>
          </a:xfrm>
          <a:prstGeom prst="ellipse">
            <a:avLst/>
          </a:prstGeom>
          <a:solidFill>
            <a:srgbClr val="E65100"/>
          </a:solidFill>
          <a:ln w="12700">
            <a:solidFill>
              <a:srgbClr val="E65100"/>
            </a:solidFill>
            <a:prstDash val="solid"/>
          </a:ln>
        </p:spPr>
      </p:sp>
      <p:sp>
        <p:nvSpPr>
          <p:cNvPr id="28" name="Text 26"/>
          <p:cNvSpPr/>
          <p:nvPr/>
        </p:nvSpPr>
        <p:spPr>
          <a:xfrm>
            <a:off x="457200" y="3849624"/>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9" name="Text 27"/>
          <p:cNvSpPr/>
          <p:nvPr/>
        </p:nvSpPr>
        <p:spPr>
          <a:xfrm>
            <a:off x="1261872" y="3675888"/>
            <a:ext cx="3154680" cy="347472"/>
          </a:xfrm>
          <a:prstGeom prst="rect">
            <a:avLst/>
          </a:prstGeom>
          <a:noFill/>
          <a:ln/>
        </p:spPr>
        <p:txBody>
          <a:bodyPr wrap="square" lIns="0" tIns="0" rIns="0" bIns="0" rtlCol="0" anchor="ctr"/>
          <a:lstStyle/>
          <a:p>
            <a:pPr indent="0" marL="0">
              <a:buNone/>
            </a:pPr>
            <a:r>
              <a:rPr lang="en-US" sz="1300" b="1" dirty="0">
                <a:solidFill>
                  <a:srgbClr val="E65100"/>
                </a:solidFill>
              </a:rPr>
              <a:t>Electric Motors</a:t>
            </a:r>
            <a:endParaRPr lang="en-US" sz="1300" dirty="0"/>
          </a:p>
        </p:txBody>
      </p:sp>
      <p:sp>
        <p:nvSpPr>
          <p:cNvPr id="30" name="Text 28"/>
          <p:cNvSpPr/>
          <p:nvPr/>
        </p:nvSpPr>
        <p:spPr>
          <a:xfrm>
            <a:off x="1261872" y="4023360"/>
            <a:ext cx="3154680" cy="713232"/>
          </a:xfrm>
          <a:prstGeom prst="rect">
            <a:avLst/>
          </a:prstGeom>
          <a:noFill/>
          <a:ln/>
        </p:spPr>
        <p:txBody>
          <a:bodyPr wrap="square" rtlCol="0" anchor="ctr"/>
          <a:lstStyle/>
          <a:p>
            <a:pPr indent="0" marL="0">
              <a:buNone/>
            </a:pPr>
            <a:r>
              <a:rPr lang="en-US" sz="1150" dirty="0">
                <a:solidFill>
                  <a:srgbClr val="212121"/>
                </a:solidFill>
              </a:rPr>
              <a:t>AC induction motors use rotating magnetic fields produced by 3-phase alternating current.</a:t>
            </a:r>
            <a:endParaRPr lang="en-US" sz="1150" dirty="0"/>
          </a:p>
        </p:txBody>
      </p:sp>
      <p:sp>
        <p:nvSpPr>
          <p:cNvPr id="31" name="Shape 29"/>
          <p:cNvSpPr/>
          <p:nvPr/>
        </p:nvSpPr>
        <p:spPr>
          <a:xfrm>
            <a:off x="4754880" y="3621024"/>
            <a:ext cx="4160520" cy="1207008"/>
          </a:xfrm>
          <a:prstGeom prst="rect">
            <a:avLst/>
          </a:prstGeom>
          <a:solidFill>
            <a:srgbClr val="FAFAFA"/>
          </a:solidFill>
          <a:ln w="19050">
            <a:solidFill>
              <a:srgbClr val="00695C"/>
            </a:solidFill>
            <a:prstDash val="solid"/>
          </a:ln>
        </p:spPr>
      </p:sp>
      <p:sp>
        <p:nvSpPr>
          <p:cNvPr id="32" name="Shape 30"/>
          <p:cNvSpPr/>
          <p:nvPr/>
        </p:nvSpPr>
        <p:spPr>
          <a:xfrm>
            <a:off x="4846320" y="3849624"/>
            <a:ext cx="685800" cy="685800"/>
          </a:xfrm>
          <a:prstGeom prst="ellipse">
            <a:avLst/>
          </a:prstGeom>
          <a:solidFill>
            <a:srgbClr val="00695C"/>
          </a:solidFill>
          <a:ln w="12700">
            <a:solidFill>
              <a:srgbClr val="00695C"/>
            </a:solidFill>
            <a:prstDash val="solid"/>
          </a:ln>
        </p:spPr>
      </p:sp>
      <p:sp>
        <p:nvSpPr>
          <p:cNvPr id="33" name="Text 31"/>
          <p:cNvSpPr/>
          <p:nvPr/>
        </p:nvSpPr>
        <p:spPr>
          <a:xfrm>
            <a:off x="4846320" y="3849624"/>
            <a:ext cx="685800" cy="6858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Text 32"/>
          <p:cNvSpPr/>
          <p:nvPr/>
        </p:nvSpPr>
        <p:spPr>
          <a:xfrm>
            <a:off x="5650992" y="3675888"/>
            <a:ext cx="3154680" cy="347472"/>
          </a:xfrm>
          <a:prstGeom prst="rect">
            <a:avLst/>
          </a:prstGeom>
          <a:noFill/>
          <a:ln/>
        </p:spPr>
        <p:txBody>
          <a:bodyPr wrap="square" lIns="0" tIns="0" rIns="0" bIns="0" rtlCol="0" anchor="ctr"/>
          <a:lstStyle/>
          <a:p>
            <a:pPr indent="0" marL="0">
              <a:buNone/>
            </a:pPr>
            <a:r>
              <a:rPr lang="en-US" sz="1300" b="1" dirty="0">
                <a:solidFill>
                  <a:srgbClr val="00695C"/>
                </a:solidFill>
              </a:rPr>
              <a:t>Metal Detectors</a:t>
            </a:r>
            <a:endParaRPr lang="en-US" sz="1300" dirty="0"/>
          </a:p>
        </p:txBody>
      </p:sp>
      <p:sp>
        <p:nvSpPr>
          <p:cNvPr id="35" name="Text 33"/>
          <p:cNvSpPr/>
          <p:nvPr/>
        </p:nvSpPr>
        <p:spPr>
          <a:xfrm>
            <a:off x="5650992" y="4023360"/>
            <a:ext cx="3154680" cy="713232"/>
          </a:xfrm>
          <a:prstGeom prst="rect">
            <a:avLst/>
          </a:prstGeom>
          <a:noFill/>
          <a:ln/>
        </p:spPr>
        <p:txBody>
          <a:bodyPr wrap="square" rtlCol="0" anchor="ctr"/>
          <a:lstStyle/>
          <a:p>
            <a:pPr indent="0" marL="0">
              <a:buNone/>
            </a:pPr>
            <a:r>
              <a:rPr lang="en-US" sz="1150" dirty="0">
                <a:solidFill>
                  <a:srgbClr val="212121"/>
                </a:solidFill>
              </a:rPr>
              <a:t>A transmit coil induces eddy currents in metal objects; secondary coil detects the response.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CD4"/>
          </a:solidFill>
          <a:ln/>
        </p:spPr>
      </p:sp>
      <p:sp>
        <p:nvSpPr>
          <p:cNvPr id="3" name="Shape 1"/>
          <p:cNvSpPr/>
          <p:nvPr/>
        </p:nvSpPr>
        <p:spPr>
          <a:xfrm>
            <a:off x="0" y="5070348"/>
            <a:ext cx="9144000" cy="73152"/>
          </a:xfrm>
          <a:prstGeom prst="rect">
            <a:avLst/>
          </a:prstGeom>
          <a:solidFill>
            <a:srgbClr val="00BCD4"/>
          </a:solidFill>
          <a:ln/>
        </p:spPr>
      </p:sp>
      <p:sp>
        <p:nvSpPr>
          <p:cNvPr id="4" name="Shape 2"/>
          <p:cNvSpPr/>
          <p:nvPr/>
        </p:nvSpPr>
        <p:spPr>
          <a:xfrm>
            <a:off x="6858000" y="2286000"/>
            <a:ext cx="3200400" cy="3200400"/>
          </a:xfrm>
          <a:prstGeom prst="ellipse">
            <a:avLst/>
          </a:prstGeom>
          <a:solidFill>
            <a:srgbClr val="1565C0">
              <a:alpha val="20000"/>
            </a:srgbClr>
          </a:solidFill>
          <a:ln w="12700">
            <a:solidFill>
              <a:srgbClr val="1565C0">
                <a:alpha val="20000"/>
              </a:srgbClr>
            </a:solidFill>
            <a:prstDash val="solid"/>
          </a:ln>
        </p:spPr>
      </p:sp>
      <p:sp>
        <p:nvSpPr>
          <p:cNvPr id="5" name="Text 3"/>
          <p:cNvSpPr/>
          <p:nvPr/>
        </p:nvSpPr>
        <p:spPr>
          <a:xfrm>
            <a:off x="457200" y="182880"/>
            <a:ext cx="8229600" cy="502920"/>
          </a:xfrm>
          <a:prstGeom prst="rect">
            <a:avLst/>
          </a:prstGeom>
          <a:noFill/>
          <a:ln/>
        </p:spPr>
        <p:txBody>
          <a:bodyPr wrap="square" rtlCol="0" anchor="ctr"/>
          <a:lstStyle/>
          <a:p>
            <a:pPr algn="ctr" indent="0" marL="0">
              <a:buNone/>
            </a:pPr>
            <a:r>
              <a:rPr lang="en-US" sz="2600" b="1" dirty="0">
                <a:solidFill>
                  <a:srgbClr val="00BCD4"/>
                </a:solidFill>
              </a:rPr>
              <a:t>Key Takeaways</a:t>
            </a:r>
            <a:endParaRPr lang="en-US" sz="2600" dirty="0"/>
          </a:p>
        </p:txBody>
      </p:sp>
      <p:sp>
        <p:nvSpPr>
          <p:cNvPr id="6" name="Shape 4"/>
          <p:cNvSpPr/>
          <p:nvPr/>
        </p:nvSpPr>
        <p:spPr>
          <a:xfrm>
            <a:off x="365760" y="804672"/>
            <a:ext cx="8321040" cy="521208"/>
          </a:xfrm>
          <a:prstGeom prst="rect">
            <a:avLst/>
          </a:prstGeom>
          <a:solidFill>
            <a:srgbClr val="1A2B5C"/>
          </a:solidFill>
          <a:ln w="6350">
            <a:solidFill>
              <a:srgbClr val="00BCD4"/>
            </a:solidFill>
            <a:prstDash val="solid"/>
          </a:ln>
        </p:spPr>
      </p:sp>
      <p:sp>
        <p:nvSpPr>
          <p:cNvPr id="7" name="Text 5"/>
          <p:cNvSpPr/>
          <p:nvPr/>
        </p:nvSpPr>
        <p:spPr>
          <a:xfrm>
            <a:off x="502920" y="804672"/>
            <a:ext cx="8046720" cy="521208"/>
          </a:xfrm>
          <a:prstGeom prst="rect">
            <a:avLst/>
          </a:prstGeom>
          <a:noFill/>
          <a:ln/>
        </p:spPr>
        <p:txBody>
          <a:bodyPr wrap="square" rtlCol="0" anchor="ctr"/>
          <a:lstStyle/>
          <a:p>
            <a:pPr indent="0" marL="0">
              <a:buNone/>
            </a:pPr>
            <a:r>
              <a:rPr lang="en-US" sz="1200" b="1" dirty="0">
                <a:solidFill>
                  <a:srgbClr val="00BCD4"/>
                </a:solidFill>
              </a:rPr>
              <a:t>1. </a:t>
            </a:r>
            <a:pPr indent="0" marL="0">
              <a:buNone/>
            </a:pPr>
            <a:r>
              <a:rPr lang="en-US" sz="1200" dirty="0">
                <a:solidFill>
                  <a:srgbClr val="FFFFFF"/>
                </a:solidFill>
              </a:rPr>
              <a:t>Faraday's Laws quantify induced EMF: ε = −N dΦ/dt; Lenz's Law gives direction (conservation of energy).</a:t>
            </a:r>
            <a:endParaRPr lang="en-US" sz="1200" dirty="0"/>
          </a:p>
        </p:txBody>
      </p:sp>
      <p:sp>
        <p:nvSpPr>
          <p:cNvPr id="8" name="Shape 6"/>
          <p:cNvSpPr/>
          <p:nvPr/>
        </p:nvSpPr>
        <p:spPr>
          <a:xfrm>
            <a:off x="365760" y="1408176"/>
            <a:ext cx="8321040" cy="521208"/>
          </a:xfrm>
          <a:prstGeom prst="rect">
            <a:avLst/>
          </a:prstGeom>
          <a:solidFill>
            <a:srgbClr val="0F1E44"/>
          </a:solidFill>
          <a:ln w="6350">
            <a:solidFill>
              <a:srgbClr val="00BCD4"/>
            </a:solidFill>
            <a:prstDash val="solid"/>
          </a:ln>
        </p:spPr>
      </p:sp>
      <p:sp>
        <p:nvSpPr>
          <p:cNvPr id="9" name="Text 7"/>
          <p:cNvSpPr/>
          <p:nvPr/>
        </p:nvSpPr>
        <p:spPr>
          <a:xfrm>
            <a:off x="502920" y="1408176"/>
            <a:ext cx="8046720" cy="521208"/>
          </a:xfrm>
          <a:prstGeom prst="rect">
            <a:avLst/>
          </a:prstGeom>
          <a:noFill/>
          <a:ln/>
        </p:spPr>
        <p:txBody>
          <a:bodyPr wrap="square" rtlCol="0" anchor="ctr"/>
          <a:lstStyle/>
          <a:p>
            <a:pPr indent="0" marL="0">
              <a:buNone/>
            </a:pPr>
            <a:r>
              <a:rPr lang="en-US" sz="1200" b="1" dirty="0">
                <a:solidFill>
                  <a:srgbClr val="00BCD4"/>
                </a:solidFill>
              </a:rPr>
              <a:t>2. </a:t>
            </a:r>
            <a:pPr indent="0" marL="0">
              <a:buNone/>
            </a:pPr>
            <a:r>
              <a:rPr lang="en-US" sz="1200" dirty="0">
                <a:solidFill>
                  <a:srgbClr val="FFFFFF"/>
                </a:solidFill>
              </a:rPr>
              <a:t>Motional EMF: ε = BLv; Eddy currents cause losses but enable braking &amp; heating.</a:t>
            </a:r>
            <a:endParaRPr lang="en-US" sz="1200" dirty="0"/>
          </a:p>
        </p:txBody>
      </p:sp>
      <p:sp>
        <p:nvSpPr>
          <p:cNvPr id="10" name="Shape 8"/>
          <p:cNvSpPr/>
          <p:nvPr/>
        </p:nvSpPr>
        <p:spPr>
          <a:xfrm>
            <a:off x="365760" y="2011680"/>
            <a:ext cx="8321040" cy="521208"/>
          </a:xfrm>
          <a:prstGeom prst="rect">
            <a:avLst/>
          </a:prstGeom>
          <a:solidFill>
            <a:srgbClr val="1A2B5C"/>
          </a:solidFill>
          <a:ln w="6350">
            <a:solidFill>
              <a:srgbClr val="00BCD4"/>
            </a:solidFill>
            <a:prstDash val="solid"/>
          </a:ln>
        </p:spPr>
      </p:sp>
      <p:sp>
        <p:nvSpPr>
          <p:cNvPr id="11" name="Text 9"/>
          <p:cNvSpPr/>
          <p:nvPr/>
        </p:nvSpPr>
        <p:spPr>
          <a:xfrm>
            <a:off x="502920" y="2011680"/>
            <a:ext cx="8046720" cy="521208"/>
          </a:xfrm>
          <a:prstGeom prst="rect">
            <a:avLst/>
          </a:prstGeom>
          <a:noFill/>
          <a:ln/>
        </p:spPr>
        <p:txBody>
          <a:bodyPr wrap="square" rtlCol="0" anchor="ctr"/>
          <a:lstStyle/>
          <a:p>
            <a:pPr indent="0" marL="0">
              <a:buNone/>
            </a:pPr>
            <a:r>
              <a:rPr lang="en-US" sz="1200" b="1" dirty="0">
                <a:solidFill>
                  <a:srgbClr val="00BCD4"/>
                </a:solidFill>
              </a:rPr>
              <a:t>3. </a:t>
            </a:r>
            <a:pPr indent="0" marL="0">
              <a:buNone/>
            </a:pPr>
            <a:r>
              <a:rPr lang="en-US" sz="1200" dirty="0">
                <a:solidFill>
                  <a:srgbClr val="FFFFFF"/>
                </a:solidFill>
              </a:rPr>
              <a:t>Self/Mutual Inductance: L = NΦ/I; M = k√(L₁L₂); Energy = ½LI².</a:t>
            </a:r>
            <a:endParaRPr lang="en-US" sz="1200" dirty="0"/>
          </a:p>
        </p:txBody>
      </p:sp>
      <p:sp>
        <p:nvSpPr>
          <p:cNvPr id="12" name="Shape 10"/>
          <p:cNvSpPr/>
          <p:nvPr/>
        </p:nvSpPr>
        <p:spPr>
          <a:xfrm>
            <a:off x="365760" y="2615184"/>
            <a:ext cx="8321040" cy="521208"/>
          </a:xfrm>
          <a:prstGeom prst="rect">
            <a:avLst/>
          </a:prstGeom>
          <a:solidFill>
            <a:srgbClr val="0F1E44"/>
          </a:solidFill>
          <a:ln w="6350">
            <a:solidFill>
              <a:srgbClr val="00BCD4"/>
            </a:solidFill>
            <a:prstDash val="solid"/>
          </a:ln>
        </p:spPr>
      </p:sp>
      <p:sp>
        <p:nvSpPr>
          <p:cNvPr id="13" name="Text 11"/>
          <p:cNvSpPr/>
          <p:nvPr/>
        </p:nvSpPr>
        <p:spPr>
          <a:xfrm>
            <a:off x="502920" y="2615184"/>
            <a:ext cx="8046720" cy="521208"/>
          </a:xfrm>
          <a:prstGeom prst="rect">
            <a:avLst/>
          </a:prstGeom>
          <a:noFill/>
          <a:ln/>
        </p:spPr>
        <p:txBody>
          <a:bodyPr wrap="square" rtlCol="0" anchor="ctr"/>
          <a:lstStyle/>
          <a:p>
            <a:pPr indent="0" marL="0">
              <a:buNone/>
            </a:pPr>
            <a:r>
              <a:rPr lang="en-US" sz="1200" b="1" dirty="0">
                <a:solidFill>
                  <a:srgbClr val="00BCD4"/>
                </a:solidFill>
              </a:rPr>
              <a:t>4. </a:t>
            </a:r>
            <a:pPr indent="0" marL="0">
              <a:buNone/>
            </a:pPr>
            <a:r>
              <a:rPr lang="en-US" sz="1200" dirty="0">
                <a:solidFill>
                  <a:srgbClr val="FFFFFF"/>
                </a:solidFill>
              </a:rPr>
              <a:t>AC quantities: Vᵣₘₛ = V₀/√2; phasors simplify R, L, C circuit analysis.</a:t>
            </a:r>
            <a:endParaRPr lang="en-US" sz="1200" dirty="0"/>
          </a:p>
        </p:txBody>
      </p:sp>
      <p:sp>
        <p:nvSpPr>
          <p:cNvPr id="14" name="Shape 12"/>
          <p:cNvSpPr/>
          <p:nvPr/>
        </p:nvSpPr>
        <p:spPr>
          <a:xfrm>
            <a:off x="365760" y="3218688"/>
            <a:ext cx="8321040" cy="521208"/>
          </a:xfrm>
          <a:prstGeom prst="rect">
            <a:avLst/>
          </a:prstGeom>
          <a:solidFill>
            <a:srgbClr val="1A2B5C"/>
          </a:solidFill>
          <a:ln w="6350">
            <a:solidFill>
              <a:srgbClr val="00BCD4"/>
            </a:solidFill>
            <a:prstDash val="solid"/>
          </a:ln>
        </p:spPr>
      </p:sp>
      <p:sp>
        <p:nvSpPr>
          <p:cNvPr id="15" name="Text 13"/>
          <p:cNvSpPr/>
          <p:nvPr/>
        </p:nvSpPr>
        <p:spPr>
          <a:xfrm>
            <a:off x="502920" y="3218688"/>
            <a:ext cx="8046720" cy="521208"/>
          </a:xfrm>
          <a:prstGeom prst="rect">
            <a:avLst/>
          </a:prstGeom>
          <a:noFill/>
          <a:ln/>
        </p:spPr>
        <p:txBody>
          <a:bodyPr wrap="square" rtlCol="0" anchor="ctr"/>
          <a:lstStyle/>
          <a:p>
            <a:pPr indent="0" marL="0">
              <a:buNone/>
            </a:pPr>
            <a:r>
              <a:rPr lang="en-US" sz="1200" b="1" dirty="0">
                <a:solidFill>
                  <a:srgbClr val="00BCD4"/>
                </a:solidFill>
              </a:rPr>
              <a:t>5. </a:t>
            </a:r>
            <a:pPr indent="0" marL="0">
              <a:buNone/>
            </a:pPr>
            <a:r>
              <a:rPr lang="en-US" sz="1200" dirty="0">
                <a:solidFill>
                  <a:srgbClr val="FFFFFF"/>
                </a:solidFill>
              </a:rPr>
              <a:t>LCR series: Z = √(R²+(X_L−X_C)²); resonance at ω₀ = 1/√LC (max I, min Z).</a:t>
            </a:r>
            <a:endParaRPr lang="en-US" sz="1200" dirty="0"/>
          </a:p>
        </p:txBody>
      </p:sp>
      <p:sp>
        <p:nvSpPr>
          <p:cNvPr id="16" name="Shape 14"/>
          <p:cNvSpPr/>
          <p:nvPr/>
        </p:nvSpPr>
        <p:spPr>
          <a:xfrm>
            <a:off x="365760" y="3822192"/>
            <a:ext cx="8321040" cy="521208"/>
          </a:xfrm>
          <a:prstGeom prst="rect">
            <a:avLst/>
          </a:prstGeom>
          <a:solidFill>
            <a:srgbClr val="0F1E44"/>
          </a:solidFill>
          <a:ln w="6350">
            <a:solidFill>
              <a:srgbClr val="00BCD4"/>
            </a:solidFill>
            <a:prstDash val="solid"/>
          </a:ln>
        </p:spPr>
      </p:sp>
      <p:sp>
        <p:nvSpPr>
          <p:cNvPr id="17" name="Text 15"/>
          <p:cNvSpPr/>
          <p:nvPr/>
        </p:nvSpPr>
        <p:spPr>
          <a:xfrm>
            <a:off x="502920" y="3822192"/>
            <a:ext cx="8046720" cy="521208"/>
          </a:xfrm>
          <a:prstGeom prst="rect">
            <a:avLst/>
          </a:prstGeom>
          <a:noFill/>
          <a:ln/>
        </p:spPr>
        <p:txBody>
          <a:bodyPr wrap="square" rtlCol="0" anchor="ctr"/>
          <a:lstStyle/>
          <a:p>
            <a:pPr indent="0" marL="0">
              <a:buNone/>
            </a:pPr>
            <a:r>
              <a:rPr lang="en-US" sz="1200" b="1" dirty="0">
                <a:solidFill>
                  <a:srgbClr val="00BCD4"/>
                </a:solidFill>
              </a:rPr>
              <a:t>6. </a:t>
            </a:r>
            <a:pPr indent="0" marL="0">
              <a:buNone/>
            </a:pPr>
            <a:r>
              <a:rPr lang="en-US" sz="1200" dirty="0">
                <a:solidFill>
                  <a:srgbClr val="FFFFFF"/>
                </a:solidFill>
              </a:rPr>
              <a:t>Power: P = Vᵣₘₛ Iᵣₘₛ cos φ; Power factor (cos φ) crucial for efficiency.</a:t>
            </a:r>
            <a:endParaRPr lang="en-US" sz="1200" dirty="0"/>
          </a:p>
        </p:txBody>
      </p:sp>
      <p:sp>
        <p:nvSpPr>
          <p:cNvPr id="18" name="Shape 16"/>
          <p:cNvSpPr/>
          <p:nvPr/>
        </p:nvSpPr>
        <p:spPr>
          <a:xfrm>
            <a:off x="365760" y="4425696"/>
            <a:ext cx="8321040" cy="521208"/>
          </a:xfrm>
          <a:prstGeom prst="rect">
            <a:avLst/>
          </a:prstGeom>
          <a:solidFill>
            <a:srgbClr val="1A2B5C"/>
          </a:solidFill>
          <a:ln w="6350">
            <a:solidFill>
              <a:srgbClr val="00BCD4"/>
            </a:solidFill>
            <a:prstDash val="solid"/>
          </a:ln>
        </p:spPr>
      </p:sp>
      <p:sp>
        <p:nvSpPr>
          <p:cNvPr id="19" name="Text 17"/>
          <p:cNvSpPr/>
          <p:nvPr/>
        </p:nvSpPr>
        <p:spPr>
          <a:xfrm>
            <a:off x="502920" y="4425696"/>
            <a:ext cx="8046720" cy="521208"/>
          </a:xfrm>
          <a:prstGeom prst="rect">
            <a:avLst/>
          </a:prstGeom>
          <a:noFill/>
          <a:ln/>
        </p:spPr>
        <p:txBody>
          <a:bodyPr wrap="square" rtlCol="0" anchor="ctr"/>
          <a:lstStyle/>
          <a:p>
            <a:pPr indent="0" marL="0">
              <a:buNone/>
            </a:pPr>
            <a:r>
              <a:rPr lang="en-US" sz="1200" b="1" dirty="0">
                <a:solidFill>
                  <a:srgbClr val="00BCD4"/>
                </a:solidFill>
              </a:rPr>
              <a:t>7. </a:t>
            </a:r>
            <a:pPr indent="0" marL="0">
              <a:buNone/>
            </a:pPr>
            <a:r>
              <a:rPr lang="en-US" sz="1200" dirty="0">
                <a:solidFill>
                  <a:srgbClr val="FFFFFF"/>
                </a:solidFill>
              </a:rPr>
              <a:t>Transformers: Vₛ/Vₚ = Nₛ/Nₚ; enable long-distance AC power transmission.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Electromagnetic Induction and Alternating Current</dc:title>
  <dc:subject>PptxGenJS Presentation</dc:subject>
  <dc:creator>Class 12 Physics</dc:creator>
  <cp:lastModifiedBy>Class 12 Physics</cp:lastModifiedBy>
  <cp:revision>1</cp:revision>
  <dcterms:created xsi:type="dcterms:W3CDTF">2026-05-15T00:06:42Z</dcterms:created>
  <dcterms:modified xsi:type="dcterms:W3CDTF">2026-05-15T00:06:42Z</dcterms:modified>
</cp:coreProperties>
</file>