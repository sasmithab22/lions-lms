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Shrikhand" charset="1" panose="02000000000000000000"/>
      <p:regular r:id="rId16"/>
    </p:embeddedFont>
    <p:embeddedFont>
      <p:font typeface="Arvo" charset="1" panose="02000000000000000000"/>
      <p:regular r:id="rId17"/>
    </p:embeddedFont>
    <p:embeddedFont>
      <p:font typeface="Canva Sans" charset="1" panose="020B0503030501040103"/>
      <p:regular r:id="rId18"/>
    </p:embeddedFont>
    <p:embeddedFont>
      <p:font typeface="Arimo" charset="1" panose="020B0604020202020204"/>
      <p:regular r:id="rId19"/>
    </p:embeddedFont>
    <p:embeddedFont>
      <p:font typeface="Arvo Bold" charset="1" panose="02000000000000000000"/>
      <p:regular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svg" Type="http://schemas.openxmlformats.org/officeDocument/2006/relationships/image"/><Relationship Id="rId4" Target="../media/image9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svg" Type="http://schemas.openxmlformats.org/officeDocument/2006/relationships/image"/><Relationship Id="rId4" Target="../media/image10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Relationship Id="rId3" Target="../media/image12.sv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Relationship Id="rId3" Target="../media/image14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Relationship Id="rId3" Target="../media/image12.svg" Type="http://schemas.openxmlformats.org/officeDocument/2006/relationships/image"/><Relationship Id="rId4" Target="../media/image15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Relationship Id="rId3" Target="../media/image12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2318552" y="5143500"/>
            <a:ext cx="16230600" cy="2892281"/>
            <a:chOff x="0" y="0"/>
            <a:chExt cx="5045470" cy="89909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045470" cy="899099"/>
            </a:xfrm>
            <a:custGeom>
              <a:avLst/>
              <a:gdLst/>
              <a:ahLst/>
              <a:cxnLst/>
              <a:rect r="r" b="b" t="t" l="l"/>
              <a:pathLst>
                <a:path h="899099" w="5045470">
                  <a:moveTo>
                    <a:pt x="17649" y="0"/>
                  </a:moveTo>
                  <a:lnTo>
                    <a:pt x="5027821" y="0"/>
                  </a:lnTo>
                  <a:cubicBezTo>
                    <a:pt x="5037568" y="0"/>
                    <a:pt x="5045470" y="7902"/>
                    <a:pt x="5045470" y="17649"/>
                  </a:cubicBezTo>
                  <a:lnTo>
                    <a:pt x="5045470" y="881450"/>
                  </a:lnTo>
                  <a:cubicBezTo>
                    <a:pt x="5045470" y="886131"/>
                    <a:pt x="5043610" y="890620"/>
                    <a:pt x="5040300" y="893930"/>
                  </a:cubicBezTo>
                  <a:cubicBezTo>
                    <a:pt x="5036991" y="897240"/>
                    <a:pt x="5032501" y="899099"/>
                    <a:pt x="5027821" y="899099"/>
                  </a:cubicBezTo>
                  <a:lnTo>
                    <a:pt x="17649" y="899099"/>
                  </a:lnTo>
                  <a:cubicBezTo>
                    <a:pt x="12968" y="899099"/>
                    <a:pt x="8479" y="897240"/>
                    <a:pt x="5169" y="893930"/>
                  </a:cubicBezTo>
                  <a:cubicBezTo>
                    <a:pt x="1859" y="890620"/>
                    <a:pt x="0" y="886131"/>
                    <a:pt x="0" y="881450"/>
                  </a:cubicBezTo>
                  <a:lnTo>
                    <a:pt x="0" y="17649"/>
                  </a:lnTo>
                  <a:cubicBezTo>
                    <a:pt x="0" y="12968"/>
                    <a:pt x="1859" y="8479"/>
                    <a:pt x="5169" y="5169"/>
                  </a:cubicBezTo>
                  <a:cubicBezTo>
                    <a:pt x="8479" y="1859"/>
                    <a:pt x="12968" y="0"/>
                    <a:pt x="17649" y="0"/>
                  </a:cubicBezTo>
                  <a:close/>
                </a:path>
              </a:pathLst>
            </a:custGeom>
            <a:solidFill>
              <a:srgbClr val="FFFFFF"/>
            </a:solidFill>
            <a:ln cap="rnd">
              <a:noFill/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228600"/>
              <a:ext cx="5045470" cy="1127699"/>
            </a:xfrm>
            <a:prstGeom prst="rect">
              <a:avLst/>
            </a:prstGeom>
          </p:spPr>
          <p:txBody>
            <a:bodyPr anchor="ctr" rtlCol="false" tIns="190500" lIns="190500" bIns="190500" rIns="190500"/>
            <a:lstStyle/>
            <a:p>
              <a:pPr algn="ctr">
                <a:lnSpc>
                  <a:spcPts val="17358"/>
                </a:lnSpc>
                <a:spcBef>
                  <a:spcPct val="0"/>
                </a:spcBef>
              </a:pPr>
              <a:r>
                <a:rPr lang="en-US" sz="12398">
                  <a:solidFill>
                    <a:srgbClr val="AB4507"/>
                  </a:solidFill>
                  <a:latin typeface="Shrikhand"/>
                  <a:ea typeface="Shrikhand"/>
                  <a:cs typeface="Shrikhand"/>
                  <a:sym typeface="Shrikhand"/>
                </a:rPr>
                <a:t>ALGEBRA</a:t>
              </a: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028700" y="636615"/>
            <a:ext cx="4768048" cy="4179988"/>
          </a:xfrm>
          <a:custGeom>
            <a:avLst/>
            <a:gdLst/>
            <a:ahLst/>
            <a:cxnLst/>
            <a:rect r="r" b="b" t="t" l="l"/>
            <a:pathLst>
              <a:path h="4179988" w="4768048">
                <a:moveTo>
                  <a:pt x="0" y="0"/>
                </a:moveTo>
                <a:lnTo>
                  <a:pt x="4768048" y="0"/>
                </a:lnTo>
                <a:lnTo>
                  <a:pt x="4768048" y="4179988"/>
                </a:lnTo>
                <a:lnTo>
                  <a:pt x="0" y="417998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1189882" y="4656867"/>
            <a:ext cx="5916803" cy="5755435"/>
          </a:xfrm>
          <a:custGeom>
            <a:avLst/>
            <a:gdLst/>
            <a:ahLst/>
            <a:cxnLst/>
            <a:rect r="r" b="b" t="t" l="l"/>
            <a:pathLst>
              <a:path h="5755435" w="5916803">
                <a:moveTo>
                  <a:pt x="0" y="0"/>
                </a:moveTo>
                <a:lnTo>
                  <a:pt x="5916803" y="0"/>
                </a:lnTo>
                <a:lnTo>
                  <a:pt x="5916803" y="5755436"/>
                </a:lnTo>
                <a:lnTo>
                  <a:pt x="0" y="575543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3D6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3837585"/>
            <a:ext cx="15986993" cy="4703666"/>
            <a:chOff x="0" y="0"/>
            <a:chExt cx="4210566" cy="123882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210566" cy="1238826"/>
            </a:xfrm>
            <a:custGeom>
              <a:avLst/>
              <a:gdLst/>
              <a:ahLst/>
              <a:cxnLst/>
              <a:rect r="r" b="b" t="t" l="l"/>
              <a:pathLst>
                <a:path h="1238826" w="4210566">
                  <a:moveTo>
                    <a:pt x="24697" y="0"/>
                  </a:moveTo>
                  <a:lnTo>
                    <a:pt x="4185869" y="0"/>
                  </a:lnTo>
                  <a:cubicBezTo>
                    <a:pt x="4199509" y="0"/>
                    <a:pt x="4210566" y="11057"/>
                    <a:pt x="4210566" y="24697"/>
                  </a:cubicBezTo>
                  <a:lnTo>
                    <a:pt x="4210566" y="1214128"/>
                  </a:lnTo>
                  <a:cubicBezTo>
                    <a:pt x="4210566" y="1227768"/>
                    <a:pt x="4199509" y="1238826"/>
                    <a:pt x="4185869" y="1238826"/>
                  </a:cubicBezTo>
                  <a:lnTo>
                    <a:pt x="24697" y="1238826"/>
                  </a:lnTo>
                  <a:cubicBezTo>
                    <a:pt x="18147" y="1238826"/>
                    <a:pt x="11865" y="1236224"/>
                    <a:pt x="7234" y="1231592"/>
                  </a:cubicBezTo>
                  <a:cubicBezTo>
                    <a:pt x="2602" y="1226960"/>
                    <a:pt x="0" y="1220678"/>
                    <a:pt x="0" y="1214128"/>
                  </a:cubicBezTo>
                  <a:lnTo>
                    <a:pt x="0" y="24697"/>
                  </a:lnTo>
                  <a:cubicBezTo>
                    <a:pt x="0" y="11057"/>
                    <a:pt x="11057" y="0"/>
                    <a:pt x="24697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210566" cy="127692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1601248" y="4262202"/>
            <a:ext cx="4967811" cy="3777606"/>
          </a:xfrm>
          <a:custGeom>
            <a:avLst/>
            <a:gdLst/>
            <a:ahLst/>
            <a:cxnLst/>
            <a:rect r="r" b="b" t="t" l="l"/>
            <a:pathLst>
              <a:path h="3777606" w="4967811">
                <a:moveTo>
                  <a:pt x="0" y="0"/>
                </a:moveTo>
                <a:lnTo>
                  <a:pt x="4967810" y="0"/>
                </a:lnTo>
                <a:lnTo>
                  <a:pt x="4967810" y="3777606"/>
                </a:lnTo>
                <a:lnTo>
                  <a:pt x="0" y="377760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028700" y="828675"/>
            <a:ext cx="16230600" cy="17500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314"/>
              </a:lnSpc>
              <a:spcBef>
                <a:spcPct val="0"/>
              </a:spcBef>
            </a:pPr>
            <a:r>
              <a:rPr lang="en-US" sz="10224">
                <a:solidFill>
                  <a:srgbClr val="3047AD"/>
                </a:solidFill>
                <a:latin typeface="Shrikhand"/>
                <a:ea typeface="Shrikhand"/>
                <a:cs typeface="Shrikhand"/>
                <a:sym typeface="Shrikhand"/>
              </a:rPr>
              <a:t>What is Substitution?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450931" y="4261245"/>
            <a:ext cx="9758826" cy="3693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79"/>
              </a:lnSpc>
              <a:spcBef>
                <a:spcPct val="0"/>
              </a:spcBef>
            </a:pPr>
            <a:r>
              <a:rPr lang="en-US" sz="4199">
                <a:solidFill>
                  <a:srgbClr val="000000"/>
                </a:solidFill>
                <a:latin typeface="Arvo"/>
                <a:ea typeface="Arvo"/>
                <a:cs typeface="Arvo"/>
                <a:sym typeface="Arvo"/>
              </a:rPr>
              <a:t>Substitution is an algebraic technique used to solve equations and simplify expressions by replacing one or more variables (letters) with specific numbers.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3D6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146818" y="3376385"/>
            <a:ext cx="16230600" cy="6176278"/>
            <a:chOff x="0" y="0"/>
            <a:chExt cx="4274726" cy="162667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274726" cy="1626674"/>
            </a:xfrm>
            <a:custGeom>
              <a:avLst/>
              <a:gdLst/>
              <a:ahLst/>
              <a:cxnLst/>
              <a:rect r="r" b="b" t="t" l="l"/>
              <a:pathLst>
                <a:path h="1626674" w="4274726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1602347"/>
                  </a:lnTo>
                  <a:cubicBezTo>
                    <a:pt x="4274726" y="1608799"/>
                    <a:pt x="4272163" y="1614987"/>
                    <a:pt x="4267601" y="1619549"/>
                  </a:cubicBezTo>
                  <a:cubicBezTo>
                    <a:pt x="4263039" y="1624111"/>
                    <a:pt x="4256851" y="1626674"/>
                    <a:pt x="4250399" y="1626674"/>
                  </a:cubicBezTo>
                  <a:lnTo>
                    <a:pt x="24327" y="1626674"/>
                  </a:lnTo>
                  <a:cubicBezTo>
                    <a:pt x="10891" y="1626674"/>
                    <a:pt x="0" y="1615782"/>
                    <a:pt x="0" y="1602347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274726" cy="166477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028700" y="1318985"/>
            <a:ext cx="16230600" cy="1755823"/>
            <a:chOff x="0" y="0"/>
            <a:chExt cx="4274726" cy="46243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274726" cy="462439"/>
            </a:xfrm>
            <a:custGeom>
              <a:avLst/>
              <a:gdLst/>
              <a:ahLst/>
              <a:cxnLst/>
              <a:rect r="r" b="b" t="t" l="l"/>
              <a:pathLst>
                <a:path h="462439" w="4274726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438112"/>
                  </a:lnTo>
                  <a:cubicBezTo>
                    <a:pt x="4274726" y="444564"/>
                    <a:pt x="4272163" y="450752"/>
                    <a:pt x="4267601" y="455314"/>
                  </a:cubicBezTo>
                  <a:cubicBezTo>
                    <a:pt x="4263039" y="459876"/>
                    <a:pt x="4256851" y="462439"/>
                    <a:pt x="4250399" y="462439"/>
                  </a:cubicBezTo>
                  <a:lnTo>
                    <a:pt x="24327" y="462439"/>
                  </a:lnTo>
                  <a:cubicBezTo>
                    <a:pt x="10891" y="462439"/>
                    <a:pt x="0" y="451547"/>
                    <a:pt x="0" y="438112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161925"/>
              <a:ext cx="4274726" cy="6243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1899"/>
                </a:lnSpc>
                <a:spcBef>
                  <a:spcPct val="0"/>
                </a:spcBef>
              </a:pPr>
              <a:r>
                <a:rPr lang="en-US" sz="8499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Variables</a:t>
              </a: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15174531" y="6464524"/>
            <a:ext cx="1494178" cy="2479964"/>
          </a:xfrm>
          <a:custGeom>
            <a:avLst/>
            <a:gdLst/>
            <a:ahLst/>
            <a:cxnLst/>
            <a:rect r="r" b="b" t="t" l="l"/>
            <a:pathLst>
              <a:path h="2479964" w="1494178">
                <a:moveTo>
                  <a:pt x="0" y="0"/>
                </a:moveTo>
                <a:lnTo>
                  <a:pt x="1494179" y="0"/>
                </a:lnTo>
                <a:lnTo>
                  <a:pt x="1494179" y="2479964"/>
                </a:lnTo>
                <a:lnTo>
                  <a:pt x="0" y="247996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422427" y="3873182"/>
            <a:ext cx="15246283" cy="32359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39"/>
              </a:lnSpc>
            </a:pPr>
            <a:r>
              <a:rPr lang="en-US" sz="459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Variables are symbols or names representing values in mathematics or programming. They act as placeholders that can change, offering flexibility in calculations and analysis.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3D6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261467" y="3197854"/>
            <a:ext cx="11765065" cy="1547073"/>
            <a:chOff x="0" y="0"/>
            <a:chExt cx="3098618" cy="40746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098618" cy="407460"/>
            </a:xfrm>
            <a:custGeom>
              <a:avLst/>
              <a:gdLst/>
              <a:ahLst/>
              <a:cxnLst/>
              <a:rect r="r" b="b" t="t" l="l"/>
              <a:pathLst>
                <a:path h="407460" w="3098618">
                  <a:moveTo>
                    <a:pt x="33560" y="0"/>
                  </a:moveTo>
                  <a:lnTo>
                    <a:pt x="3065058" y="0"/>
                  </a:lnTo>
                  <a:cubicBezTo>
                    <a:pt x="3073958" y="0"/>
                    <a:pt x="3082495" y="3536"/>
                    <a:pt x="3088788" y="9830"/>
                  </a:cubicBezTo>
                  <a:cubicBezTo>
                    <a:pt x="3095082" y="16123"/>
                    <a:pt x="3098618" y="24659"/>
                    <a:pt x="3098618" y="33560"/>
                  </a:cubicBezTo>
                  <a:lnTo>
                    <a:pt x="3098618" y="373899"/>
                  </a:lnTo>
                  <a:cubicBezTo>
                    <a:pt x="3098618" y="382800"/>
                    <a:pt x="3095082" y="391336"/>
                    <a:pt x="3088788" y="397630"/>
                  </a:cubicBezTo>
                  <a:cubicBezTo>
                    <a:pt x="3082495" y="403924"/>
                    <a:pt x="3073958" y="407460"/>
                    <a:pt x="3065058" y="407460"/>
                  </a:cubicBezTo>
                  <a:lnTo>
                    <a:pt x="33560" y="407460"/>
                  </a:lnTo>
                  <a:cubicBezTo>
                    <a:pt x="24659" y="407460"/>
                    <a:pt x="16123" y="403924"/>
                    <a:pt x="9830" y="397630"/>
                  </a:cubicBezTo>
                  <a:cubicBezTo>
                    <a:pt x="3536" y="391336"/>
                    <a:pt x="0" y="382800"/>
                    <a:pt x="0" y="373899"/>
                  </a:cubicBezTo>
                  <a:lnTo>
                    <a:pt x="0" y="33560"/>
                  </a:lnTo>
                  <a:cubicBezTo>
                    <a:pt x="0" y="24659"/>
                    <a:pt x="3536" y="16123"/>
                    <a:pt x="9830" y="9830"/>
                  </a:cubicBezTo>
                  <a:cubicBezTo>
                    <a:pt x="16123" y="3536"/>
                    <a:pt x="24659" y="0"/>
                    <a:pt x="3356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3098618" cy="44556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2316510" y="5308537"/>
            <a:ext cx="13692188" cy="1547073"/>
            <a:chOff x="0" y="0"/>
            <a:chExt cx="3606173" cy="40746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606173" cy="407460"/>
            </a:xfrm>
            <a:custGeom>
              <a:avLst/>
              <a:gdLst/>
              <a:ahLst/>
              <a:cxnLst/>
              <a:rect r="r" b="b" t="t" l="l"/>
              <a:pathLst>
                <a:path h="407460" w="3606173">
                  <a:moveTo>
                    <a:pt x="28837" y="0"/>
                  </a:moveTo>
                  <a:lnTo>
                    <a:pt x="3577336" y="0"/>
                  </a:lnTo>
                  <a:cubicBezTo>
                    <a:pt x="3584984" y="0"/>
                    <a:pt x="3592319" y="3038"/>
                    <a:pt x="3597727" y="8446"/>
                  </a:cubicBezTo>
                  <a:cubicBezTo>
                    <a:pt x="3603135" y="13854"/>
                    <a:pt x="3606173" y="21189"/>
                    <a:pt x="3606173" y="28837"/>
                  </a:cubicBezTo>
                  <a:lnTo>
                    <a:pt x="3606173" y="378623"/>
                  </a:lnTo>
                  <a:cubicBezTo>
                    <a:pt x="3606173" y="386271"/>
                    <a:pt x="3603135" y="393606"/>
                    <a:pt x="3597727" y="399014"/>
                  </a:cubicBezTo>
                  <a:cubicBezTo>
                    <a:pt x="3592319" y="404421"/>
                    <a:pt x="3584984" y="407460"/>
                    <a:pt x="3577336" y="407460"/>
                  </a:cubicBezTo>
                  <a:lnTo>
                    <a:pt x="28837" y="407460"/>
                  </a:lnTo>
                  <a:cubicBezTo>
                    <a:pt x="21189" y="407460"/>
                    <a:pt x="13854" y="404421"/>
                    <a:pt x="8446" y="399014"/>
                  </a:cubicBezTo>
                  <a:cubicBezTo>
                    <a:pt x="3038" y="393606"/>
                    <a:pt x="0" y="386271"/>
                    <a:pt x="0" y="378623"/>
                  </a:cubicBezTo>
                  <a:lnTo>
                    <a:pt x="0" y="28837"/>
                  </a:lnTo>
                  <a:cubicBezTo>
                    <a:pt x="0" y="21189"/>
                    <a:pt x="3038" y="13854"/>
                    <a:pt x="8446" y="8446"/>
                  </a:cubicBezTo>
                  <a:cubicBezTo>
                    <a:pt x="13854" y="3038"/>
                    <a:pt x="21189" y="0"/>
                    <a:pt x="28837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3606173" cy="44556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3261467" y="7417585"/>
            <a:ext cx="11765065" cy="1547073"/>
            <a:chOff x="0" y="0"/>
            <a:chExt cx="3098618" cy="40746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098618" cy="407460"/>
            </a:xfrm>
            <a:custGeom>
              <a:avLst/>
              <a:gdLst/>
              <a:ahLst/>
              <a:cxnLst/>
              <a:rect r="r" b="b" t="t" l="l"/>
              <a:pathLst>
                <a:path h="407460" w="3098618">
                  <a:moveTo>
                    <a:pt x="33560" y="0"/>
                  </a:moveTo>
                  <a:lnTo>
                    <a:pt x="3065058" y="0"/>
                  </a:lnTo>
                  <a:cubicBezTo>
                    <a:pt x="3073958" y="0"/>
                    <a:pt x="3082495" y="3536"/>
                    <a:pt x="3088788" y="9830"/>
                  </a:cubicBezTo>
                  <a:cubicBezTo>
                    <a:pt x="3095082" y="16123"/>
                    <a:pt x="3098618" y="24659"/>
                    <a:pt x="3098618" y="33560"/>
                  </a:cubicBezTo>
                  <a:lnTo>
                    <a:pt x="3098618" y="373899"/>
                  </a:lnTo>
                  <a:cubicBezTo>
                    <a:pt x="3098618" y="382800"/>
                    <a:pt x="3095082" y="391336"/>
                    <a:pt x="3088788" y="397630"/>
                  </a:cubicBezTo>
                  <a:cubicBezTo>
                    <a:pt x="3082495" y="403924"/>
                    <a:pt x="3073958" y="407460"/>
                    <a:pt x="3065058" y="407460"/>
                  </a:cubicBezTo>
                  <a:lnTo>
                    <a:pt x="33560" y="407460"/>
                  </a:lnTo>
                  <a:cubicBezTo>
                    <a:pt x="24659" y="407460"/>
                    <a:pt x="16123" y="403924"/>
                    <a:pt x="9830" y="397630"/>
                  </a:cubicBezTo>
                  <a:cubicBezTo>
                    <a:pt x="3536" y="391336"/>
                    <a:pt x="0" y="382800"/>
                    <a:pt x="0" y="373899"/>
                  </a:cubicBezTo>
                  <a:lnTo>
                    <a:pt x="0" y="33560"/>
                  </a:lnTo>
                  <a:cubicBezTo>
                    <a:pt x="0" y="24659"/>
                    <a:pt x="3536" y="16123"/>
                    <a:pt x="9830" y="9830"/>
                  </a:cubicBezTo>
                  <a:cubicBezTo>
                    <a:pt x="16123" y="3536"/>
                    <a:pt x="24659" y="0"/>
                    <a:pt x="3356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3098618" cy="44556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13601281" y="2301504"/>
            <a:ext cx="3581455" cy="3339774"/>
          </a:xfrm>
          <a:custGeom>
            <a:avLst/>
            <a:gdLst/>
            <a:ahLst/>
            <a:cxnLst/>
            <a:rect r="r" b="b" t="t" l="l"/>
            <a:pathLst>
              <a:path h="3339774" w="3581455">
                <a:moveTo>
                  <a:pt x="0" y="0"/>
                </a:moveTo>
                <a:lnTo>
                  <a:pt x="3581455" y="0"/>
                </a:lnTo>
                <a:lnTo>
                  <a:pt x="3581455" y="3339774"/>
                </a:lnTo>
                <a:lnTo>
                  <a:pt x="0" y="333977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028700" y="828675"/>
            <a:ext cx="16230600" cy="17500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314"/>
              </a:lnSpc>
              <a:spcBef>
                <a:spcPct val="0"/>
              </a:spcBef>
            </a:pPr>
            <a:r>
              <a:rPr lang="en-US" sz="10224">
                <a:solidFill>
                  <a:srgbClr val="3047AD"/>
                </a:solidFill>
                <a:latin typeface="Shrikhand"/>
                <a:ea typeface="Shrikhand"/>
                <a:cs typeface="Shrikhand"/>
                <a:sym typeface="Shrikhand"/>
              </a:rPr>
              <a:t>How do we substitute?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4157465" y="3521493"/>
            <a:ext cx="9973070" cy="8045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579"/>
              </a:lnSpc>
              <a:spcBef>
                <a:spcPct val="0"/>
              </a:spcBef>
            </a:pPr>
            <a:r>
              <a:rPr lang="en-US" sz="4699">
                <a:solidFill>
                  <a:srgbClr val="000000"/>
                </a:solidFill>
                <a:latin typeface="Arvo"/>
                <a:ea typeface="Arvo"/>
                <a:cs typeface="Arvo"/>
                <a:sym typeface="Arvo"/>
              </a:rPr>
              <a:t>Step 1: Understand Variables 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2933198" y="5632176"/>
            <a:ext cx="12458810" cy="8045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580"/>
              </a:lnSpc>
              <a:spcBef>
                <a:spcPct val="0"/>
              </a:spcBef>
            </a:pPr>
            <a:r>
              <a:rPr lang="en-US" sz="4700">
                <a:solidFill>
                  <a:srgbClr val="000000"/>
                </a:solidFill>
                <a:latin typeface="Arvo"/>
                <a:ea typeface="Arvo"/>
                <a:cs typeface="Arvo"/>
                <a:sym typeface="Arvo"/>
              </a:rPr>
              <a:t>Step 2: Identify the Variable/s to Substitute 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4080473" y="7741435"/>
            <a:ext cx="10127053" cy="8045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580"/>
              </a:lnSpc>
              <a:spcBef>
                <a:spcPct val="0"/>
              </a:spcBef>
            </a:pPr>
            <a:r>
              <a:rPr lang="en-US" sz="4700">
                <a:solidFill>
                  <a:srgbClr val="000000"/>
                </a:solidFill>
                <a:latin typeface="Arvo"/>
                <a:ea typeface="Arvo"/>
                <a:cs typeface="Arvo"/>
                <a:sym typeface="Arvo"/>
              </a:rPr>
              <a:t>Step 3: Substitute and Simplify 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3D6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728335" y="907170"/>
            <a:ext cx="6162056" cy="1749525"/>
            <a:chOff x="0" y="0"/>
            <a:chExt cx="1931880" cy="54849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931880" cy="548497"/>
            </a:xfrm>
            <a:custGeom>
              <a:avLst/>
              <a:gdLst/>
              <a:ahLst/>
              <a:cxnLst/>
              <a:rect r="r" b="b" t="t" l="l"/>
              <a:pathLst>
                <a:path h="548497" w="1931880">
                  <a:moveTo>
                    <a:pt x="64076" y="0"/>
                  </a:moveTo>
                  <a:lnTo>
                    <a:pt x="1867804" y="0"/>
                  </a:lnTo>
                  <a:cubicBezTo>
                    <a:pt x="1903192" y="0"/>
                    <a:pt x="1931880" y="28688"/>
                    <a:pt x="1931880" y="64076"/>
                  </a:cubicBezTo>
                  <a:lnTo>
                    <a:pt x="1931880" y="484422"/>
                  </a:lnTo>
                  <a:cubicBezTo>
                    <a:pt x="1931880" y="501416"/>
                    <a:pt x="1925129" y="517714"/>
                    <a:pt x="1913112" y="529730"/>
                  </a:cubicBezTo>
                  <a:cubicBezTo>
                    <a:pt x="1901096" y="541747"/>
                    <a:pt x="1884798" y="548497"/>
                    <a:pt x="1867804" y="548497"/>
                  </a:cubicBezTo>
                  <a:lnTo>
                    <a:pt x="64076" y="548497"/>
                  </a:lnTo>
                  <a:cubicBezTo>
                    <a:pt x="47082" y="548497"/>
                    <a:pt x="30784" y="541747"/>
                    <a:pt x="18767" y="529730"/>
                  </a:cubicBezTo>
                  <a:cubicBezTo>
                    <a:pt x="6751" y="517714"/>
                    <a:pt x="0" y="501416"/>
                    <a:pt x="0" y="484422"/>
                  </a:cubicBezTo>
                  <a:lnTo>
                    <a:pt x="0" y="64076"/>
                  </a:lnTo>
                  <a:cubicBezTo>
                    <a:pt x="0" y="47082"/>
                    <a:pt x="6751" y="30784"/>
                    <a:pt x="18767" y="18767"/>
                  </a:cubicBezTo>
                  <a:cubicBezTo>
                    <a:pt x="30784" y="6751"/>
                    <a:pt x="47082" y="0"/>
                    <a:pt x="64076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931880" cy="58659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1117585" y="4795692"/>
            <a:ext cx="5361521" cy="4516466"/>
            <a:chOff x="0" y="0"/>
            <a:chExt cx="1280479" cy="107865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280479" cy="1078656"/>
            </a:xfrm>
            <a:custGeom>
              <a:avLst/>
              <a:gdLst/>
              <a:ahLst/>
              <a:cxnLst/>
              <a:rect r="r" b="b" t="t" l="l"/>
              <a:pathLst>
                <a:path h="1078656" w="1280479">
                  <a:moveTo>
                    <a:pt x="73643" y="0"/>
                  </a:moveTo>
                  <a:lnTo>
                    <a:pt x="1206836" y="0"/>
                  </a:lnTo>
                  <a:cubicBezTo>
                    <a:pt x="1226367" y="0"/>
                    <a:pt x="1245098" y="7759"/>
                    <a:pt x="1258909" y="21570"/>
                  </a:cubicBezTo>
                  <a:cubicBezTo>
                    <a:pt x="1272720" y="35380"/>
                    <a:pt x="1280479" y="54112"/>
                    <a:pt x="1280479" y="73643"/>
                  </a:cubicBezTo>
                  <a:lnTo>
                    <a:pt x="1280479" y="1005013"/>
                  </a:lnTo>
                  <a:cubicBezTo>
                    <a:pt x="1280479" y="1024545"/>
                    <a:pt x="1272720" y="1043276"/>
                    <a:pt x="1258909" y="1057087"/>
                  </a:cubicBezTo>
                  <a:cubicBezTo>
                    <a:pt x="1245098" y="1070897"/>
                    <a:pt x="1226367" y="1078656"/>
                    <a:pt x="1206836" y="1078656"/>
                  </a:cubicBezTo>
                  <a:lnTo>
                    <a:pt x="73643" y="1078656"/>
                  </a:lnTo>
                  <a:cubicBezTo>
                    <a:pt x="54112" y="1078656"/>
                    <a:pt x="35380" y="1070897"/>
                    <a:pt x="21570" y="1057087"/>
                  </a:cubicBezTo>
                  <a:cubicBezTo>
                    <a:pt x="7759" y="1043276"/>
                    <a:pt x="0" y="1024545"/>
                    <a:pt x="0" y="1005013"/>
                  </a:cubicBezTo>
                  <a:lnTo>
                    <a:pt x="0" y="73643"/>
                  </a:lnTo>
                  <a:cubicBezTo>
                    <a:pt x="0" y="54112"/>
                    <a:pt x="7759" y="35380"/>
                    <a:pt x="21570" y="21570"/>
                  </a:cubicBezTo>
                  <a:cubicBezTo>
                    <a:pt x="35380" y="7759"/>
                    <a:pt x="54112" y="0"/>
                    <a:pt x="73643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280479" cy="111675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1527949" y="5238851"/>
            <a:ext cx="4656199" cy="3630148"/>
            <a:chOff x="0" y="0"/>
            <a:chExt cx="6208265" cy="484019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341528" cy="3760849"/>
            </a:xfrm>
            <a:custGeom>
              <a:avLst/>
              <a:gdLst/>
              <a:ahLst/>
              <a:cxnLst/>
              <a:rect r="r" b="b" t="t" l="l"/>
              <a:pathLst>
                <a:path h="3760849" w="4341528">
                  <a:moveTo>
                    <a:pt x="0" y="0"/>
                  </a:moveTo>
                  <a:lnTo>
                    <a:pt x="4341528" y="0"/>
                  </a:lnTo>
                  <a:lnTo>
                    <a:pt x="4341528" y="3760849"/>
                  </a:lnTo>
                  <a:lnTo>
                    <a:pt x="0" y="376084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 rot="0">
              <a:off x="3858226" y="1643735"/>
              <a:ext cx="2350039" cy="70730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353"/>
                </a:lnSpc>
                <a:spcBef>
                  <a:spcPct val="0"/>
                </a:spcBef>
              </a:pPr>
              <a:r>
                <a:rPr lang="en-US" sz="3109">
                  <a:solidFill>
                    <a:srgbClr val="000000"/>
                  </a:solidFill>
                  <a:latin typeface="Arvo"/>
                  <a:ea typeface="Arvo"/>
                  <a:cs typeface="Arvo"/>
                  <a:sym typeface="Arvo"/>
                </a:rPr>
                <a:t>h = 7cm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965653" y="4132895"/>
              <a:ext cx="2410223" cy="70730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353"/>
                </a:lnSpc>
                <a:spcBef>
                  <a:spcPct val="0"/>
                </a:spcBef>
              </a:pPr>
              <a:r>
                <a:rPr lang="en-US" sz="3109">
                  <a:solidFill>
                    <a:srgbClr val="000000"/>
                  </a:solidFill>
                  <a:latin typeface="Arvo"/>
                  <a:ea typeface="Arvo"/>
                  <a:cs typeface="Arvo"/>
                  <a:sym typeface="Arvo"/>
                </a:rPr>
                <a:t>b = 5cm</a:t>
              </a: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1028700" y="879730"/>
            <a:ext cx="2963204" cy="1749525"/>
          </a:xfrm>
          <a:custGeom>
            <a:avLst/>
            <a:gdLst/>
            <a:ahLst/>
            <a:cxnLst/>
            <a:rect r="r" b="b" t="t" l="l"/>
            <a:pathLst>
              <a:path h="1749525" w="2963204">
                <a:moveTo>
                  <a:pt x="0" y="0"/>
                </a:moveTo>
                <a:lnTo>
                  <a:pt x="2963204" y="0"/>
                </a:lnTo>
                <a:lnTo>
                  <a:pt x="2963204" y="1749525"/>
                </a:lnTo>
                <a:lnTo>
                  <a:pt x="0" y="174952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AutoShape 13" id="13"/>
          <p:cNvSpPr/>
          <p:nvPr/>
        </p:nvSpPr>
        <p:spPr>
          <a:xfrm flipV="true">
            <a:off x="13153164" y="5372248"/>
            <a:ext cx="0" cy="2598425"/>
          </a:xfrm>
          <a:prstGeom prst="line">
            <a:avLst/>
          </a:prstGeom>
          <a:ln cap="flat" w="66675">
            <a:solidFill>
              <a:srgbClr val="DB5605"/>
            </a:solidFill>
            <a:prstDash val="sysDash"/>
            <a:headEnd type="none" len="sm" w="sm"/>
            <a:tailEnd type="none" len="sm" w="sm"/>
          </a:ln>
        </p:spPr>
      </p:sp>
      <p:grpSp>
        <p:nvGrpSpPr>
          <p:cNvPr name="Group 14" id="14"/>
          <p:cNvGrpSpPr/>
          <p:nvPr/>
        </p:nvGrpSpPr>
        <p:grpSpPr>
          <a:xfrm rot="0">
            <a:off x="13129351" y="7635656"/>
            <a:ext cx="382643" cy="382643"/>
            <a:chOff x="0" y="0"/>
            <a:chExt cx="812800" cy="812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ln w="57150" cap="sq">
              <a:solidFill>
                <a:srgbClr val="DB5605"/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812800" cy="850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4129755" y="980912"/>
            <a:ext cx="5297884" cy="14048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423"/>
              </a:lnSpc>
              <a:spcBef>
                <a:spcPct val="0"/>
              </a:spcBef>
            </a:pPr>
            <a:r>
              <a:rPr lang="en-US" sz="8159">
                <a:solidFill>
                  <a:srgbClr val="DB5605"/>
                </a:solidFill>
                <a:latin typeface="Shrikhand"/>
                <a:ea typeface="Shrikhand"/>
                <a:cs typeface="Shrikhand"/>
                <a:sym typeface="Shrikhand"/>
              </a:rPr>
              <a:t>Let’s Try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808894" y="3337609"/>
            <a:ext cx="14670212" cy="689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55"/>
              </a:lnSpc>
              <a:spcBef>
                <a:spcPct val="0"/>
              </a:spcBef>
            </a:pPr>
            <a:r>
              <a:rPr lang="en-US" sz="3968">
                <a:solidFill>
                  <a:srgbClr val="000000"/>
                </a:solidFill>
                <a:latin typeface="Arvo"/>
                <a:ea typeface="Arvo"/>
                <a:cs typeface="Arvo"/>
                <a:sym typeface="Arvo"/>
              </a:rPr>
              <a:t>The formula for the area of a triangle is given by: </a:t>
            </a:r>
            <a:r>
              <a:rPr lang="en-US" b="true" sz="3968">
                <a:solidFill>
                  <a:srgbClr val="000000"/>
                </a:solidFill>
                <a:latin typeface="Arvo Bold"/>
                <a:ea typeface="Arvo Bold"/>
                <a:cs typeface="Arvo Bold"/>
                <a:sym typeface="Arvo Bold"/>
              </a:rPr>
              <a:t>a = bh/2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808894" y="5614057"/>
            <a:ext cx="9013709" cy="689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55"/>
              </a:lnSpc>
              <a:spcBef>
                <a:spcPct val="0"/>
              </a:spcBef>
            </a:pPr>
            <a:r>
              <a:rPr lang="en-US" b="true" sz="3968">
                <a:solidFill>
                  <a:srgbClr val="000000"/>
                </a:solidFill>
                <a:latin typeface="Arvo Bold"/>
                <a:ea typeface="Arvo Bold"/>
                <a:cs typeface="Arvo Bold"/>
                <a:sym typeface="Arvo Bold"/>
              </a:rPr>
              <a:t>Step 1: Understand Variables 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959070" y="6647267"/>
            <a:ext cx="8721758" cy="20997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56808" indent="-428404" lvl="1">
              <a:lnSpc>
                <a:spcPts val="5555"/>
              </a:lnSpc>
              <a:buFont typeface="Arial"/>
              <a:buChar char="•"/>
            </a:pPr>
            <a:r>
              <a:rPr lang="en-US" sz="3968">
                <a:solidFill>
                  <a:srgbClr val="000000"/>
                </a:solidFill>
                <a:latin typeface="Arvo"/>
                <a:ea typeface="Arvo"/>
                <a:cs typeface="Arvo"/>
                <a:sym typeface="Arvo"/>
              </a:rPr>
              <a:t>a = area of the triangle</a:t>
            </a:r>
          </a:p>
          <a:p>
            <a:pPr algn="l" marL="856808" indent="-428404" lvl="1">
              <a:lnSpc>
                <a:spcPts val="5555"/>
              </a:lnSpc>
              <a:buFont typeface="Arial"/>
              <a:buChar char="•"/>
            </a:pPr>
            <a:r>
              <a:rPr lang="en-US" sz="3968">
                <a:solidFill>
                  <a:srgbClr val="000000"/>
                </a:solidFill>
                <a:latin typeface="Arvo"/>
                <a:ea typeface="Arvo"/>
                <a:cs typeface="Arvo"/>
                <a:sym typeface="Arvo"/>
              </a:rPr>
              <a:t>b = base length of the triangle</a:t>
            </a:r>
          </a:p>
          <a:p>
            <a:pPr algn="l" marL="856808" indent="-428404" lvl="1">
              <a:lnSpc>
                <a:spcPts val="5555"/>
              </a:lnSpc>
              <a:buFont typeface="Arial"/>
              <a:buChar char="•"/>
            </a:pPr>
            <a:r>
              <a:rPr lang="en-US" sz="3968">
                <a:solidFill>
                  <a:srgbClr val="000000"/>
                </a:solidFill>
                <a:latin typeface="Arvo"/>
                <a:ea typeface="Arvo"/>
                <a:cs typeface="Arvo"/>
                <a:sym typeface="Arvo"/>
              </a:rPr>
              <a:t>h = height of the triangle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3D6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4326254"/>
            <a:ext cx="16230600" cy="4932046"/>
            <a:chOff x="0" y="0"/>
            <a:chExt cx="3705065" cy="112587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705065" cy="1125870"/>
            </a:xfrm>
            <a:custGeom>
              <a:avLst/>
              <a:gdLst/>
              <a:ahLst/>
              <a:cxnLst/>
              <a:rect r="r" b="b" t="t" l="l"/>
              <a:pathLst>
                <a:path h="1125870" w="3705065">
                  <a:moveTo>
                    <a:pt x="24327" y="0"/>
                  </a:moveTo>
                  <a:lnTo>
                    <a:pt x="3680738" y="0"/>
                  </a:lnTo>
                  <a:cubicBezTo>
                    <a:pt x="3694173" y="0"/>
                    <a:pt x="3705065" y="10891"/>
                    <a:pt x="3705065" y="24327"/>
                  </a:cubicBezTo>
                  <a:lnTo>
                    <a:pt x="3705065" y="1101544"/>
                  </a:lnTo>
                  <a:cubicBezTo>
                    <a:pt x="3705065" y="1114979"/>
                    <a:pt x="3694173" y="1125870"/>
                    <a:pt x="3680738" y="1125870"/>
                  </a:cubicBezTo>
                  <a:lnTo>
                    <a:pt x="24327" y="1125870"/>
                  </a:lnTo>
                  <a:cubicBezTo>
                    <a:pt x="10891" y="1125870"/>
                    <a:pt x="0" y="1114979"/>
                    <a:pt x="0" y="1101544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3705065" cy="116397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1136097" y="4763415"/>
            <a:ext cx="5204628" cy="4057724"/>
            <a:chOff x="0" y="0"/>
            <a:chExt cx="6939504" cy="541029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852893" cy="4203819"/>
            </a:xfrm>
            <a:custGeom>
              <a:avLst/>
              <a:gdLst/>
              <a:ahLst/>
              <a:cxnLst/>
              <a:rect r="r" b="b" t="t" l="l"/>
              <a:pathLst>
                <a:path h="4203819" w="4852893">
                  <a:moveTo>
                    <a:pt x="0" y="0"/>
                  </a:moveTo>
                  <a:lnTo>
                    <a:pt x="4852893" y="0"/>
                  </a:lnTo>
                  <a:lnTo>
                    <a:pt x="4852893" y="4203819"/>
                  </a:lnTo>
                  <a:lnTo>
                    <a:pt x="0" y="42038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 rot="0">
              <a:off x="4312666" y="1846317"/>
              <a:ext cx="2626838" cy="78163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865"/>
                </a:lnSpc>
                <a:spcBef>
                  <a:spcPct val="0"/>
                </a:spcBef>
              </a:pPr>
              <a:r>
                <a:rPr lang="en-US" sz="3475">
                  <a:solidFill>
                    <a:srgbClr val="000000"/>
                  </a:solidFill>
                  <a:latin typeface="Arvo"/>
                  <a:ea typeface="Arvo"/>
                  <a:cs typeface="Arvo"/>
                  <a:sym typeface="Arvo"/>
                </a:rPr>
                <a:t>h = 7cm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1079392" y="4628662"/>
              <a:ext cx="2694110" cy="78163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865"/>
                </a:lnSpc>
                <a:spcBef>
                  <a:spcPct val="0"/>
                </a:spcBef>
              </a:pPr>
              <a:r>
                <a:rPr lang="en-US" sz="3475">
                  <a:solidFill>
                    <a:srgbClr val="000000"/>
                  </a:solidFill>
                  <a:latin typeface="Arvo"/>
                  <a:ea typeface="Arvo"/>
                  <a:cs typeface="Arvo"/>
                  <a:sym typeface="Arvo"/>
                </a:rPr>
                <a:t>b = 5cm</a:t>
              </a:r>
            </a:p>
          </p:txBody>
        </p:sp>
      </p:grpSp>
      <p:sp>
        <p:nvSpPr>
          <p:cNvPr name="AutoShape 9" id="9"/>
          <p:cNvSpPr/>
          <p:nvPr/>
        </p:nvSpPr>
        <p:spPr>
          <a:xfrm flipV="true">
            <a:off x="12952737" y="4912525"/>
            <a:ext cx="0" cy="2904480"/>
          </a:xfrm>
          <a:prstGeom prst="line">
            <a:avLst/>
          </a:prstGeom>
          <a:ln cap="flat" w="76200">
            <a:solidFill>
              <a:srgbClr val="DB5605"/>
            </a:solidFill>
            <a:prstDash val="sysDash"/>
            <a:headEnd type="none" len="sm" w="sm"/>
            <a:tailEnd type="none" len="sm" w="sm"/>
          </a:ln>
        </p:spPr>
      </p:sp>
      <p:grpSp>
        <p:nvGrpSpPr>
          <p:cNvPr name="Group 10" id="10"/>
          <p:cNvGrpSpPr/>
          <p:nvPr/>
        </p:nvGrpSpPr>
        <p:grpSpPr>
          <a:xfrm rot="0">
            <a:off x="12926120" y="7442527"/>
            <a:ext cx="427712" cy="427712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ln w="57150" cap="sq">
              <a:solidFill>
                <a:srgbClr val="DB5605"/>
              </a:solidFill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812800" cy="850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3" id="13"/>
          <p:cNvSpPr/>
          <p:nvPr/>
        </p:nvSpPr>
        <p:spPr>
          <a:xfrm flipH="false" flipV="false" rot="0">
            <a:off x="16101297" y="113664"/>
            <a:ext cx="1753118" cy="2466023"/>
          </a:xfrm>
          <a:custGeom>
            <a:avLst/>
            <a:gdLst/>
            <a:ahLst/>
            <a:cxnLst/>
            <a:rect r="r" b="b" t="t" l="l"/>
            <a:pathLst>
              <a:path h="2466023" w="1753118">
                <a:moveTo>
                  <a:pt x="0" y="0"/>
                </a:moveTo>
                <a:lnTo>
                  <a:pt x="1753118" y="0"/>
                </a:lnTo>
                <a:lnTo>
                  <a:pt x="1753118" y="2466024"/>
                </a:lnTo>
                <a:lnTo>
                  <a:pt x="0" y="246602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1161211" y="1260951"/>
            <a:ext cx="11208778" cy="689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55"/>
              </a:lnSpc>
              <a:spcBef>
                <a:spcPct val="0"/>
              </a:spcBef>
            </a:pPr>
            <a:r>
              <a:rPr lang="en-US" b="true" sz="3968">
                <a:solidFill>
                  <a:srgbClr val="000000"/>
                </a:solidFill>
                <a:latin typeface="Arvo Bold"/>
                <a:ea typeface="Arvo Bold"/>
                <a:cs typeface="Arvo Bold"/>
                <a:sym typeface="Arvo Bold"/>
              </a:rPr>
              <a:t>Step 2: Identify the Variable to Substitute  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161211" y="2402348"/>
            <a:ext cx="15965578" cy="1394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55"/>
              </a:lnSpc>
            </a:pPr>
            <a:r>
              <a:rPr lang="en-US" sz="3968">
                <a:solidFill>
                  <a:srgbClr val="000000"/>
                </a:solidFill>
                <a:latin typeface="Arvo"/>
                <a:ea typeface="Arvo"/>
                <a:cs typeface="Arvo"/>
                <a:sym typeface="Arvo"/>
              </a:rPr>
              <a:t>We can substitute values into b and h because these values have been given to us in the diagram.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2155926" y="5248310"/>
            <a:ext cx="7300083" cy="26354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990"/>
              </a:lnSpc>
            </a:pPr>
            <a:r>
              <a:rPr lang="en-US" sz="4993">
                <a:solidFill>
                  <a:srgbClr val="000000"/>
                </a:solidFill>
                <a:latin typeface="Arvo"/>
                <a:ea typeface="Arvo"/>
                <a:cs typeface="Arvo"/>
                <a:sym typeface="Arvo"/>
              </a:rPr>
              <a:t>We can use these values to find the area of the triangle (a).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3D6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9561" y="3433066"/>
            <a:ext cx="4861817" cy="4274789"/>
            <a:chOff x="0" y="0"/>
            <a:chExt cx="1280479" cy="112587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80479" cy="1125870"/>
            </a:xfrm>
            <a:custGeom>
              <a:avLst/>
              <a:gdLst/>
              <a:ahLst/>
              <a:cxnLst/>
              <a:rect r="r" b="b" t="t" l="l"/>
              <a:pathLst>
                <a:path h="1125870" w="1280479">
                  <a:moveTo>
                    <a:pt x="81212" y="0"/>
                  </a:moveTo>
                  <a:lnTo>
                    <a:pt x="1199267" y="0"/>
                  </a:lnTo>
                  <a:cubicBezTo>
                    <a:pt x="1244119" y="0"/>
                    <a:pt x="1280479" y="36360"/>
                    <a:pt x="1280479" y="81212"/>
                  </a:cubicBezTo>
                  <a:lnTo>
                    <a:pt x="1280479" y="1044658"/>
                  </a:lnTo>
                  <a:cubicBezTo>
                    <a:pt x="1280479" y="1066197"/>
                    <a:pt x="1271922" y="1086854"/>
                    <a:pt x="1256692" y="1102084"/>
                  </a:cubicBezTo>
                  <a:cubicBezTo>
                    <a:pt x="1241462" y="1117314"/>
                    <a:pt x="1220805" y="1125870"/>
                    <a:pt x="1199267" y="1125870"/>
                  </a:cubicBezTo>
                  <a:lnTo>
                    <a:pt x="81212" y="1125870"/>
                  </a:lnTo>
                  <a:cubicBezTo>
                    <a:pt x="59673" y="1125870"/>
                    <a:pt x="39017" y="1117314"/>
                    <a:pt x="23786" y="1102084"/>
                  </a:cubicBezTo>
                  <a:cubicBezTo>
                    <a:pt x="8556" y="1086854"/>
                    <a:pt x="0" y="1066197"/>
                    <a:pt x="0" y="1044658"/>
                  </a:cubicBezTo>
                  <a:lnTo>
                    <a:pt x="0" y="81212"/>
                  </a:lnTo>
                  <a:cubicBezTo>
                    <a:pt x="0" y="59673"/>
                    <a:pt x="8556" y="39017"/>
                    <a:pt x="23786" y="23786"/>
                  </a:cubicBezTo>
                  <a:cubicBezTo>
                    <a:pt x="39017" y="8556"/>
                    <a:pt x="59673" y="0"/>
                    <a:pt x="81212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280479" cy="116397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2596622" y="3392271"/>
            <a:ext cx="4861817" cy="4274789"/>
            <a:chOff x="0" y="0"/>
            <a:chExt cx="1280479" cy="112587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280479" cy="1125870"/>
            </a:xfrm>
            <a:custGeom>
              <a:avLst/>
              <a:gdLst/>
              <a:ahLst/>
              <a:cxnLst/>
              <a:rect r="r" b="b" t="t" l="l"/>
              <a:pathLst>
                <a:path h="1125870" w="1280479">
                  <a:moveTo>
                    <a:pt x="81212" y="0"/>
                  </a:moveTo>
                  <a:lnTo>
                    <a:pt x="1199267" y="0"/>
                  </a:lnTo>
                  <a:cubicBezTo>
                    <a:pt x="1244119" y="0"/>
                    <a:pt x="1280479" y="36360"/>
                    <a:pt x="1280479" y="81212"/>
                  </a:cubicBezTo>
                  <a:lnTo>
                    <a:pt x="1280479" y="1044658"/>
                  </a:lnTo>
                  <a:cubicBezTo>
                    <a:pt x="1280479" y="1066197"/>
                    <a:pt x="1271922" y="1086854"/>
                    <a:pt x="1256692" y="1102084"/>
                  </a:cubicBezTo>
                  <a:cubicBezTo>
                    <a:pt x="1241462" y="1117314"/>
                    <a:pt x="1220805" y="1125870"/>
                    <a:pt x="1199267" y="1125870"/>
                  </a:cubicBezTo>
                  <a:lnTo>
                    <a:pt x="81212" y="1125870"/>
                  </a:lnTo>
                  <a:cubicBezTo>
                    <a:pt x="59673" y="1125870"/>
                    <a:pt x="39017" y="1117314"/>
                    <a:pt x="23786" y="1102084"/>
                  </a:cubicBezTo>
                  <a:cubicBezTo>
                    <a:pt x="8556" y="1086854"/>
                    <a:pt x="0" y="1066197"/>
                    <a:pt x="0" y="1044658"/>
                  </a:cubicBezTo>
                  <a:lnTo>
                    <a:pt x="0" y="81212"/>
                  </a:lnTo>
                  <a:cubicBezTo>
                    <a:pt x="0" y="59673"/>
                    <a:pt x="8556" y="39017"/>
                    <a:pt x="23786" y="23786"/>
                  </a:cubicBezTo>
                  <a:cubicBezTo>
                    <a:pt x="39017" y="8556"/>
                    <a:pt x="59673" y="0"/>
                    <a:pt x="81212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280479" cy="116397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3168122" y="3924554"/>
            <a:ext cx="3822333" cy="3210223"/>
            <a:chOff x="0" y="0"/>
            <a:chExt cx="5096444" cy="4280297"/>
          </a:xfrm>
        </p:grpSpPr>
        <p:grpSp>
          <p:nvGrpSpPr>
            <p:cNvPr name="Group 9" id="9"/>
            <p:cNvGrpSpPr/>
            <p:nvPr/>
          </p:nvGrpSpPr>
          <p:grpSpPr>
            <a:xfrm rot="0">
              <a:off x="1841330" y="867150"/>
              <a:ext cx="1452885" cy="1452885"/>
              <a:chOff x="0" y="0"/>
              <a:chExt cx="812800" cy="812800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A56E"/>
              </a:solidFill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12" id="12"/>
            <p:cNvGrpSpPr/>
            <p:nvPr/>
          </p:nvGrpSpPr>
          <p:grpSpPr>
            <a:xfrm rot="0">
              <a:off x="820297" y="867150"/>
              <a:ext cx="1452885" cy="1452885"/>
              <a:chOff x="0" y="0"/>
              <a:chExt cx="812800" cy="812800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DB5605"/>
              </a:solidFill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15" id="15"/>
            <p:cNvSpPr txBox="true"/>
            <p:nvPr/>
          </p:nvSpPr>
          <p:spPr>
            <a:xfrm rot="0">
              <a:off x="0" y="-95250"/>
              <a:ext cx="5096444" cy="437554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6560"/>
                </a:lnSpc>
              </a:pPr>
              <a:r>
                <a:rPr lang="en-US" sz="4686">
                  <a:solidFill>
                    <a:srgbClr val="000000"/>
                  </a:solidFill>
                  <a:latin typeface="Arvo"/>
                  <a:ea typeface="Arvo"/>
                  <a:cs typeface="Arvo"/>
                  <a:sym typeface="Arvo"/>
                </a:rPr>
                <a:t>a = bh/2</a:t>
              </a:r>
            </a:p>
            <a:p>
              <a:pPr algn="l">
                <a:lnSpc>
                  <a:spcPts val="6560"/>
                </a:lnSpc>
              </a:pPr>
              <a:r>
                <a:rPr lang="en-US" sz="4686">
                  <a:solidFill>
                    <a:srgbClr val="000000"/>
                  </a:solidFill>
                  <a:latin typeface="Arvo"/>
                  <a:ea typeface="Arvo"/>
                  <a:cs typeface="Arvo"/>
                  <a:sym typeface="Arvo"/>
                </a:rPr>
                <a:t>a = 5 x 7 / 2</a:t>
              </a:r>
            </a:p>
            <a:p>
              <a:pPr algn="l">
                <a:lnSpc>
                  <a:spcPts val="6560"/>
                </a:lnSpc>
              </a:pPr>
              <a:r>
                <a:rPr lang="en-US" sz="4686">
                  <a:solidFill>
                    <a:srgbClr val="000000"/>
                  </a:solidFill>
                  <a:latin typeface="Arvo"/>
                  <a:ea typeface="Arvo"/>
                  <a:cs typeface="Arvo"/>
                  <a:sym typeface="Arvo"/>
                </a:rPr>
                <a:t>a = 35 / 2</a:t>
              </a:r>
            </a:p>
            <a:p>
              <a:pPr algn="l">
                <a:lnSpc>
                  <a:spcPts val="6560"/>
                </a:lnSpc>
              </a:pPr>
              <a:r>
                <a:rPr lang="en-US" sz="4686">
                  <a:solidFill>
                    <a:srgbClr val="000000"/>
                  </a:solidFill>
                  <a:latin typeface="Arvo"/>
                  <a:ea typeface="Arvo"/>
                  <a:cs typeface="Arvo"/>
                  <a:sym typeface="Arvo"/>
                </a:rPr>
                <a:t>a = 17.5cm²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6711932" y="3433066"/>
            <a:ext cx="4861817" cy="4274789"/>
            <a:chOff x="0" y="0"/>
            <a:chExt cx="1280479" cy="112587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280479" cy="1125870"/>
            </a:xfrm>
            <a:custGeom>
              <a:avLst/>
              <a:gdLst/>
              <a:ahLst/>
              <a:cxnLst/>
              <a:rect r="r" b="b" t="t" l="l"/>
              <a:pathLst>
                <a:path h="1125870" w="1280479">
                  <a:moveTo>
                    <a:pt x="81212" y="0"/>
                  </a:moveTo>
                  <a:lnTo>
                    <a:pt x="1199267" y="0"/>
                  </a:lnTo>
                  <a:cubicBezTo>
                    <a:pt x="1244119" y="0"/>
                    <a:pt x="1280479" y="36360"/>
                    <a:pt x="1280479" y="81212"/>
                  </a:cubicBezTo>
                  <a:lnTo>
                    <a:pt x="1280479" y="1044658"/>
                  </a:lnTo>
                  <a:cubicBezTo>
                    <a:pt x="1280479" y="1066197"/>
                    <a:pt x="1271922" y="1086854"/>
                    <a:pt x="1256692" y="1102084"/>
                  </a:cubicBezTo>
                  <a:cubicBezTo>
                    <a:pt x="1241462" y="1117314"/>
                    <a:pt x="1220805" y="1125870"/>
                    <a:pt x="1199267" y="1125870"/>
                  </a:cubicBezTo>
                  <a:lnTo>
                    <a:pt x="81212" y="1125870"/>
                  </a:lnTo>
                  <a:cubicBezTo>
                    <a:pt x="59673" y="1125870"/>
                    <a:pt x="39017" y="1117314"/>
                    <a:pt x="23786" y="1102084"/>
                  </a:cubicBezTo>
                  <a:cubicBezTo>
                    <a:pt x="8556" y="1086854"/>
                    <a:pt x="0" y="1066197"/>
                    <a:pt x="0" y="1044658"/>
                  </a:cubicBezTo>
                  <a:lnTo>
                    <a:pt x="0" y="81212"/>
                  </a:lnTo>
                  <a:cubicBezTo>
                    <a:pt x="0" y="59673"/>
                    <a:pt x="8556" y="39017"/>
                    <a:pt x="23786" y="23786"/>
                  </a:cubicBezTo>
                  <a:cubicBezTo>
                    <a:pt x="39017" y="8556"/>
                    <a:pt x="59673" y="0"/>
                    <a:pt x="81212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1280479" cy="116397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7286378" y="4075260"/>
            <a:ext cx="3838880" cy="3046000"/>
            <a:chOff x="0" y="0"/>
            <a:chExt cx="5118506" cy="4061333"/>
          </a:xfrm>
        </p:grpSpPr>
        <p:grpSp>
          <p:nvGrpSpPr>
            <p:cNvPr name="Group 20" id="20"/>
            <p:cNvGrpSpPr/>
            <p:nvPr/>
          </p:nvGrpSpPr>
          <p:grpSpPr>
            <a:xfrm rot="0">
              <a:off x="711779" y="1164628"/>
              <a:ext cx="1336450" cy="1336450"/>
              <a:chOff x="0" y="0"/>
              <a:chExt cx="812800" cy="812800"/>
            </a:xfrm>
          </p:grpSpPr>
          <p:sp>
            <p:nvSpPr>
              <p:cNvPr name="Freeform 21" id="21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A56E"/>
              </a:solidFill>
            </p:spPr>
          </p:sp>
          <p:sp>
            <p:nvSpPr>
              <p:cNvPr name="TextBox 22" id="22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grpSp>
          <p:nvGrpSpPr>
            <p:cNvPr name="Group 23" id="23"/>
            <p:cNvGrpSpPr/>
            <p:nvPr/>
          </p:nvGrpSpPr>
          <p:grpSpPr>
            <a:xfrm rot="0">
              <a:off x="794547" y="2724883"/>
              <a:ext cx="1336450" cy="1336450"/>
              <a:chOff x="0" y="0"/>
              <a:chExt cx="812800" cy="812800"/>
            </a:xfrm>
          </p:grpSpPr>
          <p:sp>
            <p:nvSpPr>
              <p:cNvPr name="Freeform 24" id="24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DB5605"/>
              </a:solidFill>
            </p:spPr>
          </p:sp>
          <p:sp>
            <p:nvSpPr>
              <p:cNvPr name="TextBox 25" id="25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sp>
          <p:nvSpPr>
            <p:cNvPr name="TextBox 26" id="26"/>
            <p:cNvSpPr txBox="true"/>
            <p:nvPr/>
          </p:nvSpPr>
          <p:spPr>
            <a:xfrm rot="0">
              <a:off x="0" y="1337009"/>
              <a:ext cx="4248563" cy="97018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6034"/>
                </a:lnSpc>
              </a:pPr>
              <a:r>
                <a:rPr lang="en-US" sz="4310">
                  <a:solidFill>
                    <a:srgbClr val="000000"/>
                  </a:solidFill>
                  <a:latin typeface="Arvo"/>
                  <a:ea typeface="Arvo"/>
                  <a:cs typeface="Arvo"/>
                  <a:sym typeface="Arvo"/>
                </a:rPr>
                <a:t>h = 7cm</a:t>
              </a:r>
            </a:p>
          </p:txBody>
        </p:sp>
        <p:sp>
          <p:nvSpPr>
            <p:cNvPr name="TextBox 27" id="27"/>
            <p:cNvSpPr txBox="true"/>
            <p:nvPr/>
          </p:nvSpPr>
          <p:spPr>
            <a:xfrm rot="0">
              <a:off x="0" y="-95250"/>
              <a:ext cx="5118506" cy="97018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6034"/>
                </a:lnSpc>
              </a:pPr>
              <a:r>
                <a:rPr lang="en-US" sz="4310">
                  <a:solidFill>
                    <a:srgbClr val="000000"/>
                  </a:solidFill>
                  <a:latin typeface="Arvo"/>
                  <a:ea typeface="Arvo"/>
                  <a:cs typeface="Arvo"/>
                  <a:sym typeface="Arvo"/>
                </a:rPr>
                <a:t>a = unknown</a:t>
              </a:r>
            </a:p>
          </p:txBody>
        </p:sp>
        <p:sp>
          <p:nvSpPr>
            <p:cNvPr name="TextBox 28" id="28"/>
            <p:cNvSpPr txBox="true"/>
            <p:nvPr/>
          </p:nvSpPr>
          <p:spPr>
            <a:xfrm rot="0">
              <a:off x="0" y="2860390"/>
              <a:ext cx="4103573" cy="97018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6034"/>
                </a:lnSpc>
              </a:pPr>
              <a:r>
                <a:rPr lang="en-US" sz="4310">
                  <a:solidFill>
                    <a:srgbClr val="000000"/>
                  </a:solidFill>
                  <a:latin typeface="Arvo"/>
                  <a:ea typeface="Arvo"/>
                  <a:cs typeface="Arvo"/>
                  <a:sym typeface="Arvo"/>
                </a:rPr>
                <a:t>b = 5cm</a:t>
              </a:r>
            </a:p>
          </p:txBody>
        </p:sp>
      </p:grpSp>
      <p:sp>
        <p:nvSpPr>
          <p:cNvPr name="Freeform 29" id="29"/>
          <p:cNvSpPr/>
          <p:nvPr/>
        </p:nvSpPr>
        <p:spPr>
          <a:xfrm flipH="false" flipV="false" rot="-220920">
            <a:off x="5006471" y="7303237"/>
            <a:ext cx="2864551" cy="809236"/>
          </a:xfrm>
          <a:custGeom>
            <a:avLst/>
            <a:gdLst/>
            <a:ahLst/>
            <a:cxnLst/>
            <a:rect r="r" b="b" t="t" l="l"/>
            <a:pathLst>
              <a:path h="809236" w="2864551">
                <a:moveTo>
                  <a:pt x="0" y="0"/>
                </a:moveTo>
                <a:lnTo>
                  <a:pt x="2864551" y="0"/>
                </a:lnTo>
                <a:lnTo>
                  <a:pt x="2864551" y="809235"/>
                </a:lnTo>
                <a:lnTo>
                  <a:pt x="0" y="80923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0" id="30"/>
          <p:cNvSpPr txBox="true"/>
          <p:nvPr/>
        </p:nvSpPr>
        <p:spPr>
          <a:xfrm rot="0">
            <a:off x="1160052" y="942975"/>
            <a:ext cx="8609576" cy="689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55"/>
              </a:lnSpc>
              <a:spcBef>
                <a:spcPct val="0"/>
              </a:spcBef>
            </a:pPr>
            <a:r>
              <a:rPr lang="en-US" b="true" sz="3968">
                <a:solidFill>
                  <a:srgbClr val="000000"/>
                </a:solidFill>
                <a:latin typeface="Arvo Bold"/>
                <a:ea typeface="Arvo Bold"/>
                <a:cs typeface="Arvo Bold"/>
                <a:sym typeface="Arvo Bold"/>
              </a:rPr>
              <a:t>Step 3: Substitute and Simplify</a:t>
            </a:r>
            <a:r>
              <a:rPr lang="en-US" b="true" sz="3968">
                <a:solidFill>
                  <a:srgbClr val="000000"/>
                </a:solidFill>
                <a:latin typeface="Arvo Bold"/>
                <a:ea typeface="Arvo Bold"/>
                <a:cs typeface="Arvo Bold"/>
                <a:sym typeface="Arvo Bold"/>
              </a:rPr>
              <a:t> 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4475223" y="8689391"/>
            <a:ext cx="9335234" cy="6897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55"/>
              </a:lnSpc>
            </a:pPr>
            <a:r>
              <a:rPr lang="en-US" sz="3968" b="true">
                <a:solidFill>
                  <a:srgbClr val="000000"/>
                </a:solidFill>
                <a:latin typeface="Arvo Bold"/>
                <a:ea typeface="Arvo Bold"/>
                <a:cs typeface="Arvo Bold"/>
                <a:sym typeface="Arvo Bold"/>
              </a:rPr>
              <a:t>The area of the triangle is 17.5cm².</a:t>
            </a:r>
          </a:p>
        </p:txBody>
      </p:sp>
      <p:sp>
        <p:nvSpPr>
          <p:cNvPr name="Freeform 32" id="32"/>
          <p:cNvSpPr/>
          <p:nvPr/>
        </p:nvSpPr>
        <p:spPr>
          <a:xfrm flipH="false" flipV="false" rot="-220920">
            <a:off x="11148285" y="7303237"/>
            <a:ext cx="2864551" cy="809236"/>
          </a:xfrm>
          <a:custGeom>
            <a:avLst/>
            <a:gdLst/>
            <a:ahLst/>
            <a:cxnLst/>
            <a:rect r="r" b="b" t="t" l="l"/>
            <a:pathLst>
              <a:path h="809236" w="2864551">
                <a:moveTo>
                  <a:pt x="0" y="0"/>
                </a:moveTo>
                <a:lnTo>
                  <a:pt x="2864551" y="0"/>
                </a:lnTo>
                <a:lnTo>
                  <a:pt x="2864551" y="809235"/>
                </a:lnTo>
                <a:lnTo>
                  <a:pt x="0" y="80923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3" id="33"/>
          <p:cNvSpPr txBox="true"/>
          <p:nvPr/>
        </p:nvSpPr>
        <p:spPr>
          <a:xfrm rot="0">
            <a:off x="1160052" y="2126222"/>
            <a:ext cx="16099248" cy="689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55"/>
              </a:lnSpc>
            </a:pPr>
            <a:r>
              <a:rPr lang="en-US" sz="3968">
                <a:solidFill>
                  <a:srgbClr val="000000"/>
                </a:solidFill>
                <a:latin typeface="Arvo"/>
                <a:ea typeface="Arvo"/>
                <a:cs typeface="Arvo"/>
                <a:sym typeface="Arvo"/>
              </a:rPr>
              <a:t>Substitute the given values into b and h to simplify and solve for a.</a:t>
            </a:r>
          </a:p>
        </p:txBody>
      </p:sp>
      <p:grpSp>
        <p:nvGrpSpPr>
          <p:cNvPr name="Group 34" id="34"/>
          <p:cNvGrpSpPr/>
          <p:nvPr/>
        </p:nvGrpSpPr>
        <p:grpSpPr>
          <a:xfrm rot="0">
            <a:off x="1075693" y="3826331"/>
            <a:ext cx="4369553" cy="3406668"/>
            <a:chOff x="0" y="0"/>
            <a:chExt cx="5826071" cy="4542224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4074254" cy="3529322"/>
            </a:xfrm>
            <a:custGeom>
              <a:avLst/>
              <a:gdLst/>
              <a:ahLst/>
              <a:cxnLst/>
              <a:rect r="r" b="b" t="t" l="l"/>
              <a:pathLst>
                <a:path h="3529322" w="4074254">
                  <a:moveTo>
                    <a:pt x="0" y="0"/>
                  </a:moveTo>
                  <a:lnTo>
                    <a:pt x="4074254" y="0"/>
                  </a:lnTo>
                  <a:lnTo>
                    <a:pt x="4074254" y="3529322"/>
                  </a:lnTo>
                  <a:lnTo>
                    <a:pt x="0" y="352932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 rot="0">
              <a:off x="3620705" y="1556902"/>
              <a:ext cx="2205366" cy="64940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085"/>
                </a:lnSpc>
                <a:spcBef>
                  <a:spcPct val="0"/>
                </a:spcBef>
              </a:pPr>
              <a:r>
                <a:rPr lang="en-US" sz="2917">
                  <a:solidFill>
                    <a:srgbClr val="000000"/>
                  </a:solidFill>
                  <a:latin typeface="Arvo"/>
                  <a:ea typeface="Arvo"/>
                  <a:cs typeface="Arvo"/>
                  <a:sym typeface="Arvo"/>
                </a:rPr>
                <a:t>h = 7cm</a:t>
              </a:r>
            </a:p>
          </p:txBody>
        </p:sp>
        <p:sp>
          <p:nvSpPr>
            <p:cNvPr name="TextBox 37" id="37"/>
            <p:cNvSpPr txBox="true"/>
            <p:nvPr/>
          </p:nvSpPr>
          <p:spPr>
            <a:xfrm rot="0">
              <a:off x="906205" y="3892824"/>
              <a:ext cx="2261844" cy="64940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085"/>
                </a:lnSpc>
                <a:spcBef>
                  <a:spcPct val="0"/>
                </a:spcBef>
              </a:pPr>
              <a:r>
                <a:rPr lang="en-US" sz="2917">
                  <a:solidFill>
                    <a:srgbClr val="000000"/>
                  </a:solidFill>
                  <a:latin typeface="Arvo"/>
                  <a:ea typeface="Arvo"/>
                  <a:cs typeface="Arvo"/>
                  <a:sym typeface="Arvo"/>
                </a:rPr>
                <a:t>b = 5cm</a:t>
              </a:r>
            </a:p>
          </p:txBody>
        </p:sp>
      </p:grpSp>
      <p:sp>
        <p:nvSpPr>
          <p:cNvPr name="AutoShape 38" id="38"/>
          <p:cNvSpPr/>
          <p:nvPr/>
        </p:nvSpPr>
        <p:spPr>
          <a:xfrm flipV="true">
            <a:off x="2600857" y="3951517"/>
            <a:ext cx="0" cy="2438461"/>
          </a:xfrm>
          <a:prstGeom prst="line">
            <a:avLst/>
          </a:prstGeom>
          <a:ln cap="flat" w="66675">
            <a:solidFill>
              <a:srgbClr val="DB5605"/>
            </a:solidFill>
            <a:prstDash val="sysDash"/>
            <a:headEnd type="none" len="sm" w="sm"/>
            <a:tailEnd type="none" len="sm" w="sm"/>
          </a:ln>
        </p:spPr>
      </p:sp>
      <p:grpSp>
        <p:nvGrpSpPr>
          <p:cNvPr name="Group 39" id="39"/>
          <p:cNvGrpSpPr/>
          <p:nvPr/>
        </p:nvGrpSpPr>
        <p:grpSpPr>
          <a:xfrm rot="0">
            <a:off x="2578510" y="6075584"/>
            <a:ext cx="359087" cy="359087"/>
            <a:chOff x="0" y="0"/>
            <a:chExt cx="812800" cy="81280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ln w="57150" cap="sq">
              <a:solidFill>
                <a:srgbClr val="DB5605"/>
              </a:solidFill>
              <a:prstDash val="solid"/>
              <a:miter/>
            </a:ln>
          </p:spPr>
        </p:sp>
        <p:sp>
          <p:nvSpPr>
            <p:cNvPr name="TextBox 41" id="41"/>
            <p:cNvSpPr txBox="true"/>
            <p:nvPr/>
          </p:nvSpPr>
          <p:spPr>
            <a:xfrm>
              <a:off x="0" y="-38100"/>
              <a:ext cx="812800" cy="850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3D6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568221" y="1029726"/>
            <a:ext cx="9688686" cy="1920093"/>
            <a:chOff x="0" y="0"/>
            <a:chExt cx="2767688" cy="54849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767688" cy="548497"/>
            </a:xfrm>
            <a:custGeom>
              <a:avLst/>
              <a:gdLst/>
              <a:ahLst/>
              <a:cxnLst/>
              <a:rect r="r" b="b" t="t" l="l"/>
              <a:pathLst>
                <a:path h="548497" w="2767688">
                  <a:moveTo>
                    <a:pt x="40752" y="0"/>
                  </a:moveTo>
                  <a:lnTo>
                    <a:pt x="2726935" y="0"/>
                  </a:lnTo>
                  <a:cubicBezTo>
                    <a:pt x="2749442" y="0"/>
                    <a:pt x="2767688" y="18246"/>
                    <a:pt x="2767688" y="40752"/>
                  </a:cubicBezTo>
                  <a:lnTo>
                    <a:pt x="2767688" y="507745"/>
                  </a:lnTo>
                  <a:cubicBezTo>
                    <a:pt x="2767688" y="530252"/>
                    <a:pt x="2749442" y="548497"/>
                    <a:pt x="2726935" y="548497"/>
                  </a:cubicBezTo>
                  <a:lnTo>
                    <a:pt x="40752" y="548497"/>
                  </a:lnTo>
                  <a:cubicBezTo>
                    <a:pt x="18246" y="548497"/>
                    <a:pt x="0" y="530252"/>
                    <a:pt x="0" y="507745"/>
                  </a:cubicBezTo>
                  <a:lnTo>
                    <a:pt x="0" y="40752"/>
                  </a:lnTo>
                  <a:cubicBezTo>
                    <a:pt x="0" y="18246"/>
                    <a:pt x="18246" y="0"/>
                    <a:pt x="40752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767688" cy="58659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3581554" y="1122489"/>
            <a:ext cx="6162056" cy="1749525"/>
            <a:chOff x="0" y="0"/>
            <a:chExt cx="1931880" cy="54849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931880" cy="548497"/>
            </a:xfrm>
            <a:custGeom>
              <a:avLst/>
              <a:gdLst/>
              <a:ahLst/>
              <a:cxnLst/>
              <a:rect r="r" b="b" t="t" l="l"/>
              <a:pathLst>
                <a:path h="548497" w="1931880">
                  <a:moveTo>
                    <a:pt x="64076" y="0"/>
                  </a:moveTo>
                  <a:lnTo>
                    <a:pt x="1867804" y="0"/>
                  </a:lnTo>
                  <a:cubicBezTo>
                    <a:pt x="1903192" y="0"/>
                    <a:pt x="1931880" y="28688"/>
                    <a:pt x="1931880" y="64076"/>
                  </a:cubicBezTo>
                  <a:lnTo>
                    <a:pt x="1931880" y="484422"/>
                  </a:lnTo>
                  <a:cubicBezTo>
                    <a:pt x="1931880" y="501416"/>
                    <a:pt x="1925129" y="517714"/>
                    <a:pt x="1913112" y="529730"/>
                  </a:cubicBezTo>
                  <a:cubicBezTo>
                    <a:pt x="1901096" y="541747"/>
                    <a:pt x="1884798" y="548497"/>
                    <a:pt x="1867804" y="548497"/>
                  </a:cubicBezTo>
                  <a:lnTo>
                    <a:pt x="64076" y="548497"/>
                  </a:lnTo>
                  <a:cubicBezTo>
                    <a:pt x="47082" y="548497"/>
                    <a:pt x="30784" y="541747"/>
                    <a:pt x="18767" y="529730"/>
                  </a:cubicBezTo>
                  <a:cubicBezTo>
                    <a:pt x="6751" y="517714"/>
                    <a:pt x="0" y="501416"/>
                    <a:pt x="0" y="484422"/>
                  </a:cubicBezTo>
                  <a:lnTo>
                    <a:pt x="0" y="64076"/>
                  </a:lnTo>
                  <a:cubicBezTo>
                    <a:pt x="0" y="47082"/>
                    <a:pt x="6751" y="30784"/>
                    <a:pt x="18767" y="18767"/>
                  </a:cubicBezTo>
                  <a:cubicBezTo>
                    <a:pt x="30784" y="6751"/>
                    <a:pt x="47082" y="0"/>
                    <a:pt x="64076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931880" cy="58659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1028700" y="1028700"/>
            <a:ext cx="2954275" cy="1901814"/>
          </a:xfrm>
          <a:custGeom>
            <a:avLst/>
            <a:gdLst/>
            <a:ahLst/>
            <a:cxnLst/>
            <a:rect r="r" b="b" t="t" l="l"/>
            <a:pathLst>
              <a:path h="1901814" w="2954275">
                <a:moveTo>
                  <a:pt x="0" y="0"/>
                </a:moveTo>
                <a:lnTo>
                  <a:pt x="2954275" y="0"/>
                </a:lnTo>
                <a:lnTo>
                  <a:pt x="2954275" y="1901814"/>
                </a:lnTo>
                <a:lnTo>
                  <a:pt x="0" y="190181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1637236" y="4522746"/>
            <a:ext cx="5084860" cy="4455609"/>
          </a:xfrm>
          <a:custGeom>
            <a:avLst/>
            <a:gdLst/>
            <a:ahLst/>
            <a:cxnLst/>
            <a:rect r="r" b="b" t="t" l="l"/>
            <a:pathLst>
              <a:path h="4455609" w="5084860">
                <a:moveTo>
                  <a:pt x="0" y="0"/>
                </a:moveTo>
                <a:lnTo>
                  <a:pt x="5084860" y="0"/>
                </a:lnTo>
                <a:lnTo>
                  <a:pt x="5084860" y="4455609"/>
                </a:lnTo>
                <a:lnTo>
                  <a:pt x="0" y="445560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2496834" y="3523053"/>
            <a:ext cx="13294332" cy="7206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39"/>
              </a:lnSpc>
              <a:spcBef>
                <a:spcPct val="0"/>
              </a:spcBef>
            </a:pPr>
            <a:r>
              <a:rPr lang="en-US" sz="4171">
                <a:solidFill>
                  <a:srgbClr val="000000"/>
                </a:solidFill>
                <a:latin typeface="Arvo"/>
                <a:ea typeface="Arvo"/>
                <a:cs typeface="Arvo"/>
                <a:sym typeface="Arvo"/>
              </a:rPr>
              <a:t>The formula for simple interest is given by: </a:t>
            </a:r>
            <a:r>
              <a:rPr lang="en-US" b="true" sz="4171">
                <a:solidFill>
                  <a:srgbClr val="000000"/>
                </a:solidFill>
                <a:latin typeface="Arvo Bold"/>
                <a:ea typeface="Arvo Bold"/>
                <a:cs typeface="Arvo Bold"/>
                <a:sym typeface="Arvo Bold"/>
              </a:rPr>
              <a:t>I = PRT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496834" y="4948866"/>
            <a:ext cx="9474116" cy="7207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39"/>
              </a:lnSpc>
              <a:spcBef>
                <a:spcPct val="0"/>
              </a:spcBef>
            </a:pPr>
            <a:r>
              <a:rPr lang="en-US" b="true" sz="4171">
                <a:solidFill>
                  <a:srgbClr val="000000"/>
                </a:solidFill>
                <a:latin typeface="Arvo Bold"/>
                <a:ea typeface="Arvo Bold"/>
                <a:cs typeface="Arvo Bold"/>
                <a:sym typeface="Arvo Bold"/>
              </a:rPr>
              <a:t>Step 1: Understand Variables 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654681" y="6034851"/>
            <a:ext cx="9167252" cy="29435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900572" indent="-450286" lvl="1">
              <a:lnSpc>
                <a:spcPts val="5839"/>
              </a:lnSpc>
              <a:buFont typeface="Arial"/>
              <a:buChar char="•"/>
            </a:pPr>
            <a:r>
              <a:rPr lang="en-US" sz="4171">
                <a:solidFill>
                  <a:srgbClr val="000000"/>
                </a:solidFill>
                <a:latin typeface="Arvo"/>
                <a:ea typeface="Arvo"/>
                <a:cs typeface="Arvo"/>
                <a:sym typeface="Arvo"/>
              </a:rPr>
              <a:t>I = amount of interest ($)</a:t>
            </a:r>
          </a:p>
          <a:p>
            <a:pPr algn="l" marL="900572" indent="-450286" lvl="1">
              <a:lnSpc>
                <a:spcPts val="5839"/>
              </a:lnSpc>
              <a:buFont typeface="Arial"/>
              <a:buChar char="•"/>
            </a:pPr>
            <a:r>
              <a:rPr lang="en-US" sz="4171">
                <a:solidFill>
                  <a:srgbClr val="000000"/>
                </a:solidFill>
                <a:latin typeface="Arvo"/>
                <a:ea typeface="Arvo"/>
                <a:cs typeface="Arvo"/>
                <a:sym typeface="Arvo"/>
              </a:rPr>
              <a:t>P = initial investment ($)</a:t>
            </a:r>
          </a:p>
          <a:p>
            <a:pPr algn="l" marL="900572" indent="-450286" lvl="1">
              <a:lnSpc>
                <a:spcPts val="5839"/>
              </a:lnSpc>
              <a:buFont typeface="Arial"/>
              <a:buChar char="•"/>
            </a:pPr>
            <a:r>
              <a:rPr lang="en-US" sz="4171">
                <a:solidFill>
                  <a:srgbClr val="000000"/>
                </a:solidFill>
                <a:latin typeface="Arvo"/>
                <a:ea typeface="Arvo"/>
                <a:cs typeface="Arvo"/>
                <a:sym typeface="Arvo"/>
              </a:rPr>
              <a:t>R = interest rate (as a decimal)</a:t>
            </a:r>
          </a:p>
          <a:p>
            <a:pPr algn="l" marL="900572" indent="-450286" lvl="1">
              <a:lnSpc>
                <a:spcPts val="5839"/>
              </a:lnSpc>
              <a:buFont typeface="Arial"/>
              <a:buChar char="•"/>
            </a:pPr>
            <a:r>
              <a:rPr lang="en-US" sz="4171">
                <a:solidFill>
                  <a:srgbClr val="000000"/>
                </a:solidFill>
                <a:latin typeface="Arvo"/>
                <a:ea typeface="Arvo"/>
                <a:cs typeface="Arvo"/>
                <a:sym typeface="Arvo"/>
              </a:rPr>
              <a:t>T = time (years)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3982975" y="1196231"/>
            <a:ext cx="8781458" cy="14048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423"/>
              </a:lnSpc>
              <a:spcBef>
                <a:spcPct val="0"/>
              </a:spcBef>
            </a:pPr>
            <a:r>
              <a:rPr lang="en-US" sz="8159">
                <a:solidFill>
                  <a:srgbClr val="DB5605"/>
                </a:solidFill>
                <a:latin typeface="Shrikhand"/>
                <a:ea typeface="Shrikhand"/>
                <a:cs typeface="Shrikhand"/>
                <a:sym typeface="Shrikhand"/>
              </a:rPr>
              <a:t>Here’s another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3D6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3439516"/>
            <a:ext cx="9845065" cy="37162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360"/>
              </a:lnSpc>
            </a:pPr>
            <a:r>
              <a:rPr lang="en-US" sz="5257">
                <a:solidFill>
                  <a:srgbClr val="000000"/>
                </a:solidFill>
                <a:latin typeface="Arvo"/>
                <a:ea typeface="Arvo"/>
                <a:cs typeface="Arvo"/>
                <a:sym typeface="Arvo"/>
              </a:rPr>
              <a:t>If we are investing $500 in the bank for 3 years at an interest rate of 3.5%, how much interest will we receive?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11550182" y="3034223"/>
            <a:ext cx="5367173" cy="6030916"/>
            <a:chOff x="0" y="0"/>
            <a:chExt cx="1280479" cy="1438832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280479" cy="1438832"/>
            </a:xfrm>
            <a:custGeom>
              <a:avLst/>
              <a:gdLst/>
              <a:ahLst/>
              <a:cxnLst/>
              <a:rect r="r" b="b" t="t" l="l"/>
              <a:pathLst>
                <a:path h="1438832" w="1280479">
                  <a:moveTo>
                    <a:pt x="73565" y="0"/>
                  </a:moveTo>
                  <a:lnTo>
                    <a:pt x="1206913" y="0"/>
                  </a:lnTo>
                  <a:cubicBezTo>
                    <a:pt x="1247542" y="0"/>
                    <a:pt x="1280479" y="32936"/>
                    <a:pt x="1280479" y="73565"/>
                  </a:cubicBezTo>
                  <a:lnTo>
                    <a:pt x="1280479" y="1365266"/>
                  </a:lnTo>
                  <a:cubicBezTo>
                    <a:pt x="1280479" y="1405895"/>
                    <a:pt x="1247542" y="1438832"/>
                    <a:pt x="1206913" y="1438832"/>
                  </a:cubicBezTo>
                  <a:lnTo>
                    <a:pt x="73565" y="1438832"/>
                  </a:lnTo>
                  <a:cubicBezTo>
                    <a:pt x="32936" y="1438832"/>
                    <a:pt x="0" y="1405895"/>
                    <a:pt x="0" y="1365266"/>
                  </a:cubicBezTo>
                  <a:lnTo>
                    <a:pt x="0" y="73565"/>
                  </a:lnTo>
                  <a:cubicBezTo>
                    <a:pt x="0" y="32936"/>
                    <a:pt x="32936" y="0"/>
                    <a:pt x="73565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1280479" cy="147693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2842190" y="4649468"/>
            <a:ext cx="1606253" cy="1106524"/>
            <a:chOff x="0" y="0"/>
            <a:chExt cx="1179877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179877" cy="812800"/>
            </a:xfrm>
            <a:custGeom>
              <a:avLst/>
              <a:gdLst/>
              <a:ahLst/>
              <a:cxnLst/>
              <a:rect r="r" b="b" t="t" l="l"/>
              <a:pathLst>
                <a:path h="812800" w="1179877">
                  <a:moveTo>
                    <a:pt x="589939" y="0"/>
                  </a:moveTo>
                  <a:cubicBezTo>
                    <a:pt x="264125" y="0"/>
                    <a:pt x="0" y="181951"/>
                    <a:pt x="0" y="406400"/>
                  </a:cubicBezTo>
                  <a:cubicBezTo>
                    <a:pt x="0" y="630849"/>
                    <a:pt x="264125" y="812800"/>
                    <a:pt x="589939" y="812800"/>
                  </a:cubicBezTo>
                  <a:cubicBezTo>
                    <a:pt x="915753" y="812800"/>
                    <a:pt x="1179877" y="630849"/>
                    <a:pt x="1179877" y="406400"/>
                  </a:cubicBezTo>
                  <a:cubicBezTo>
                    <a:pt x="1179877" y="181951"/>
                    <a:pt x="915753" y="0"/>
                    <a:pt x="589939" y="0"/>
                  </a:cubicBezTo>
                  <a:close/>
                </a:path>
              </a:pathLst>
            </a:custGeom>
            <a:solidFill>
              <a:srgbClr val="FFA56E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110613" y="38100"/>
              <a:ext cx="958650" cy="698500"/>
            </a:xfrm>
            <a:prstGeom prst="rect">
              <a:avLst/>
            </a:prstGeom>
          </p:spPr>
          <p:txBody>
            <a:bodyPr anchor="ctr" rtlCol="false" tIns="55179" lIns="55179" bIns="55179" rIns="55179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2842190" y="5968569"/>
            <a:ext cx="2293484" cy="1106524"/>
            <a:chOff x="0" y="0"/>
            <a:chExt cx="1684685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684685" cy="812800"/>
            </a:xfrm>
            <a:custGeom>
              <a:avLst/>
              <a:gdLst/>
              <a:ahLst/>
              <a:cxnLst/>
              <a:rect r="r" b="b" t="t" l="l"/>
              <a:pathLst>
                <a:path h="812800" w="1684685">
                  <a:moveTo>
                    <a:pt x="842342" y="0"/>
                  </a:moveTo>
                  <a:cubicBezTo>
                    <a:pt x="377130" y="0"/>
                    <a:pt x="0" y="181951"/>
                    <a:pt x="0" y="406400"/>
                  </a:cubicBezTo>
                  <a:cubicBezTo>
                    <a:pt x="0" y="630849"/>
                    <a:pt x="377130" y="812800"/>
                    <a:pt x="842342" y="812800"/>
                  </a:cubicBezTo>
                  <a:cubicBezTo>
                    <a:pt x="1307555" y="812800"/>
                    <a:pt x="1684685" y="630849"/>
                    <a:pt x="1684685" y="406400"/>
                  </a:cubicBezTo>
                  <a:cubicBezTo>
                    <a:pt x="1684685" y="181951"/>
                    <a:pt x="1307555" y="0"/>
                    <a:pt x="842342" y="0"/>
                  </a:cubicBezTo>
                  <a:close/>
                </a:path>
              </a:pathLst>
            </a:custGeom>
            <a:solidFill>
              <a:srgbClr val="DB5605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157939" y="38100"/>
              <a:ext cx="1368806" cy="698500"/>
            </a:xfrm>
            <a:prstGeom prst="rect">
              <a:avLst/>
            </a:prstGeom>
          </p:spPr>
          <p:txBody>
            <a:bodyPr anchor="ctr" rtlCol="false" tIns="55179" lIns="55179" bIns="55179" rIns="55179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3118552" y="7316939"/>
            <a:ext cx="1106524" cy="1106524"/>
            <a:chOff x="0" y="0"/>
            <a:chExt cx="812800" cy="812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4C0A1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5179" lIns="55179" bIns="55179" rIns="55179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sp>
        <p:nvSpPr>
          <p:cNvPr name="Freeform 15" id="15"/>
          <p:cNvSpPr/>
          <p:nvPr/>
        </p:nvSpPr>
        <p:spPr>
          <a:xfrm flipH="false" flipV="false" rot="-220920">
            <a:off x="9167028" y="5847136"/>
            <a:ext cx="2864551" cy="809236"/>
          </a:xfrm>
          <a:custGeom>
            <a:avLst/>
            <a:gdLst/>
            <a:ahLst/>
            <a:cxnLst/>
            <a:rect r="r" b="b" t="t" l="l"/>
            <a:pathLst>
              <a:path h="809236" w="2864551">
                <a:moveTo>
                  <a:pt x="0" y="0"/>
                </a:moveTo>
                <a:lnTo>
                  <a:pt x="2864550" y="0"/>
                </a:lnTo>
                <a:lnTo>
                  <a:pt x="2864550" y="809235"/>
                </a:lnTo>
                <a:lnTo>
                  <a:pt x="0" y="80923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843839" y="7316939"/>
            <a:ext cx="2259122" cy="2603625"/>
          </a:xfrm>
          <a:custGeom>
            <a:avLst/>
            <a:gdLst/>
            <a:ahLst/>
            <a:cxnLst/>
            <a:rect r="r" b="b" t="t" l="l"/>
            <a:pathLst>
              <a:path h="2603625" w="2259122">
                <a:moveTo>
                  <a:pt x="0" y="0"/>
                </a:moveTo>
                <a:lnTo>
                  <a:pt x="2259123" y="0"/>
                </a:lnTo>
                <a:lnTo>
                  <a:pt x="2259123" y="2603625"/>
                </a:lnTo>
                <a:lnTo>
                  <a:pt x="0" y="260362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1342" r="0" b="-1342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1625071" y="1445662"/>
            <a:ext cx="11208778" cy="689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55"/>
              </a:lnSpc>
              <a:spcBef>
                <a:spcPct val="0"/>
              </a:spcBef>
            </a:pPr>
            <a:r>
              <a:rPr lang="en-US" b="true" sz="3968">
                <a:solidFill>
                  <a:srgbClr val="000000"/>
                </a:solidFill>
                <a:latin typeface="Arvo Bold"/>
                <a:ea typeface="Arvo Bold"/>
                <a:cs typeface="Arvo Bold"/>
                <a:sym typeface="Arvo Bold"/>
              </a:rPr>
              <a:t>Step 2: Identify the Variable/s to Substitute  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2184338" y="4793555"/>
            <a:ext cx="3517632" cy="8291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662"/>
              </a:lnSpc>
            </a:pPr>
            <a:r>
              <a:rPr lang="en-US" sz="4758">
                <a:solidFill>
                  <a:srgbClr val="000000"/>
                </a:solidFill>
                <a:latin typeface="Arvo"/>
                <a:ea typeface="Arvo"/>
                <a:cs typeface="Arvo"/>
                <a:sym typeface="Arvo"/>
              </a:rPr>
              <a:t>P = 500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2184338" y="3607705"/>
            <a:ext cx="4237907" cy="8291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662"/>
              </a:lnSpc>
            </a:pPr>
            <a:r>
              <a:rPr lang="en-US" sz="4758">
                <a:solidFill>
                  <a:srgbClr val="000000"/>
                </a:solidFill>
                <a:latin typeface="Arvo"/>
                <a:ea typeface="Arvo"/>
                <a:cs typeface="Arvo"/>
                <a:sym typeface="Arvo"/>
              </a:rPr>
              <a:t>I = unknown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2184338" y="6054850"/>
            <a:ext cx="3397586" cy="8291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662"/>
              </a:lnSpc>
            </a:pPr>
            <a:r>
              <a:rPr lang="en-US" sz="4758">
                <a:solidFill>
                  <a:srgbClr val="000000"/>
                </a:solidFill>
                <a:latin typeface="Arvo"/>
                <a:ea typeface="Arvo"/>
                <a:cs typeface="Arvo"/>
                <a:sym typeface="Arvo"/>
              </a:rPr>
              <a:t>R = 0.035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2526283" y="7403221"/>
            <a:ext cx="3397586" cy="8291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662"/>
              </a:lnSpc>
            </a:pPr>
            <a:r>
              <a:rPr lang="en-US" sz="4758">
                <a:solidFill>
                  <a:srgbClr val="000000"/>
                </a:solidFill>
                <a:latin typeface="Arvo"/>
                <a:ea typeface="Arvo"/>
                <a:cs typeface="Arvo"/>
                <a:sym typeface="Arvo"/>
              </a:rPr>
              <a:t>T = 3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3D6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381899" y="2969351"/>
            <a:ext cx="8132652" cy="4461115"/>
            <a:chOff x="0" y="0"/>
            <a:chExt cx="1607138" cy="88158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607138" cy="881586"/>
            </a:xfrm>
            <a:custGeom>
              <a:avLst/>
              <a:gdLst/>
              <a:ahLst/>
              <a:cxnLst/>
              <a:rect r="r" b="b" t="t" l="l"/>
              <a:pathLst>
                <a:path h="881586" w="1607138">
                  <a:moveTo>
                    <a:pt x="48550" y="0"/>
                  </a:moveTo>
                  <a:lnTo>
                    <a:pt x="1558589" y="0"/>
                  </a:lnTo>
                  <a:cubicBezTo>
                    <a:pt x="1571465" y="0"/>
                    <a:pt x="1583814" y="5115"/>
                    <a:pt x="1592919" y="14220"/>
                  </a:cubicBezTo>
                  <a:cubicBezTo>
                    <a:pt x="1602023" y="23325"/>
                    <a:pt x="1607138" y="35674"/>
                    <a:pt x="1607138" y="48550"/>
                  </a:cubicBezTo>
                  <a:lnTo>
                    <a:pt x="1607138" y="833036"/>
                  </a:lnTo>
                  <a:cubicBezTo>
                    <a:pt x="1607138" y="845912"/>
                    <a:pt x="1602023" y="858261"/>
                    <a:pt x="1592919" y="867366"/>
                  </a:cubicBezTo>
                  <a:cubicBezTo>
                    <a:pt x="1583814" y="876471"/>
                    <a:pt x="1571465" y="881586"/>
                    <a:pt x="1558589" y="881586"/>
                  </a:cubicBezTo>
                  <a:lnTo>
                    <a:pt x="48550" y="881586"/>
                  </a:lnTo>
                  <a:cubicBezTo>
                    <a:pt x="35674" y="881586"/>
                    <a:pt x="23325" y="876471"/>
                    <a:pt x="14220" y="867366"/>
                  </a:cubicBezTo>
                  <a:cubicBezTo>
                    <a:pt x="5115" y="858261"/>
                    <a:pt x="0" y="845912"/>
                    <a:pt x="0" y="833036"/>
                  </a:cubicBezTo>
                  <a:lnTo>
                    <a:pt x="0" y="48550"/>
                  </a:lnTo>
                  <a:cubicBezTo>
                    <a:pt x="0" y="35674"/>
                    <a:pt x="5115" y="23325"/>
                    <a:pt x="14220" y="14220"/>
                  </a:cubicBezTo>
                  <a:cubicBezTo>
                    <a:pt x="23325" y="5115"/>
                    <a:pt x="35674" y="0"/>
                    <a:pt x="4855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607138" cy="91968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852420" y="4495238"/>
            <a:ext cx="2162345" cy="1452262"/>
            <a:chOff x="0" y="0"/>
            <a:chExt cx="1210218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210218" cy="812800"/>
            </a:xfrm>
            <a:custGeom>
              <a:avLst/>
              <a:gdLst/>
              <a:ahLst/>
              <a:cxnLst/>
              <a:rect r="r" b="b" t="t" l="l"/>
              <a:pathLst>
                <a:path h="812800" w="1210218">
                  <a:moveTo>
                    <a:pt x="605109" y="0"/>
                  </a:moveTo>
                  <a:cubicBezTo>
                    <a:pt x="270917" y="0"/>
                    <a:pt x="0" y="181951"/>
                    <a:pt x="0" y="406400"/>
                  </a:cubicBezTo>
                  <a:cubicBezTo>
                    <a:pt x="0" y="630849"/>
                    <a:pt x="270917" y="812800"/>
                    <a:pt x="605109" y="812800"/>
                  </a:cubicBezTo>
                  <a:cubicBezTo>
                    <a:pt x="939301" y="812800"/>
                    <a:pt x="1210218" y="630849"/>
                    <a:pt x="1210218" y="406400"/>
                  </a:cubicBezTo>
                  <a:cubicBezTo>
                    <a:pt x="1210218" y="181951"/>
                    <a:pt x="939301" y="0"/>
                    <a:pt x="605109" y="0"/>
                  </a:cubicBezTo>
                  <a:close/>
                </a:path>
              </a:pathLst>
            </a:custGeom>
            <a:solidFill>
              <a:srgbClr val="FFA56E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113458" y="38100"/>
              <a:ext cx="983302" cy="698500"/>
            </a:xfrm>
            <a:prstGeom prst="rect">
              <a:avLst/>
            </a:prstGeom>
          </p:spPr>
          <p:txBody>
            <a:bodyPr anchor="ctr" rtlCol="false" tIns="84630" lIns="84630" bIns="84630" rIns="8463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2208686" y="4469589"/>
            <a:ext cx="2350960" cy="1452262"/>
            <a:chOff x="0" y="0"/>
            <a:chExt cx="1315782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315782" cy="812800"/>
            </a:xfrm>
            <a:custGeom>
              <a:avLst/>
              <a:gdLst/>
              <a:ahLst/>
              <a:cxnLst/>
              <a:rect r="r" b="b" t="t" l="l"/>
              <a:pathLst>
                <a:path h="812800" w="1315782">
                  <a:moveTo>
                    <a:pt x="657891" y="0"/>
                  </a:moveTo>
                  <a:cubicBezTo>
                    <a:pt x="294548" y="0"/>
                    <a:pt x="0" y="181951"/>
                    <a:pt x="0" y="406400"/>
                  </a:cubicBezTo>
                  <a:cubicBezTo>
                    <a:pt x="0" y="630849"/>
                    <a:pt x="294548" y="812800"/>
                    <a:pt x="657891" y="812800"/>
                  </a:cubicBezTo>
                  <a:cubicBezTo>
                    <a:pt x="1021234" y="812800"/>
                    <a:pt x="1315782" y="630849"/>
                    <a:pt x="1315782" y="406400"/>
                  </a:cubicBezTo>
                  <a:cubicBezTo>
                    <a:pt x="1315782" y="181951"/>
                    <a:pt x="1021234" y="0"/>
                    <a:pt x="657891" y="0"/>
                  </a:cubicBezTo>
                  <a:close/>
                </a:path>
              </a:pathLst>
            </a:custGeom>
            <a:solidFill>
              <a:srgbClr val="DB5605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123355" y="38100"/>
              <a:ext cx="1069073" cy="698500"/>
            </a:xfrm>
            <a:prstGeom prst="rect">
              <a:avLst/>
            </a:prstGeom>
          </p:spPr>
          <p:txBody>
            <a:bodyPr anchor="ctr" rtlCol="false" tIns="84630" lIns="84630" bIns="84630" rIns="8463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4413952" y="4529017"/>
            <a:ext cx="1395983" cy="1426613"/>
            <a:chOff x="0" y="0"/>
            <a:chExt cx="856917" cy="875719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56917" cy="875719"/>
            </a:xfrm>
            <a:custGeom>
              <a:avLst/>
              <a:gdLst/>
              <a:ahLst/>
              <a:cxnLst/>
              <a:rect r="r" b="b" t="t" l="l"/>
              <a:pathLst>
                <a:path h="875719" w="856917">
                  <a:moveTo>
                    <a:pt x="428458" y="0"/>
                  </a:moveTo>
                  <a:cubicBezTo>
                    <a:pt x="191827" y="0"/>
                    <a:pt x="0" y="196036"/>
                    <a:pt x="0" y="437860"/>
                  </a:cubicBezTo>
                  <a:cubicBezTo>
                    <a:pt x="0" y="679683"/>
                    <a:pt x="191827" y="875719"/>
                    <a:pt x="428458" y="875719"/>
                  </a:cubicBezTo>
                  <a:cubicBezTo>
                    <a:pt x="665090" y="875719"/>
                    <a:pt x="856917" y="679683"/>
                    <a:pt x="856917" y="437860"/>
                  </a:cubicBezTo>
                  <a:cubicBezTo>
                    <a:pt x="856917" y="196036"/>
                    <a:pt x="665090" y="0"/>
                    <a:pt x="428458" y="0"/>
                  </a:cubicBezTo>
                  <a:close/>
                </a:path>
              </a:pathLst>
            </a:custGeom>
            <a:solidFill>
              <a:srgbClr val="F4C0A1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80336" y="43999"/>
              <a:ext cx="696245" cy="749622"/>
            </a:xfrm>
            <a:prstGeom prst="rect">
              <a:avLst/>
            </a:prstGeom>
          </p:spPr>
          <p:txBody>
            <a:bodyPr anchor="ctr" rtlCol="false" tIns="55179" lIns="55179" bIns="55179" rIns="55179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9143573" y="3545408"/>
            <a:ext cx="6839844" cy="33025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743"/>
              </a:lnSpc>
            </a:pPr>
            <a:r>
              <a:rPr lang="en-US" sz="6245">
                <a:solidFill>
                  <a:srgbClr val="000000"/>
                </a:solidFill>
                <a:latin typeface="Arvo"/>
                <a:ea typeface="Arvo"/>
                <a:cs typeface="Arvo"/>
                <a:sym typeface="Arvo"/>
              </a:rPr>
              <a:t>I = PRT</a:t>
            </a:r>
          </a:p>
          <a:p>
            <a:pPr algn="l">
              <a:lnSpc>
                <a:spcPts val="8743"/>
              </a:lnSpc>
            </a:pPr>
            <a:r>
              <a:rPr lang="en-US" sz="6245">
                <a:solidFill>
                  <a:srgbClr val="000000"/>
                </a:solidFill>
                <a:latin typeface="Arvo"/>
                <a:ea typeface="Arvo"/>
                <a:cs typeface="Arvo"/>
                <a:sym typeface="Arvo"/>
              </a:rPr>
              <a:t>I =500 x 0.035 x 3</a:t>
            </a:r>
          </a:p>
          <a:p>
            <a:pPr algn="l">
              <a:lnSpc>
                <a:spcPts val="8743"/>
              </a:lnSpc>
            </a:pPr>
            <a:r>
              <a:rPr lang="en-US" sz="6245">
                <a:solidFill>
                  <a:srgbClr val="000000"/>
                </a:solidFill>
                <a:latin typeface="Arvo"/>
                <a:ea typeface="Arvo"/>
                <a:cs typeface="Arvo"/>
                <a:sym typeface="Arvo"/>
              </a:rPr>
              <a:t>I = 52.5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525462" y="1027938"/>
            <a:ext cx="8609576" cy="689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55"/>
              </a:lnSpc>
              <a:spcBef>
                <a:spcPct val="0"/>
              </a:spcBef>
            </a:pPr>
            <a:r>
              <a:rPr lang="en-US" b="true" sz="3968">
                <a:solidFill>
                  <a:srgbClr val="000000"/>
                </a:solidFill>
                <a:latin typeface="Arvo Bold"/>
                <a:ea typeface="Arvo Bold"/>
                <a:cs typeface="Arvo Bold"/>
                <a:sym typeface="Arvo Bold"/>
              </a:rPr>
              <a:t>Step 3: Substitute and Simplify</a:t>
            </a:r>
            <a:r>
              <a:rPr lang="en-US" b="true" sz="3968">
                <a:solidFill>
                  <a:srgbClr val="000000"/>
                </a:solidFill>
                <a:latin typeface="Arvo Bold"/>
                <a:ea typeface="Arvo Bold"/>
                <a:cs typeface="Arvo Bold"/>
                <a:sym typeface="Arvo Bold"/>
              </a:rPr>
              <a:t> 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3992433" y="8681134"/>
            <a:ext cx="10303133" cy="6897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55"/>
              </a:lnSpc>
            </a:pPr>
            <a:r>
              <a:rPr lang="en-US" b="true" sz="3968">
                <a:solidFill>
                  <a:srgbClr val="000000"/>
                </a:solidFill>
                <a:latin typeface="Arvo Bold"/>
                <a:ea typeface="Arvo Bold"/>
                <a:cs typeface="Arvo Bold"/>
                <a:sym typeface="Arvo Bold"/>
              </a:rPr>
              <a:t>We would receive $52.50 in interest.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1773448" y="2393685"/>
            <a:ext cx="5070253" cy="5697276"/>
            <a:chOff x="0" y="0"/>
            <a:chExt cx="1280479" cy="1438832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280479" cy="1438832"/>
            </a:xfrm>
            <a:custGeom>
              <a:avLst/>
              <a:gdLst/>
              <a:ahLst/>
              <a:cxnLst/>
              <a:rect r="r" b="b" t="t" l="l"/>
              <a:pathLst>
                <a:path h="1438832" w="1280479">
                  <a:moveTo>
                    <a:pt x="77873" y="0"/>
                  </a:moveTo>
                  <a:lnTo>
                    <a:pt x="1202605" y="0"/>
                  </a:lnTo>
                  <a:cubicBezTo>
                    <a:pt x="1245614" y="0"/>
                    <a:pt x="1280479" y="34865"/>
                    <a:pt x="1280479" y="77873"/>
                  </a:cubicBezTo>
                  <a:lnTo>
                    <a:pt x="1280479" y="1360958"/>
                  </a:lnTo>
                  <a:cubicBezTo>
                    <a:pt x="1280479" y="1381612"/>
                    <a:pt x="1272274" y="1401419"/>
                    <a:pt x="1257670" y="1416023"/>
                  </a:cubicBezTo>
                  <a:cubicBezTo>
                    <a:pt x="1243066" y="1430627"/>
                    <a:pt x="1223259" y="1438832"/>
                    <a:pt x="1202605" y="1438832"/>
                  </a:cubicBezTo>
                  <a:lnTo>
                    <a:pt x="77873" y="1438832"/>
                  </a:lnTo>
                  <a:cubicBezTo>
                    <a:pt x="57220" y="1438832"/>
                    <a:pt x="37413" y="1430627"/>
                    <a:pt x="22809" y="1416023"/>
                  </a:cubicBezTo>
                  <a:cubicBezTo>
                    <a:pt x="8204" y="1401419"/>
                    <a:pt x="0" y="1381612"/>
                    <a:pt x="0" y="1360958"/>
                  </a:cubicBezTo>
                  <a:lnTo>
                    <a:pt x="0" y="77873"/>
                  </a:lnTo>
                  <a:cubicBezTo>
                    <a:pt x="0" y="57220"/>
                    <a:pt x="8204" y="37413"/>
                    <a:pt x="22809" y="22809"/>
                  </a:cubicBezTo>
                  <a:cubicBezTo>
                    <a:pt x="37413" y="8204"/>
                    <a:pt x="57220" y="0"/>
                    <a:pt x="77873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1280479" cy="147693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20" id="20"/>
          <p:cNvSpPr/>
          <p:nvPr/>
        </p:nvSpPr>
        <p:spPr>
          <a:xfrm flipH="false" flipV="false" rot="-220920">
            <a:off x="5490662" y="6465712"/>
            <a:ext cx="2706079" cy="764467"/>
          </a:xfrm>
          <a:custGeom>
            <a:avLst/>
            <a:gdLst/>
            <a:ahLst/>
            <a:cxnLst/>
            <a:rect r="r" b="b" t="t" l="l"/>
            <a:pathLst>
              <a:path h="764467" w="2706079">
                <a:moveTo>
                  <a:pt x="0" y="0"/>
                </a:moveTo>
                <a:lnTo>
                  <a:pt x="2706079" y="0"/>
                </a:lnTo>
                <a:lnTo>
                  <a:pt x="2706079" y="764467"/>
                </a:lnTo>
                <a:lnTo>
                  <a:pt x="0" y="76446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1" id="21"/>
          <p:cNvGrpSpPr/>
          <p:nvPr/>
        </p:nvGrpSpPr>
        <p:grpSpPr>
          <a:xfrm rot="0">
            <a:off x="2993981" y="3919572"/>
            <a:ext cx="1517393" cy="1045309"/>
            <a:chOff x="0" y="0"/>
            <a:chExt cx="1179877" cy="8128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179877" cy="812800"/>
            </a:xfrm>
            <a:custGeom>
              <a:avLst/>
              <a:gdLst/>
              <a:ahLst/>
              <a:cxnLst/>
              <a:rect r="r" b="b" t="t" l="l"/>
              <a:pathLst>
                <a:path h="812800" w="1179877">
                  <a:moveTo>
                    <a:pt x="589939" y="0"/>
                  </a:moveTo>
                  <a:cubicBezTo>
                    <a:pt x="264125" y="0"/>
                    <a:pt x="0" y="181951"/>
                    <a:pt x="0" y="406400"/>
                  </a:cubicBezTo>
                  <a:cubicBezTo>
                    <a:pt x="0" y="630849"/>
                    <a:pt x="264125" y="812800"/>
                    <a:pt x="589939" y="812800"/>
                  </a:cubicBezTo>
                  <a:cubicBezTo>
                    <a:pt x="915753" y="812800"/>
                    <a:pt x="1179877" y="630849"/>
                    <a:pt x="1179877" y="406400"/>
                  </a:cubicBezTo>
                  <a:cubicBezTo>
                    <a:pt x="1179877" y="181951"/>
                    <a:pt x="915753" y="0"/>
                    <a:pt x="589939" y="0"/>
                  </a:cubicBezTo>
                  <a:close/>
                </a:path>
              </a:pathLst>
            </a:custGeom>
            <a:solidFill>
              <a:srgbClr val="FFA56E"/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110613" y="38100"/>
              <a:ext cx="958650" cy="698500"/>
            </a:xfrm>
            <a:prstGeom prst="rect">
              <a:avLst/>
            </a:prstGeom>
          </p:spPr>
          <p:txBody>
            <a:bodyPr anchor="ctr" rtlCol="false" tIns="55179" lIns="55179" bIns="55179" rIns="55179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2993981" y="5165699"/>
            <a:ext cx="1314594" cy="1045309"/>
            <a:chOff x="0" y="0"/>
            <a:chExt cx="1022187" cy="8128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022187" cy="812800"/>
            </a:xfrm>
            <a:custGeom>
              <a:avLst/>
              <a:gdLst/>
              <a:ahLst/>
              <a:cxnLst/>
              <a:rect r="r" b="b" t="t" l="l"/>
              <a:pathLst>
                <a:path h="812800" w="1022187">
                  <a:moveTo>
                    <a:pt x="511094" y="0"/>
                  </a:moveTo>
                  <a:cubicBezTo>
                    <a:pt x="228824" y="0"/>
                    <a:pt x="0" y="181951"/>
                    <a:pt x="0" y="406400"/>
                  </a:cubicBezTo>
                  <a:cubicBezTo>
                    <a:pt x="0" y="630849"/>
                    <a:pt x="228824" y="812800"/>
                    <a:pt x="511094" y="812800"/>
                  </a:cubicBezTo>
                  <a:cubicBezTo>
                    <a:pt x="793363" y="812800"/>
                    <a:pt x="1022187" y="630849"/>
                    <a:pt x="1022187" y="406400"/>
                  </a:cubicBezTo>
                  <a:cubicBezTo>
                    <a:pt x="1022187" y="181951"/>
                    <a:pt x="793363" y="0"/>
                    <a:pt x="511094" y="0"/>
                  </a:cubicBezTo>
                  <a:close/>
                </a:path>
              </a:pathLst>
            </a:custGeom>
            <a:solidFill>
              <a:srgbClr val="DB5605"/>
            </a:solidFill>
          </p:spPr>
        </p:sp>
        <p:sp>
          <p:nvSpPr>
            <p:cNvPr name="TextBox 26" id="26"/>
            <p:cNvSpPr txBox="true"/>
            <p:nvPr/>
          </p:nvSpPr>
          <p:spPr>
            <a:xfrm>
              <a:off x="95830" y="38100"/>
              <a:ext cx="830527" cy="698500"/>
            </a:xfrm>
            <a:prstGeom prst="rect">
              <a:avLst/>
            </a:prstGeom>
          </p:spPr>
          <p:txBody>
            <a:bodyPr anchor="ctr" rtlCol="false" tIns="55179" lIns="55179" bIns="55179" rIns="55179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sp>
        <p:nvSpPr>
          <p:cNvPr name="TextBox 27" id="27"/>
          <p:cNvSpPr txBox="true"/>
          <p:nvPr/>
        </p:nvSpPr>
        <p:spPr>
          <a:xfrm rot="0">
            <a:off x="2315820" y="4067345"/>
            <a:ext cx="3323031" cy="7700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93"/>
              </a:lnSpc>
            </a:pPr>
            <a:r>
              <a:rPr lang="en-US" sz="4495">
                <a:solidFill>
                  <a:srgbClr val="000000"/>
                </a:solidFill>
                <a:latin typeface="Arvo"/>
                <a:ea typeface="Arvo"/>
                <a:cs typeface="Arvo"/>
                <a:sym typeface="Arvo"/>
              </a:rPr>
              <a:t>P = 500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2372522" y="2948695"/>
            <a:ext cx="4003460" cy="7700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93"/>
              </a:lnSpc>
            </a:pPr>
            <a:r>
              <a:rPr lang="en-US" sz="4495">
                <a:solidFill>
                  <a:srgbClr val="000000"/>
                </a:solidFill>
                <a:latin typeface="Arvo"/>
                <a:ea typeface="Arvo"/>
                <a:cs typeface="Arvo"/>
                <a:sym typeface="Arvo"/>
              </a:rPr>
              <a:t>I = unknown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2259282" y="5317307"/>
            <a:ext cx="3209626" cy="7700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93"/>
              </a:lnSpc>
            </a:pPr>
            <a:r>
              <a:rPr lang="en-US" sz="4495">
                <a:solidFill>
                  <a:srgbClr val="000000"/>
                </a:solidFill>
                <a:latin typeface="Arvo"/>
                <a:ea typeface="Arvo"/>
                <a:cs typeface="Arvo"/>
                <a:sym typeface="Arvo"/>
              </a:rPr>
              <a:t>R = 3.5</a:t>
            </a:r>
          </a:p>
        </p:txBody>
      </p:sp>
      <p:grpSp>
        <p:nvGrpSpPr>
          <p:cNvPr name="Group 30" id="30"/>
          <p:cNvGrpSpPr/>
          <p:nvPr/>
        </p:nvGrpSpPr>
        <p:grpSpPr>
          <a:xfrm rot="0">
            <a:off x="2932026" y="6439475"/>
            <a:ext cx="1045309" cy="1045309"/>
            <a:chOff x="0" y="0"/>
            <a:chExt cx="812800" cy="81280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4C0A1"/>
            </a:solidFill>
          </p:spPr>
        </p:sp>
        <p:sp>
          <p:nvSpPr>
            <p:cNvPr name="TextBox 32" id="32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5179" lIns="55179" bIns="55179" rIns="55179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sp>
        <p:nvSpPr>
          <p:cNvPr name="TextBox 33" id="33"/>
          <p:cNvSpPr txBox="true"/>
          <p:nvPr/>
        </p:nvSpPr>
        <p:spPr>
          <a:xfrm rot="0">
            <a:off x="2259282" y="6563433"/>
            <a:ext cx="3209626" cy="7700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93"/>
              </a:lnSpc>
            </a:pPr>
            <a:r>
              <a:rPr lang="en-US" sz="4495">
                <a:solidFill>
                  <a:srgbClr val="000000"/>
                </a:solidFill>
                <a:latin typeface="Arvo"/>
                <a:ea typeface="Arvo"/>
                <a:cs typeface="Arvo"/>
                <a:sym typeface="Arvo"/>
              </a:rPr>
              <a:t>T = 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DAHKADycZFA</dc:identifier>
  <dcterms:modified xsi:type="dcterms:W3CDTF">2011-08-01T06:04:30Z</dcterms:modified>
  <cp:revision>1</cp:revision>
  <dc:title>Trigonometry</dc:title>
</cp:coreProperties>
</file>