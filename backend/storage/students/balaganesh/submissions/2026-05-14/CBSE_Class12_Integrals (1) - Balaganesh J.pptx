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D4A9C">
              <a:alpha val="30000"/>
            </a:srgbClr>
          </a:solidFill>
          <a:ln w="12700">
            <a:solidFill>
              <a:srgbClr val="2D4A9C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2D4A9C">
              <a:alpha val="25000"/>
            </a:srgbClr>
          </a:solidFill>
          <a:ln w="12700">
            <a:solidFill>
              <a:srgbClr val="2D4A9C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914400"/>
            <a:ext cx="2743200" cy="2743200"/>
          </a:xfrm>
          <a:prstGeom prst="ellipse">
            <a:avLst/>
          </a:prstGeom>
          <a:solidFill>
            <a:srgbClr val="F0A500">
              <a:alpha val="15000"/>
            </a:srgbClr>
          </a:solidFill>
          <a:ln w="12700">
            <a:solidFill>
              <a:srgbClr val="F0A500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40080"/>
            <a:ext cx="1371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0A500">
                    <a:alpha val="85000"/>
                  </a:srgbClr>
                </a:solidFill>
              </a:rPr>
              <a:t>∫</a:t>
            </a:r>
            <a:endParaRPr lang="en-US" sz="12000" dirty="0"/>
          </a:p>
        </p:txBody>
      </p:sp>
      <p:sp>
        <p:nvSpPr>
          <p:cNvPr id="7" name="Text 5"/>
          <p:cNvSpPr/>
          <p:nvPr/>
        </p:nvSpPr>
        <p:spPr>
          <a:xfrm>
            <a:off x="1463040" y="82296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INTEGRALS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1463040" y="17830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Indefinite &amp; Definite Integrals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463040" y="2377440"/>
            <a:ext cx="5029200" cy="36576"/>
          </a:xfrm>
          <a:prstGeom prst="rect">
            <a:avLst/>
          </a:prstGeom>
          <a:solidFill>
            <a:srgbClr val="F0A500">
              <a:alpha val="60000"/>
            </a:srgbClr>
          </a:solidFill>
          <a:ln w="12700">
            <a:solidFill>
              <a:srgbClr val="F0A500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5146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Properties, Applications &amp; the Beauty of Anti-Differentiation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206240"/>
            <a:ext cx="1920240" cy="411480"/>
          </a:xfrm>
          <a:prstGeom prst="roundRect">
            <a:avLst>
              <a:gd name="adj" fmla="val 26667"/>
            </a:avLst>
          </a:prstGeom>
          <a:solidFill>
            <a:srgbClr val="1A2E6E"/>
          </a:solidFill>
          <a:ln w="12700">
            <a:solidFill>
              <a:srgbClr val="F0A500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06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XII  |  CBSE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0" y="4206240"/>
            <a:ext cx="1920240" cy="411480"/>
          </a:xfrm>
          <a:prstGeom prst="roundRect">
            <a:avLst>
              <a:gd name="adj" fmla="val 26667"/>
            </a:avLst>
          </a:prstGeom>
          <a:solidFill>
            <a:srgbClr val="1A2E6E"/>
          </a:solidFill>
          <a:ln w="12700">
            <a:solidFill>
              <a:srgbClr val="F0A500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4206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4206240"/>
            <a:ext cx="1920240" cy="411480"/>
          </a:xfrm>
          <a:prstGeom prst="roundRect">
            <a:avLst>
              <a:gd name="adj" fmla="val 26667"/>
            </a:avLst>
          </a:prstGeom>
          <a:solidFill>
            <a:srgbClr val="1A2E6E"/>
          </a:solidFill>
          <a:ln w="12700">
            <a:solidFill>
              <a:srgbClr val="F0A500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4206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7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4206240"/>
            <a:ext cx="1920240" cy="411480"/>
          </a:xfrm>
          <a:prstGeom prst="roundRect">
            <a:avLst>
              <a:gd name="adj" fmla="val 26667"/>
            </a:avLst>
          </a:prstGeom>
          <a:solidFill>
            <a:srgbClr val="1A2E6E"/>
          </a:solidFill>
          <a:ln w="12700">
            <a:solidFill>
              <a:srgbClr val="F0A500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4206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 Session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A5568"/>
                </a:solidFill>
              </a:rPr>
              <a:t>🎨 Visual: Background image of flowing water/river curves blending into math graph paper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6E"/>
          </a:solidFill>
          <a:ln w="12700">
            <a:solidFill>
              <a:srgbClr val="1A2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BEGINS...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34747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  A Car's Journey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 car moving on a highway. You know its </a:t>
            </a:r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at every moment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find out </a:t>
            </a:r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far it has travelled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is the derivative of distance.</a:t>
            </a:r>
            <a:endParaRPr lang="en-US" sz="16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 distance from speed —</a:t>
            </a: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INTEGRATE! 🎯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914400"/>
            <a:ext cx="4206240" cy="3474720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005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 Think About It!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D4A9C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5544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 Area under a flood curve tells us total water flow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2304288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D4A9C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230428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Integrating power over time gives energy used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3054096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D4A9C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3054096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Engineers integrate stress to find structural load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3803904"/>
            <a:ext cx="3931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2D4A9C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3803904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 Doctors integrate drug rate to find total dose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572000"/>
            <a:ext cx="9144000" cy="5486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57200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THINK-PAIR-SHARE:  Where else in daily life do you 'accumulate' quantities over time?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" y="51389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5568"/>
                </a:solidFill>
              </a:rPr>
              <a:t>🎨 Visual: Split image — car on highway (left) and graph of velocity-time curve with shaded area (right)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INTEGRATION? — The Big Picture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0" y="822960"/>
            <a:ext cx="4572000" cy="1005840"/>
          </a:xfrm>
          <a:prstGeom prst="rect">
            <a:avLst/>
          </a:prstGeom>
          <a:solidFill>
            <a:srgbClr val="1A2E6E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377440" y="86868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</a:t>
            </a:r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Reverse of Differentiation</a:t>
            </a:r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algn="ctr" indent="0" marL="0">
              <a:buNone/>
            </a:pPr>
            <a:r>
              <a:rPr lang="en-US" sz="13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f(x) dx  is called an </a:t>
            </a:r>
            <a:pPr algn="ctr"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011680"/>
            <a:ext cx="265176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2996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 Anti-derivative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51460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such that F'(x) = f(x)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201168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2011680"/>
            <a:ext cx="265176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02996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 Indefinite Integral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51460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∫f(x)dx = F(x) + 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(family of curves)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2011680"/>
            <a:ext cx="26517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2011680"/>
            <a:ext cx="265176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02996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∫ᵃᵇ  Definite Integral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251460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∫[a,b] f(x)dx = F(b) − F(a)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(exact area/value)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572000"/>
            <a:ext cx="5029200" cy="50292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5720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'+C' is MANDATORY in indefinite integrals — it represents infinite anti-derivatives!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0" y="4572000"/>
            <a:ext cx="3200400" cy="50292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45720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NCERT Ref: Chapter 7, Page 287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51206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5568"/>
                </a:solidFill>
              </a:rPr>
              <a:t>🎨 Visual: Number line / arrow showing differentiation forward and integration backward (reversal concept)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6E"/>
          </a:solidFill>
          <a:ln w="12700">
            <a:solidFill>
              <a:srgbClr val="1A2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INTEGRATION FORMULAS — Your Toolkit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73152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Rule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xⁿ dx  =  xⁿ⁺¹/(n+1) + C,  n ≠ −1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822960"/>
            <a:ext cx="73152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8686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Rule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92040" y="1115568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1/x dx  =  ln|x| + 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1856232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856232"/>
            <a:ext cx="73152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901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14884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eˣ dx  =  eˣ + 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856232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1856232"/>
            <a:ext cx="73152" cy="914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901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Exp.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2148840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aˣ dx  =  aˣ/ln(a) + C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2889504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4855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2889504"/>
            <a:ext cx="73152" cy="9144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352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 – Sin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182112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sin x dx  =  −cos x + C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2889504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D4A9C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2889504"/>
            <a:ext cx="73152" cy="914400"/>
          </a:xfrm>
          <a:prstGeom prst="rect">
            <a:avLst/>
          </a:prstGeom>
          <a:solidFill>
            <a:srgbClr val="2D4A9C"/>
          </a:solidFill>
          <a:ln w="12700">
            <a:solidFill>
              <a:srgbClr val="2D4A9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93522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4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 – Cos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3182112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cos x dx  =  sin x + C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3922776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922776"/>
            <a:ext cx="73152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9684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 – Sec²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215384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sec²x dx  =  tan x + C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09160" y="3922776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>
                <a:alpha val="8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3922776"/>
            <a:ext cx="73152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96849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 – Csc²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4215384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cosec²x dx  =  −cot x + C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74320" y="507492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5568"/>
                </a:solidFill>
              </a:rPr>
              <a:t>🎨 Visual: Colorful formula card wall — like cheat-sheet flashcards pinned on a board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OF INTEGRATION — Your Problem-Solving Toolkit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640080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640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Method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216152"/>
            <a:ext cx="7635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Put u = g(x), then du = g'(x) dx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481328"/>
            <a:ext cx="7635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∫ 2x·(x²+1)⁵ dx  →  put u = x²+1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0" y="914400"/>
            <a:ext cx="3383280" cy="256032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9240" y="914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Look for a function and its derivative together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8595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240280"/>
            <a:ext cx="640080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240280"/>
            <a:ext cx="640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51560" y="2286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by Parts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587752"/>
            <a:ext cx="7635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∫ u·v dx = u∫v dx − ∫(u'·∫v dx) dx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2852928"/>
            <a:ext cx="7635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∫ x·eˣ dx   [ILATE rule for u: x, v: eˣ]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03520" y="2286000"/>
            <a:ext cx="3383280" cy="256032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9240" y="22860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ILATE: Inverse, Log, Algebraic, Trig, Exp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611880"/>
            <a:ext cx="8595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>
                <a:alpha val="7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611880"/>
            <a:ext cx="640080" cy="1234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611880"/>
            <a:ext cx="640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51560" y="3657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Fractions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3959352"/>
            <a:ext cx="7635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Decompose rational P(x)/Q(x) into simpler parts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51560" y="4224528"/>
            <a:ext cx="7635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∫ 1/(x²−1) dx = ∫ [A/(x−1) + B/(x+1)] dx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303520" y="3657600"/>
            <a:ext cx="3383280" cy="256032"/>
          </a:xfrm>
          <a:prstGeom prst="rect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36576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Used when degree of numerator &lt; denominator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507492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5568"/>
                </a:solidFill>
              </a:rPr>
              <a:t>🎨 Visual: Three toolbox drawers open — each showing one method like a mechanic's tools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6E"/>
          </a:solidFill>
          <a:ln w="12700">
            <a:solidFill>
              <a:srgbClr val="1A2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DEFINITE INTEGRALS — Precise Areas &amp; Values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914400"/>
          </a:xfrm>
          <a:prstGeom prst="rect">
            <a:avLst/>
          </a:prstGeom>
          <a:solidFill>
            <a:srgbClr val="0D1B4B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FUNDAMENTAL THEOREM OF CALCULUS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∫[a to b] f(x) dx  =  F(b) − F(a)   where F'(x) = f(x)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8470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Evaluate: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5840" y="2240280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283464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8346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anti-derivative F(x)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54680" y="224028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423160" y="283464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28346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upper limit b → F(b)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0" y="2240280"/>
            <a:ext cx="548640" cy="5486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0" y="283464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>
                <a:alpha val="7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28346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lower limit a → F(a)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52360" y="2240280"/>
            <a:ext cx="548640" cy="5486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5236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720840" y="2834640"/>
            <a:ext cx="20116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8346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F(b) − F(a) = answer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566160"/>
            <a:ext cx="5669280" cy="1188720"/>
          </a:xfrm>
          <a:prstGeom prst="rect">
            <a:avLst/>
          </a:prstGeom>
          <a:solidFill>
            <a:srgbClr val="E8EDF5"/>
          </a:solidFill>
          <a:ln w="12700">
            <a:solidFill>
              <a:srgbClr val="2D4A9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59359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Worked Example: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858768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∫[1 to 3] x² dx  =  [x³/3]₁³  =  27/3 − 1/3  =  26/3  ≈ 8.67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26480" y="3566160"/>
            <a:ext cx="2743200" cy="1188720"/>
          </a:xfrm>
          <a:prstGeom prst="rect">
            <a:avLst/>
          </a:prstGeom>
          <a:solidFill>
            <a:srgbClr val="0891B2">
              <a:alpha val="1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3593592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Interaction: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∫[0 to π/2] cos x dx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your partner!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4320" y="507492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5568"/>
                </a:solidFill>
              </a:rPr>
              <a:t>🎨 Visual: Shaded area under parabola y=x² between x=1 and x=3, with vertical boundary lines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OF DEFINITE INTEGRALS — The Power Tools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777240"/>
            <a:ext cx="502920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777240"/>
            <a:ext cx="502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" y="822960"/>
            <a:ext cx="3520440" cy="256032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82296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reversed → sign flips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124712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∫[a,b] f(x) dx = −∫[b,a] f(x) dx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77724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777240"/>
            <a:ext cx="502920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777240"/>
            <a:ext cx="502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57800" y="822960"/>
            <a:ext cx="3520440" cy="256032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82296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limits → zero area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0" y="1124712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∫[a,a] f(x) dx = 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14884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148840"/>
            <a:ext cx="502920" cy="1234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148840"/>
            <a:ext cx="502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2194560"/>
            <a:ext cx="3520440" cy="256032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19456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interval property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22960" y="2496312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∫[a,b] f(x) dx = ∫[a,c] f(x) dx + ∫[c,b] f(x) dx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14884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2148840"/>
            <a:ext cx="502920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148840"/>
            <a:ext cx="502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257800" y="2194560"/>
            <a:ext cx="3520440" cy="256032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219456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Substitution symmetry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03520" y="2496312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∫[a,b] f(x) dx = ∫[a,b] f(a+b−x) dx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" y="352044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4855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3520440"/>
            <a:ext cx="502920" cy="123444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3520440"/>
            <a:ext cx="502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77240" y="3566160"/>
            <a:ext cx="3520440" cy="256032"/>
          </a:xfrm>
          <a:prstGeom prst="rect">
            <a:avLst/>
          </a:prstGeom>
          <a:solidFill>
            <a:srgbClr val="E84855">
              <a:alpha val="12000"/>
            </a:srgbClr>
          </a:solidFill>
          <a:ln w="12700">
            <a:solidFill>
              <a:srgbClr val="E84855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356616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Even/Odd symmetry about 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960" y="3867912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∫[0,2a] f(x) dx = 2∫[0,a] f(x) dx  if  f(2a−x) = f(x)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352044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D4A9C">
                <a:alpha val="8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3520440"/>
            <a:ext cx="502920" cy="1234440"/>
          </a:xfrm>
          <a:prstGeom prst="rect">
            <a:avLst/>
          </a:prstGeom>
          <a:solidFill>
            <a:srgbClr val="2D4A9C"/>
          </a:solidFill>
          <a:ln w="12700">
            <a:solidFill>
              <a:srgbClr val="2D4A9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520440"/>
            <a:ext cx="502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257800" y="3566160"/>
            <a:ext cx="3520440" cy="256032"/>
          </a:xfrm>
          <a:prstGeom prst="rect">
            <a:avLst/>
          </a:prstGeom>
          <a:solidFill>
            <a:srgbClr val="2D4A9C">
              <a:alpha val="12000"/>
            </a:srgbClr>
          </a:solidFill>
          <a:ln w="12700">
            <a:solidFill>
              <a:srgbClr val="2D4A9C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0" y="3566160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4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Odd/Even function rule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03520" y="3867912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∫[−a,a] f(x) dx = 2∫[0,a] f(x) dx  if f is even;  = 0 if f is odd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74320" y="507492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5568"/>
                </a:solidFill>
              </a:rPr>
              <a:t>🎨 Visual: Properties displayed like puzzle tiles with geometric icons. Symmetry visuals for P5 &amp; P6.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2D4A9C">
              <a:alpha val="20000"/>
            </a:srgbClr>
          </a:solidFill>
          <a:ln w="12700">
            <a:solidFill>
              <a:srgbClr val="2D4A9C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F0A500">
              <a:alpha val="12000"/>
            </a:srgbClr>
          </a:solidFill>
          <a:ln w="12700">
            <a:solidFill>
              <a:srgbClr val="F0A500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CLASSROOM ACTIVITY  —  The Integration Relay!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Time: 8 minutes  |  Groups of 4 students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2011680" cy="2286000"/>
          </a:xfrm>
          <a:prstGeom prst="rect">
            <a:avLst/>
          </a:prstGeom>
          <a:solidFill>
            <a:srgbClr val="1A2E6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417320"/>
            <a:ext cx="201168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17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92024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teams of 4. Each person gets ONE problem from the relay card.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23160" y="1417320"/>
            <a:ext cx="2011680" cy="2286000"/>
          </a:xfrm>
          <a:prstGeom prst="rect">
            <a:avLst/>
          </a:prstGeom>
          <a:solidFill>
            <a:srgbClr val="1A2E6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3160" y="1417320"/>
            <a:ext cx="201168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1417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14600" y="192024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1 solves → passes answer to Person 2 who uses it as the next input.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1417320"/>
            <a:ext cx="2011680" cy="2286000"/>
          </a:xfrm>
          <a:prstGeom prst="rect">
            <a:avLst/>
          </a:prstGeom>
          <a:solidFill>
            <a:srgbClr val="1A2E6E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417320"/>
            <a:ext cx="201168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417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192024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 by Person 4 must match the target value on the relay card.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20840" y="1417320"/>
            <a:ext cx="2011680" cy="2286000"/>
          </a:xfrm>
          <a:prstGeom prst="rect">
            <a:avLst/>
          </a:prstGeom>
          <a:solidFill>
            <a:srgbClr val="1A2E6E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20840" y="1417320"/>
            <a:ext cx="2011680" cy="4114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1417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12280" y="192024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correct team wins! Present solution steps on the board.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3840480"/>
            <a:ext cx="8595360" cy="1005840"/>
          </a:xfrm>
          <a:prstGeom prst="rect">
            <a:avLst/>
          </a:prstGeom>
          <a:solidFill>
            <a:srgbClr val="1A2E6E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8679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Sample Relay Card: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∫3x² dx    </a:t>
            </a:r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result from P1 at x=2    </a:t>
            </a:r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eˣ dx at x=1    </a:t>
            </a:r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both answers — Final Target: 8+e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5568"/>
                </a:solidFill>
              </a:rPr>
              <a:t>🎨 Visual: Relay baton graphic with 4 colored segments, stopwatch icon, team celebration image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6E"/>
          </a:solidFill>
          <a:ln w="12700">
            <a:solidFill>
              <a:srgbClr val="1A2E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— Where Integrals Come Alive!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420624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Area Between Curves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∫[a,b] [f(x) − g(x)] dx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architecture &amp; land survey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77724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777240"/>
            <a:ext cx="420624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8046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Work Done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2344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∫[a,b] F(x) dx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× displacement in machines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37744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377440"/>
            <a:ext cx="420624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048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Average Value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28346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f_avg = (1/(b−a)) · ∫[a,b] f(x) dx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temp, speed, pressure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377440"/>
            <a:ext cx="4206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377440"/>
            <a:ext cx="420624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4048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Volume of Solids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28346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π · ∫[a,b] [f(x)]² dx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 method — bottles, tanks, domes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977640"/>
            <a:ext cx="8595360" cy="868680"/>
          </a:xfrm>
          <a:prstGeom prst="rect">
            <a:avLst/>
          </a:prstGeom>
          <a:solidFill>
            <a:srgbClr val="0D1B4B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00507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Real Life: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ISRO engineers use definite integrals to calculate fuel burn rate and rocket trajectory. The Chandrayaan missions relied heavily on integral calculus! 🚀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507492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5568"/>
                </a:solidFill>
              </a:rPr>
              <a:t>🎨 Visual: 4 quadrant infographic — land survey, mechanical arm, weather graph, cylindrical tank diagram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2D4A9C">
              <a:alpha val="20000"/>
            </a:srgbClr>
          </a:solidFill>
          <a:ln w="12700">
            <a:solidFill>
              <a:srgbClr val="2D4A9C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37160"/>
            <a:ext cx="8595360" cy="6858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3716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QUICK QUIZ  —  Test Your Integration Skills!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1188720"/>
          </a:xfrm>
          <a:prstGeom prst="rect">
            <a:avLst/>
          </a:prstGeom>
          <a:solidFill>
            <a:srgbClr val="1A2E6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64008" cy="1188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∫ x³ dx  = 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435608"/>
            <a:ext cx="1965960" cy="548640"/>
          </a:xfrm>
          <a:prstGeom prst="rect">
            <a:avLst/>
          </a:prstGeom>
          <a:solidFill>
            <a:srgbClr val="0D1B4B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3560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x⁴ + C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435608"/>
            <a:ext cx="196596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43560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x⁴/4 + C 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435608"/>
            <a:ext cx="1965960" cy="548640"/>
          </a:xfrm>
          <a:prstGeom prst="rect">
            <a:avLst/>
          </a:prstGeom>
          <a:solidFill>
            <a:srgbClr val="0D1B4B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43560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4x³ + 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12280" y="1435608"/>
            <a:ext cx="1965960" cy="548640"/>
          </a:xfrm>
          <a:prstGeom prst="rect">
            <a:avLst/>
          </a:prstGeom>
          <a:solidFill>
            <a:srgbClr val="0D1B4B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0" y="143560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3x² + 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286000"/>
            <a:ext cx="8595360" cy="1188720"/>
          </a:xfrm>
          <a:prstGeom prst="rect">
            <a:avLst/>
          </a:prstGeom>
          <a:solidFill>
            <a:srgbClr val="1A2E6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286000"/>
            <a:ext cx="64008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Which property states  ∫[a,b] f(x)dx = −∫[b,a] f(x)dx 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" y="2761488"/>
            <a:ext cx="1965960" cy="548640"/>
          </a:xfrm>
          <a:prstGeom prst="rect">
            <a:avLst/>
          </a:prstGeom>
          <a:solidFill>
            <a:srgbClr val="0D1B4B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76148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Additive property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06040" y="2761488"/>
            <a:ext cx="1965960" cy="548640"/>
          </a:xfrm>
          <a:prstGeom prst="rect">
            <a:avLst/>
          </a:prstGeom>
          <a:solidFill>
            <a:srgbClr val="0D1B4B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76148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Symmetry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761488"/>
            <a:ext cx="196596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76148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Reversal of limits ✓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12280" y="2761488"/>
            <a:ext cx="1965960" cy="548640"/>
          </a:xfrm>
          <a:prstGeom prst="rect">
            <a:avLst/>
          </a:prstGeom>
          <a:solidFill>
            <a:srgbClr val="0D1B4B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276148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Linearity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611880"/>
            <a:ext cx="8595360" cy="1188720"/>
          </a:xfrm>
          <a:prstGeom prst="rect">
            <a:avLst/>
          </a:prstGeom>
          <a:solidFill>
            <a:srgbClr val="1A2E6E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611880"/>
            <a:ext cx="64008" cy="1188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∫[0,π] sin x dx  = ?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02920" y="4087368"/>
            <a:ext cx="1965960" cy="548640"/>
          </a:xfrm>
          <a:prstGeom prst="rect">
            <a:avLst/>
          </a:prstGeom>
          <a:solidFill>
            <a:srgbClr val="0D1B4B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08736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606040" y="4087368"/>
            <a:ext cx="1965960" cy="548640"/>
          </a:xfrm>
          <a:prstGeom prst="rect">
            <a:avLst/>
          </a:prstGeom>
          <a:solidFill>
            <a:srgbClr val="0D1B4B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51760" y="408736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1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4087368"/>
            <a:ext cx="196596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408736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2 ✓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812280" y="4087368"/>
            <a:ext cx="1965960" cy="548640"/>
          </a:xfrm>
          <a:prstGeom prst="rect">
            <a:avLst/>
          </a:prstGeom>
          <a:solidFill>
            <a:srgbClr val="0D1B4B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4087368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π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solidFill>
            <a:srgbClr val="F0A500">
              <a:alpha val="80000"/>
            </a:srgbClr>
          </a:solidFill>
          <a:ln w="12700">
            <a:solidFill>
              <a:srgbClr val="F0A500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800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30 seconds per question  |  Raise your hand for bonus points!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74320" y="513892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5568"/>
                </a:solidFill>
              </a:rPr>
              <a:t>🎨 Visual: Quiz buzzer graphic, countdown timer animation concept, score board sidebar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TIPS &amp; COMMON MISTAKES — Win the Board Exam!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 THIS — High-Scoring Habits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Always add +C in indefinite integrals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911096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11096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Write all substitution steps clearly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587752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87752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Apply limits AFTER integrating, not before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264408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264408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Verify using differentiation — d/dx [F(x)] = f(x)?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941064"/>
            <a:ext cx="41148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941064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Use ILATE rule without fail for IBP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777240"/>
            <a:ext cx="4206240" cy="41148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772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AVOID THESE — Marks Killers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1234440"/>
            <a:ext cx="4206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4855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234440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Forgetting +C (−1 mark guaranteed!)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1911096"/>
            <a:ext cx="4206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4855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911096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Wrong ILATE order in integration by parts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2587752"/>
            <a:ext cx="4206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4855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587752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Not simplifying partial fractions correctly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3264408"/>
            <a:ext cx="4206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4855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264408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Applying limits to indefinite integral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3941064"/>
            <a:ext cx="42062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4855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941064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 Missing absolute value in ∫(1/x) dx = ln|x|+C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4320" y="507492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5568"/>
                </a:solidFill>
              </a:rPr>
              <a:t>🎨 Visual: Two columns styled as green 'pass' vs red 'fail' evaluation sheets on exam paper background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D4A9C">
              <a:alpha val="18000"/>
            </a:srgbClr>
          </a:solidFill>
          <a:ln w="12700">
            <a:solidFill>
              <a:srgbClr val="2D4A9C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F0A500">
              <a:alpha val="10000"/>
            </a:srgbClr>
          </a:solidFill>
          <a:ln w="12700">
            <a:solidFill>
              <a:srgbClr val="F0A500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274320"/>
            <a:ext cx="731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0A500">
                    <a:alpha val="80000"/>
                  </a:srgbClr>
                </a:solidFill>
              </a:rPr>
              <a:t>∫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JOURNEY — Key Takeaways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777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now carry with you: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4206240" cy="841248"/>
          </a:xfrm>
          <a:prstGeom prst="rect">
            <a:avLst/>
          </a:prstGeom>
          <a:solidFill>
            <a:srgbClr val="1A2E6E"/>
          </a:solidFill>
          <a:ln w="12700">
            <a:solidFill>
              <a:srgbClr val="2D4A9C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34440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Integration = Anti-differentiation — the reverse gear of calculus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4206240" cy="841248"/>
          </a:xfrm>
          <a:prstGeom prst="rect">
            <a:avLst/>
          </a:prstGeom>
          <a:solidFill>
            <a:srgbClr val="1A2E6E"/>
          </a:solidFill>
          <a:ln w="12700">
            <a:solidFill>
              <a:srgbClr val="2D4A9C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234440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∞  Indefinite integrals give a family of functions (+C is not optional!)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240280"/>
            <a:ext cx="4206240" cy="841248"/>
          </a:xfrm>
          <a:prstGeom prst="rect">
            <a:avLst/>
          </a:prstGeom>
          <a:solidFill>
            <a:srgbClr val="1A2E6E"/>
          </a:solidFill>
          <a:ln w="12700">
            <a:solidFill>
              <a:srgbClr val="2D4A9C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240280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Definite integrals give exact areas, totals and values between limits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240280"/>
            <a:ext cx="4206240" cy="841248"/>
          </a:xfrm>
          <a:prstGeom prst="rect">
            <a:avLst/>
          </a:prstGeom>
          <a:solidFill>
            <a:srgbClr val="1A2E6E"/>
          </a:solidFill>
          <a:ln w="12700">
            <a:solidFill>
              <a:srgbClr val="2D4A9C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240280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Three methods: Substitution, Integration by Parts, Partial Fractions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246120"/>
            <a:ext cx="4206240" cy="841248"/>
          </a:xfrm>
          <a:prstGeom prst="rect">
            <a:avLst/>
          </a:prstGeom>
          <a:solidFill>
            <a:srgbClr val="1A2E6E"/>
          </a:solidFill>
          <a:ln w="12700">
            <a:solidFill>
              <a:srgbClr val="2D4A9C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246120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6 key properties of definite integrals — mastering them saves time in exams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246120"/>
            <a:ext cx="4206240" cy="841248"/>
          </a:xfrm>
          <a:prstGeom prst="rect">
            <a:avLst/>
          </a:prstGeom>
          <a:solidFill>
            <a:srgbClr val="1A2E6E"/>
          </a:solidFill>
          <a:ln w="12700">
            <a:solidFill>
              <a:srgbClr val="2D4A9C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246120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Real-world use: Rockets, medicine, engineering, architecture — everywhere!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343400"/>
            <a:ext cx="5943600" cy="640080"/>
          </a:xfrm>
          <a:prstGeom prst="rect">
            <a:avLst/>
          </a:prstGeom>
          <a:solidFill>
            <a:srgbClr val="F0A500">
              <a:alpha val="85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343400"/>
            <a:ext cx="5715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Homework:  NCERT Ex 7.1 (Q1–10), Ex 7.9 (Q1–5), Ex 7.11 (Q1–3)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4343400"/>
            <a:ext cx="2468880" cy="640080"/>
          </a:xfrm>
          <a:prstGeom prst="rect">
            <a:avLst/>
          </a:prstGeom>
          <a:solidFill>
            <a:srgbClr val="0891B2">
              <a:alpha val="8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343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Applications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Integrals (Ch. 8)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502920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A5568"/>
                </a:solidFill>
              </a:rPr>
              <a:t>🎨 Visual: Staircase graphic showing student ascending from 'Derivatives' to 'Integrals' to 'Applications'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Integrals - Class 12 CBSE</dc:title>
  <dc:subject>PptxGenJS Presentation</dc:subject>
  <dc:creator>PptxGenJS</dc:creator>
  <cp:lastModifiedBy>PptxGenJS</cp:lastModifiedBy>
  <cp:revision>1</cp:revision>
  <dcterms:created xsi:type="dcterms:W3CDTF">2026-05-14T22:22:18Z</dcterms:created>
  <dcterms:modified xsi:type="dcterms:W3CDTF">2026-05-14T22:22:18Z</dcterms:modified>
</cp:coreProperties>
</file>