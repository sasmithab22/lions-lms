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enty" charset="1" panose="00000500000000000000"/>
      <p:regular r:id="rId20"/>
    </p:embeddedFont>
    <p:embeddedFont>
      <p:font typeface="Belleza" charset="1" panose="02000503050000020003"/>
      <p:regular r:id="rId21"/>
    </p:embeddedFont>
    <p:embeddedFont>
      <p:font typeface="Cooper BT Bold Italics" charset="1" panose="0208080405030B0904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5FEFF"/>
        </a:solidFill>
      </p:bgPr>
    </p:bg>
    <p:spTree>
      <p:nvGrpSpPr>
        <p:cNvPr id="1" name=""/>
        <p:cNvGrpSpPr/>
        <p:nvPr/>
      </p:nvGrpSpPr>
      <p:grpSpPr>
        <a:xfrm>
          <a:off x="0" y="0"/>
          <a:ext cx="0" cy="0"/>
          <a:chOff x="0" y="0"/>
          <a:chExt cx="0" cy="0"/>
        </a:xfrm>
      </p:grpSpPr>
      <p:sp>
        <p:nvSpPr>
          <p:cNvPr name="Freeform 2" id="2"/>
          <p:cNvSpPr/>
          <p:nvPr/>
        </p:nvSpPr>
        <p:spPr>
          <a:xfrm flipH="false" flipV="false" rot="0">
            <a:off x="4149" y="-158050"/>
            <a:ext cx="18298390" cy="10445050"/>
          </a:xfrm>
          <a:custGeom>
            <a:avLst/>
            <a:gdLst/>
            <a:ahLst/>
            <a:cxnLst/>
            <a:rect r="r" b="b" t="t" l="l"/>
            <a:pathLst>
              <a:path h="10445050" w="18298390">
                <a:moveTo>
                  <a:pt x="0" y="0"/>
                </a:moveTo>
                <a:lnTo>
                  <a:pt x="18298391" y="0"/>
                </a:lnTo>
                <a:lnTo>
                  <a:pt x="18298391" y="10445050"/>
                </a:lnTo>
                <a:lnTo>
                  <a:pt x="0" y="10445050"/>
                </a:lnTo>
                <a:lnTo>
                  <a:pt x="0" y="0"/>
                </a:lnTo>
                <a:close/>
              </a:path>
            </a:pathLst>
          </a:custGeom>
          <a:blipFill>
            <a:blip r:embed="rId2">
              <a:extLst>
                <a:ext uri="{96DAC541-7B7A-43D3-8B79-37D633B846F1}">
                  <asvg:svgBlip xmlns:asvg="http://schemas.microsoft.com/office/drawing/2016/SVG/main" r:embed="rId3"/>
                </a:ext>
              </a:extLst>
            </a:blip>
            <a:stretch>
              <a:fillRect l="0" t="-37174" r="-655" b="-39160"/>
            </a:stretch>
          </a:blipFill>
        </p:spPr>
      </p:sp>
      <p:sp>
        <p:nvSpPr>
          <p:cNvPr name="Freeform 3" id="3"/>
          <p:cNvSpPr/>
          <p:nvPr/>
        </p:nvSpPr>
        <p:spPr>
          <a:xfrm flipH="false" flipV="false" rot="-5400000">
            <a:off x="5166775" y="-1911445"/>
            <a:ext cx="7954451" cy="14109890"/>
          </a:xfrm>
          <a:custGeom>
            <a:avLst/>
            <a:gdLst/>
            <a:ahLst/>
            <a:cxnLst/>
            <a:rect r="r" b="b" t="t" l="l"/>
            <a:pathLst>
              <a:path h="14109890" w="7954451">
                <a:moveTo>
                  <a:pt x="0" y="0"/>
                </a:moveTo>
                <a:lnTo>
                  <a:pt x="7954450" y="0"/>
                </a:lnTo>
                <a:lnTo>
                  <a:pt x="7954450" y="14109890"/>
                </a:lnTo>
                <a:lnTo>
                  <a:pt x="0" y="14109890"/>
                </a:lnTo>
                <a:lnTo>
                  <a:pt x="0" y="0"/>
                </a:lnTo>
                <a:close/>
              </a:path>
            </a:pathLst>
          </a:custGeom>
          <a:blipFill>
            <a:blip r:embed="rId4"/>
            <a:stretch>
              <a:fillRect l="0" t="0" r="0" b="0"/>
            </a:stretch>
          </a:blipFill>
        </p:spPr>
      </p:sp>
      <p:sp>
        <p:nvSpPr>
          <p:cNvPr name="Freeform 4" id="4"/>
          <p:cNvSpPr/>
          <p:nvPr/>
        </p:nvSpPr>
        <p:spPr>
          <a:xfrm flipH="false" flipV="false" rot="0">
            <a:off x="2443175" y="2480649"/>
            <a:ext cx="1709074" cy="2259593"/>
          </a:xfrm>
          <a:custGeom>
            <a:avLst/>
            <a:gdLst/>
            <a:ahLst/>
            <a:cxnLst/>
            <a:rect r="r" b="b" t="t" l="l"/>
            <a:pathLst>
              <a:path h="2259593" w="1709074">
                <a:moveTo>
                  <a:pt x="0" y="0"/>
                </a:moveTo>
                <a:lnTo>
                  <a:pt x="1709074" y="0"/>
                </a:lnTo>
                <a:lnTo>
                  <a:pt x="1709074" y="2259593"/>
                </a:lnTo>
                <a:lnTo>
                  <a:pt x="0" y="22595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016114">
            <a:off x="14755943" y="7523431"/>
            <a:ext cx="5107940" cy="4950058"/>
          </a:xfrm>
          <a:custGeom>
            <a:avLst/>
            <a:gdLst/>
            <a:ahLst/>
            <a:cxnLst/>
            <a:rect r="r" b="b" t="t" l="l"/>
            <a:pathLst>
              <a:path h="4950058" w="5107940">
                <a:moveTo>
                  <a:pt x="0" y="0"/>
                </a:moveTo>
                <a:lnTo>
                  <a:pt x="5107940" y="0"/>
                </a:lnTo>
                <a:lnTo>
                  <a:pt x="5107940" y="4950059"/>
                </a:lnTo>
                <a:lnTo>
                  <a:pt x="0" y="49500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61742">
            <a:off x="-1525270" y="-2475029"/>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262566" y="5143500"/>
            <a:ext cx="2388542" cy="3157928"/>
          </a:xfrm>
          <a:custGeom>
            <a:avLst/>
            <a:gdLst/>
            <a:ahLst/>
            <a:cxnLst/>
            <a:rect r="r" b="b" t="t" l="l"/>
            <a:pathLst>
              <a:path h="3157928" w="2388542">
                <a:moveTo>
                  <a:pt x="0" y="0"/>
                </a:moveTo>
                <a:lnTo>
                  <a:pt x="2388542" y="0"/>
                </a:lnTo>
                <a:lnTo>
                  <a:pt x="2388542" y="3157928"/>
                </a:lnTo>
                <a:lnTo>
                  <a:pt x="0" y="31579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4979097">
            <a:off x="15543441" y="2385383"/>
            <a:ext cx="5518197" cy="3461415"/>
          </a:xfrm>
          <a:custGeom>
            <a:avLst/>
            <a:gdLst/>
            <a:ahLst/>
            <a:cxnLst/>
            <a:rect r="r" b="b" t="t" l="l"/>
            <a:pathLst>
              <a:path h="3461415" w="5518197">
                <a:moveTo>
                  <a:pt x="5518197" y="0"/>
                </a:moveTo>
                <a:lnTo>
                  <a:pt x="0" y="0"/>
                </a:lnTo>
                <a:lnTo>
                  <a:pt x="0" y="3461414"/>
                </a:lnTo>
                <a:lnTo>
                  <a:pt x="5518197" y="3461414"/>
                </a:lnTo>
                <a:lnTo>
                  <a:pt x="5518197"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3332187" y="2957752"/>
            <a:ext cx="11642316" cy="4823203"/>
          </a:xfrm>
          <a:prstGeom prst="rect">
            <a:avLst/>
          </a:prstGeom>
        </p:spPr>
        <p:txBody>
          <a:bodyPr anchor="t" rtlCol="false" tIns="0" lIns="0" bIns="0" rIns="0">
            <a:spAutoFit/>
          </a:bodyPr>
          <a:lstStyle/>
          <a:p>
            <a:pPr algn="ctr">
              <a:lnSpc>
                <a:spcPts val="12507"/>
              </a:lnSpc>
            </a:pPr>
            <a:r>
              <a:rPr lang="en-US" sz="12384">
                <a:solidFill>
                  <a:srgbClr val="FF5757"/>
                </a:solidFill>
                <a:latin typeface="Genty"/>
                <a:ea typeface="Genty"/>
                <a:cs typeface="Genty"/>
                <a:sym typeface="Genty"/>
              </a:rPr>
              <a:t>Chapter - 1</a:t>
            </a:r>
          </a:p>
          <a:p>
            <a:pPr algn="ctr">
              <a:lnSpc>
                <a:spcPts val="12507"/>
              </a:lnSpc>
            </a:pPr>
            <a:r>
              <a:rPr lang="en-US" sz="12384">
                <a:solidFill>
                  <a:srgbClr val="8864C0"/>
                </a:solidFill>
                <a:latin typeface="Genty"/>
                <a:ea typeface="Genty"/>
                <a:cs typeface="Genty"/>
                <a:sym typeface="Genty"/>
              </a:rPr>
              <a:t>Python Revision Tour</a:t>
            </a:r>
          </a:p>
        </p:txBody>
      </p:sp>
      <p:sp>
        <p:nvSpPr>
          <p:cNvPr name="Freeform 10" id="10"/>
          <p:cNvSpPr/>
          <p:nvPr/>
        </p:nvSpPr>
        <p:spPr>
          <a:xfrm flipH="true" flipV="false" rot="5916863">
            <a:off x="-2956420" y="3737146"/>
            <a:ext cx="5518197" cy="3461415"/>
          </a:xfrm>
          <a:custGeom>
            <a:avLst/>
            <a:gdLst/>
            <a:ahLst/>
            <a:cxnLst/>
            <a:rect r="r" b="b" t="t" l="l"/>
            <a:pathLst>
              <a:path h="3461415" w="5518197">
                <a:moveTo>
                  <a:pt x="5518198" y="0"/>
                </a:moveTo>
                <a:lnTo>
                  <a:pt x="0" y="0"/>
                </a:lnTo>
                <a:lnTo>
                  <a:pt x="0" y="3461415"/>
                </a:lnTo>
                <a:lnTo>
                  <a:pt x="5518198" y="3461415"/>
                </a:lnTo>
                <a:lnTo>
                  <a:pt x="551819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229667" y="5259816"/>
            <a:ext cx="2922582" cy="3612180"/>
          </a:xfrm>
          <a:custGeom>
            <a:avLst/>
            <a:gdLst/>
            <a:ahLst/>
            <a:cxnLst/>
            <a:rect r="r" b="b" t="t" l="l"/>
            <a:pathLst>
              <a:path h="3612180" w="2922582">
                <a:moveTo>
                  <a:pt x="0" y="0"/>
                </a:moveTo>
                <a:lnTo>
                  <a:pt x="2922582" y="0"/>
                </a:lnTo>
                <a:lnTo>
                  <a:pt x="2922582" y="3612180"/>
                </a:lnTo>
                <a:lnTo>
                  <a:pt x="0" y="361218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4336718" y="674559"/>
            <a:ext cx="2922582" cy="3612180"/>
          </a:xfrm>
          <a:custGeom>
            <a:avLst/>
            <a:gdLst/>
            <a:ahLst/>
            <a:cxnLst/>
            <a:rect r="r" b="b" t="t" l="l"/>
            <a:pathLst>
              <a:path h="3612180" w="2922582">
                <a:moveTo>
                  <a:pt x="0" y="0"/>
                </a:moveTo>
                <a:lnTo>
                  <a:pt x="2922582" y="0"/>
                </a:lnTo>
                <a:lnTo>
                  <a:pt x="2922582" y="3612180"/>
                </a:lnTo>
                <a:lnTo>
                  <a:pt x="0" y="361218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97926" y="0"/>
            <a:ext cx="1861547" cy="1849042"/>
          </a:xfrm>
          <a:custGeom>
            <a:avLst/>
            <a:gdLst/>
            <a:ahLst/>
            <a:cxnLst/>
            <a:rect r="r" b="b" t="t" l="l"/>
            <a:pathLst>
              <a:path h="1849042" w="1861547">
                <a:moveTo>
                  <a:pt x="0" y="0"/>
                </a:moveTo>
                <a:lnTo>
                  <a:pt x="1861548" y="0"/>
                </a:lnTo>
                <a:lnTo>
                  <a:pt x="1861548" y="1849042"/>
                </a:lnTo>
                <a:lnTo>
                  <a:pt x="0" y="1849042"/>
                </a:lnTo>
                <a:lnTo>
                  <a:pt x="0" y="0"/>
                </a:lnTo>
                <a:close/>
              </a:path>
            </a:pathLst>
          </a:custGeom>
          <a:blipFill>
            <a:blip r:embed="rId13"/>
            <a:stretch>
              <a:fillRect l="0" t="0" r="0" b="0"/>
            </a:stretch>
          </a:blipFill>
        </p:spPr>
      </p:sp>
      <p:sp>
        <p:nvSpPr>
          <p:cNvPr name="TextBox 14" id="14"/>
          <p:cNvSpPr txBox="true"/>
          <p:nvPr/>
        </p:nvSpPr>
        <p:spPr>
          <a:xfrm rot="0">
            <a:off x="7343487" y="9153525"/>
            <a:ext cx="6919079" cy="956743"/>
          </a:xfrm>
          <a:prstGeom prst="rect">
            <a:avLst/>
          </a:prstGeom>
        </p:spPr>
        <p:txBody>
          <a:bodyPr anchor="t" rtlCol="false" tIns="0" lIns="0" bIns="0" rIns="0">
            <a:spAutoFit/>
          </a:bodyPr>
          <a:lstStyle/>
          <a:p>
            <a:pPr algn="ctr">
              <a:lnSpc>
                <a:spcPts val="7845"/>
              </a:lnSpc>
              <a:spcBef>
                <a:spcPct val="0"/>
              </a:spcBef>
            </a:pPr>
            <a:r>
              <a:rPr lang="en-US" sz="5603">
                <a:solidFill>
                  <a:srgbClr val="8D315E"/>
                </a:solidFill>
                <a:latin typeface="Genty"/>
                <a:ea typeface="Genty"/>
                <a:cs typeface="Genty"/>
                <a:sym typeface="Genty"/>
              </a:rPr>
              <a:t>By - C. Senthil KUmar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309689"/>
            <a:ext cx="16730246" cy="9977311"/>
          </a:xfrm>
          <a:custGeom>
            <a:avLst/>
            <a:gdLst/>
            <a:ahLst/>
            <a:cxnLst/>
            <a:rect r="r" b="b" t="t" l="l"/>
            <a:pathLst>
              <a:path h="9977311" w="16730246">
                <a:moveTo>
                  <a:pt x="0" y="0"/>
                </a:moveTo>
                <a:lnTo>
                  <a:pt x="16730246" y="0"/>
                </a:lnTo>
                <a:lnTo>
                  <a:pt x="16730246" y="9977311"/>
                </a:lnTo>
                <a:lnTo>
                  <a:pt x="0" y="9977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89629" y="1350852"/>
            <a:ext cx="1709074" cy="2259593"/>
          </a:xfrm>
          <a:custGeom>
            <a:avLst/>
            <a:gdLst/>
            <a:ahLst/>
            <a:cxnLst/>
            <a:rect r="r" b="b" t="t" l="l"/>
            <a:pathLst>
              <a:path h="2259593" w="1709074">
                <a:moveTo>
                  <a:pt x="0" y="0"/>
                </a:moveTo>
                <a:lnTo>
                  <a:pt x="1709074" y="0"/>
                </a:lnTo>
                <a:lnTo>
                  <a:pt x="1709074" y="2259593"/>
                </a:lnTo>
                <a:lnTo>
                  <a:pt x="0" y="2259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5916863">
            <a:off x="-1730399" y="425588"/>
            <a:ext cx="5518197" cy="3461415"/>
          </a:xfrm>
          <a:custGeom>
            <a:avLst/>
            <a:gdLst/>
            <a:ahLst/>
            <a:cxnLst/>
            <a:rect r="r" b="b" t="t" l="l"/>
            <a:pathLst>
              <a:path h="3461415" w="5518197">
                <a:moveTo>
                  <a:pt x="5518198" y="0"/>
                </a:moveTo>
                <a:lnTo>
                  <a:pt x="0" y="0"/>
                </a:lnTo>
                <a:lnTo>
                  <a:pt x="0" y="3461415"/>
                </a:lnTo>
                <a:lnTo>
                  <a:pt x="5518198" y="3461415"/>
                </a:lnTo>
                <a:lnTo>
                  <a:pt x="551819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700000">
            <a:off x="14920684" y="-1283964"/>
            <a:ext cx="2672768" cy="3303421"/>
          </a:xfrm>
          <a:custGeom>
            <a:avLst/>
            <a:gdLst/>
            <a:ahLst/>
            <a:cxnLst/>
            <a:rect r="r" b="b" t="t" l="l"/>
            <a:pathLst>
              <a:path h="3303421" w="2672768">
                <a:moveTo>
                  <a:pt x="0" y="0"/>
                </a:moveTo>
                <a:lnTo>
                  <a:pt x="2672768" y="0"/>
                </a:lnTo>
                <a:lnTo>
                  <a:pt x="2672768" y="3303422"/>
                </a:lnTo>
                <a:lnTo>
                  <a:pt x="0" y="33034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700000">
            <a:off x="814368" y="8399935"/>
            <a:ext cx="2803047" cy="3464440"/>
          </a:xfrm>
          <a:custGeom>
            <a:avLst/>
            <a:gdLst/>
            <a:ahLst/>
            <a:cxnLst/>
            <a:rect r="r" b="b" t="t" l="l"/>
            <a:pathLst>
              <a:path h="3464440" w="2803047">
                <a:moveTo>
                  <a:pt x="0" y="0"/>
                </a:moveTo>
                <a:lnTo>
                  <a:pt x="2803046" y="0"/>
                </a:lnTo>
                <a:lnTo>
                  <a:pt x="2803046" y="3464440"/>
                </a:lnTo>
                <a:lnTo>
                  <a:pt x="0" y="3464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907600">
            <a:off x="13089206" y="7527593"/>
            <a:ext cx="5518197" cy="3461415"/>
          </a:xfrm>
          <a:custGeom>
            <a:avLst/>
            <a:gdLst/>
            <a:ahLst/>
            <a:cxnLst/>
            <a:rect r="r" b="b" t="t" l="l"/>
            <a:pathLst>
              <a:path h="3461415" w="5518197">
                <a:moveTo>
                  <a:pt x="5518197" y="0"/>
                </a:moveTo>
                <a:lnTo>
                  <a:pt x="0" y="0"/>
                </a:lnTo>
                <a:lnTo>
                  <a:pt x="0" y="3461414"/>
                </a:lnTo>
                <a:lnTo>
                  <a:pt x="5518197" y="3461414"/>
                </a:lnTo>
                <a:lnTo>
                  <a:pt x="5518197"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9805012" y="6328245"/>
            <a:ext cx="3484617" cy="3484617"/>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4474210" y="0"/>
                  </a:moveTo>
                  <a:lnTo>
                    <a:pt x="1875790" y="0"/>
                  </a:lnTo>
                  <a:cubicBezTo>
                    <a:pt x="839470" y="0"/>
                    <a:pt x="0" y="839470"/>
                    <a:pt x="0" y="1875790"/>
                  </a:cubicBezTo>
                  <a:lnTo>
                    <a:pt x="0" y="4474210"/>
                  </a:lnTo>
                  <a:cubicBezTo>
                    <a:pt x="0" y="5510530"/>
                    <a:pt x="839470" y="6350000"/>
                    <a:pt x="1875790" y="6350000"/>
                  </a:cubicBezTo>
                  <a:lnTo>
                    <a:pt x="4474210" y="6350000"/>
                  </a:lnTo>
                  <a:cubicBezTo>
                    <a:pt x="5510530" y="6350000"/>
                    <a:pt x="6350000" y="5510530"/>
                    <a:pt x="6350000" y="4474210"/>
                  </a:cubicBezTo>
                  <a:lnTo>
                    <a:pt x="6350000" y="1875790"/>
                  </a:lnTo>
                  <a:cubicBezTo>
                    <a:pt x="6350000" y="839470"/>
                    <a:pt x="5510530" y="0"/>
                    <a:pt x="4474210" y="0"/>
                  </a:cubicBezTo>
                  <a:close/>
                </a:path>
              </a:pathLst>
            </a:custGeom>
            <a:blipFill>
              <a:blip r:embed="rId10"/>
              <a:stretch>
                <a:fillRect l="0" t="-16666" r="0" b="-16666"/>
              </a:stretch>
            </a:blipFill>
          </p:spPr>
        </p:sp>
      </p:grpSp>
      <p:sp>
        <p:nvSpPr>
          <p:cNvPr name="Freeform 10" id="10"/>
          <p:cNvSpPr/>
          <p:nvPr/>
        </p:nvSpPr>
        <p:spPr>
          <a:xfrm flipH="false" flipV="false" rot="0">
            <a:off x="97926" y="1231775"/>
            <a:ext cx="1861547" cy="1849042"/>
          </a:xfrm>
          <a:custGeom>
            <a:avLst/>
            <a:gdLst/>
            <a:ahLst/>
            <a:cxnLst/>
            <a:rect r="r" b="b" t="t" l="l"/>
            <a:pathLst>
              <a:path h="1849042" w="1861547">
                <a:moveTo>
                  <a:pt x="0" y="0"/>
                </a:moveTo>
                <a:lnTo>
                  <a:pt x="1861548" y="0"/>
                </a:lnTo>
                <a:lnTo>
                  <a:pt x="1861548" y="1849041"/>
                </a:lnTo>
                <a:lnTo>
                  <a:pt x="0" y="1849041"/>
                </a:lnTo>
                <a:lnTo>
                  <a:pt x="0" y="0"/>
                </a:lnTo>
                <a:close/>
              </a:path>
            </a:pathLst>
          </a:custGeom>
          <a:blipFill>
            <a:blip r:embed="rId11"/>
            <a:stretch>
              <a:fillRect l="0" t="0" r="0" b="0"/>
            </a:stretch>
          </a:blipFill>
        </p:spPr>
      </p:sp>
      <p:sp>
        <p:nvSpPr>
          <p:cNvPr name="TextBox 11" id="11"/>
          <p:cNvSpPr txBox="true"/>
          <p:nvPr/>
        </p:nvSpPr>
        <p:spPr>
          <a:xfrm rot="0">
            <a:off x="2672814" y="3515195"/>
            <a:ext cx="12093468" cy="2813050"/>
          </a:xfrm>
          <a:prstGeom prst="rect">
            <a:avLst/>
          </a:prstGeom>
        </p:spPr>
        <p:txBody>
          <a:bodyPr anchor="t" rtlCol="false" tIns="0" lIns="0" bIns="0" rIns="0">
            <a:spAutoFit/>
          </a:bodyPr>
          <a:lstStyle/>
          <a:p>
            <a:pPr algn="just">
              <a:lnSpc>
                <a:spcPts val="5600"/>
              </a:lnSpc>
              <a:spcBef>
                <a:spcPct val="0"/>
              </a:spcBef>
            </a:pPr>
            <a:r>
              <a:rPr lang="en-US" sz="4000">
                <a:solidFill>
                  <a:srgbClr val="000000"/>
                </a:solidFill>
                <a:latin typeface="Belleza"/>
                <a:ea typeface="Belleza"/>
                <a:cs typeface="Belleza"/>
                <a:sym typeface="Belleza"/>
              </a:rPr>
              <a:t>Pyth</a:t>
            </a:r>
            <a:r>
              <a:rPr lang="en-US" sz="4000">
                <a:solidFill>
                  <a:srgbClr val="000000"/>
                </a:solidFill>
                <a:latin typeface="Belleza"/>
                <a:ea typeface="Belleza"/>
                <a:cs typeface="Belleza"/>
                <a:sym typeface="Belleza"/>
              </a:rPr>
              <a:t>on is a popular high-level, interpreted programming language created by Guido van Rossum in 1991. It is widely used for web development, data science, artificial intelligence, automation, and software development.</a:t>
            </a:r>
          </a:p>
        </p:txBody>
      </p:sp>
      <p:sp>
        <p:nvSpPr>
          <p:cNvPr name="TextBox 12" id="12"/>
          <p:cNvSpPr txBox="true"/>
          <p:nvPr/>
        </p:nvSpPr>
        <p:spPr>
          <a:xfrm rot="0">
            <a:off x="2922637" y="2022945"/>
            <a:ext cx="6221363" cy="1251473"/>
          </a:xfrm>
          <a:prstGeom prst="rect">
            <a:avLst/>
          </a:prstGeom>
        </p:spPr>
        <p:txBody>
          <a:bodyPr anchor="t" rtlCol="false" tIns="0" lIns="0" bIns="0" rIns="0">
            <a:spAutoFit/>
          </a:bodyPr>
          <a:lstStyle/>
          <a:p>
            <a:pPr algn="l">
              <a:lnSpc>
                <a:spcPts val="10296"/>
              </a:lnSpc>
              <a:spcBef>
                <a:spcPct val="0"/>
              </a:spcBef>
            </a:pPr>
            <a:r>
              <a:rPr lang="en-US" sz="7354">
                <a:solidFill>
                  <a:srgbClr val="000000"/>
                </a:solidFill>
                <a:latin typeface="Genty"/>
                <a:ea typeface="Genty"/>
                <a:cs typeface="Genty"/>
                <a:sym typeface="Genty"/>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08353" y="4111785"/>
            <a:ext cx="12071294" cy="4222750"/>
          </a:xfrm>
          <a:prstGeom prst="rect">
            <a:avLst/>
          </a:prstGeom>
        </p:spPr>
        <p:txBody>
          <a:bodyPr anchor="t" rtlCol="false" tIns="0" lIns="0" bIns="0" rIns="0">
            <a:spAutoFit/>
          </a:bodyPr>
          <a:lstStyle/>
          <a:p>
            <a:pPr algn="just" marL="863601" indent="-431801" lvl="1">
              <a:lnSpc>
                <a:spcPts val="5600"/>
              </a:lnSpc>
              <a:buFont typeface="Arial"/>
              <a:buChar char="•"/>
            </a:pPr>
            <a:r>
              <a:rPr lang="en-US" sz="4000">
                <a:solidFill>
                  <a:srgbClr val="000000"/>
                </a:solidFill>
                <a:latin typeface="Belleza"/>
                <a:ea typeface="Belleza"/>
                <a:cs typeface="Belleza"/>
                <a:sym typeface="Belleza"/>
              </a:rPr>
              <a:t>Ea</a:t>
            </a:r>
            <a:r>
              <a:rPr lang="en-US" sz="4000">
                <a:solidFill>
                  <a:srgbClr val="000000"/>
                </a:solidFill>
                <a:latin typeface="Belleza"/>
                <a:ea typeface="Belleza"/>
                <a:cs typeface="Belleza"/>
                <a:sym typeface="Belleza"/>
              </a:rPr>
              <a:t>sy to learn and use</a:t>
            </a:r>
          </a:p>
          <a:p>
            <a:pPr algn="just" marL="863601" indent="-431801" lvl="1">
              <a:lnSpc>
                <a:spcPts val="5600"/>
              </a:lnSpc>
              <a:buFont typeface="Arial"/>
              <a:buChar char="•"/>
            </a:pPr>
            <a:r>
              <a:rPr lang="en-US" sz="4000">
                <a:solidFill>
                  <a:srgbClr val="000000"/>
                </a:solidFill>
                <a:latin typeface="Belleza"/>
                <a:ea typeface="Belleza"/>
                <a:cs typeface="Belleza"/>
                <a:sym typeface="Belleza"/>
              </a:rPr>
              <a:t>Simple and readable syntax</a:t>
            </a:r>
          </a:p>
          <a:p>
            <a:pPr algn="just" marL="863601" indent="-431801" lvl="1">
              <a:lnSpc>
                <a:spcPts val="5600"/>
              </a:lnSpc>
              <a:buFont typeface="Arial"/>
              <a:buChar char="•"/>
            </a:pPr>
            <a:r>
              <a:rPr lang="en-US" sz="4000">
                <a:solidFill>
                  <a:srgbClr val="000000"/>
                </a:solidFill>
                <a:latin typeface="Belleza"/>
                <a:ea typeface="Belleza"/>
                <a:cs typeface="Belleza"/>
                <a:sym typeface="Belleza"/>
              </a:rPr>
              <a:t>Open-source and free</a:t>
            </a:r>
          </a:p>
          <a:p>
            <a:pPr algn="just" marL="863601" indent="-431801" lvl="1">
              <a:lnSpc>
                <a:spcPts val="5600"/>
              </a:lnSpc>
              <a:buFont typeface="Arial"/>
              <a:buChar char="•"/>
            </a:pPr>
            <a:r>
              <a:rPr lang="en-US" sz="4000">
                <a:solidFill>
                  <a:srgbClr val="000000"/>
                </a:solidFill>
                <a:latin typeface="Belleza"/>
                <a:ea typeface="Belleza"/>
                <a:cs typeface="Belleza"/>
                <a:sym typeface="Belleza"/>
              </a:rPr>
              <a:t>Supports object-oriented and functional programming</a:t>
            </a:r>
          </a:p>
          <a:p>
            <a:pPr algn="just" marL="863601" indent="-431801" lvl="1">
              <a:lnSpc>
                <a:spcPts val="5600"/>
              </a:lnSpc>
              <a:buFont typeface="Arial"/>
              <a:buChar char="•"/>
            </a:pPr>
            <a:r>
              <a:rPr lang="en-US" sz="4000">
                <a:solidFill>
                  <a:srgbClr val="000000"/>
                </a:solidFill>
                <a:latin typeface="Belleza"/>
                <a:ea typeface="Belleza"/>
                <a:cs typeface="Belleza"/>
                <a:sym typeface="Belleza"/>
              </a:rPr>
              <a:t>Portable across platforms</a:t>
            </a:r>
          </a:p>
          <a:p>
            <a:pPr algn="just">
              <a:lnSpc>
                <a:spcPts val="5600"/>
              </a:lnSpc>
              <a:spcBef>
                <a:spcPct val="0"/>
              </a:spcBef>
            </a:pPr>
          </a:p>
        </p:txBody>
      </p:sp>
      <p:sp>
        <p:nvSpPr>
          <p:cNvPr name="TextBox 4" id="4"/>
          <p:cNvSpPr txBox="true"/>
          <p:nvPr/>
        </p:nvSpPr>
        <p:spPr>
          <a:xfrm rot="0">
            <a:off x="3108353" y="2629669"/>
            <a:ext cx="6439769" cy="1251473"/>
          </a:xfrm>
          <a:prstGeom prst="rect">
            <a:avLst/>
          </a:prstGeom>
        </p:spPr>
        <p:txBody>
          <a:bodyPr anchor="t" rtlCol="false" tIns="0" lIns="0" bIns="0" rIns="0">
            <a:spAutoFit/>
          </a:bodyPr>
          <a:lstStyle/>
          <a:p>
            <a:pPr algn="l">
              <a:lnSpc>
                <a:spcPts val="10296"/>
              </a:lnSpc>
              <a:spcBef>
                <a:spcPct val="0"/>
              </a:spcBef>
            </a:pPr>
            <a:r>
              <a:rPr lang="en-US" sz="7354">
                <a:solidFill>
                  <a:srgbClr val="000000"/>
                </a:solidFill>
                <a:latin typeface="Genty"/>
                <a:ea typeface="Genty"/>
                <a:cs typeface="Genty"/>
                <a:sym typeface="Genty"/>
              </a:rPr>
              <a:t>Key Points</a:t>
            </a:r>
          </a:p>
        </p:txBody>
      </p:sp>
      <p:sp>
        <p:nvSpPr>
          <p:cNvPr name="Freeform 5" id="5"/>
          <p:cNvSpPr/>
          <p:nvPr/>
        </p:nvSpPr>
        <p:spPr>
          <a:xfrm flipH="false" flipV="false" rot="0">
            <a:off x="13102155" y="1527696"/>
            <a:ext cx="1709074" cy="2259593"/>
          </a:xfrm>
          <a:custGeom>
            <a:avLst/>
            <a:gdLst/>
            <a:ahLst/>
            <a:cxnLst/>
            <a:rect r="r" b="b" t="t" l="l"/>
            <a:pathLst>
              <a:path h="2259593" w="1709074">
                <a:moveTo>
                  <a:pt x="0" y="0"/>
                </a:moveTo>
                <a:lnTo>
                  <a:pt x="1709074" y="0"/>
                </a:lnTo>
                <a:lnTo>
                  <a:pt x="1709074" y="2259593"/>
                </a:lnTo>
                <a:lnTo>
                  <a:pt x="0" y="2259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5916863">
            <a:off x="-2143615" y="3737146"/>
            <a:ext cx="5518197" cy="3461415"/>
          </a:xfrm>
          <a:custGeom>
            <a:avLst/>
            <a:gdLst/>
            <a:ahLst/>
            <a:cxnLst/>
            <a:rect r="r" b="b" t="t" l="l"/>
            <a:pathLst>
              <a:path h="3461415" w="5518197">
                <a:moveTo>
                  <a:pt x="5518198" y="0"/>
                </a:moveTo>
                <a:lnTo>
                  <a:pt x="0" y="0"/>
                </a:lnTo>
                <a:lnTo>
                  <a:pt x="0" y="3461415"/>
                </a:lnTo>
                <a:lnTo>
                  <a:pt x="5518198" y="3461415"/>
                </a:lnTo>
                <a:lnTo>
                  <a:pt x="551819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5219731">
            <a:off x="14661910" y="3878331"/>
            <a:ext cx="5518197" cy="3461415"/>
          </a:xfrm>
          <a:custGeom>
            <a:avLst/>
            <a:gdLst/>
            <a:ahLst/>
            <a:cxnLst/>
            <a:rect r="r" b="b" t="t" l="l"/>
            <a:pathLst>
              <a:path h="3461415" w="5518197">
                <a:moveTo>
                  <a:pt x="5518197" y="0"/>
                </a:moveTo>
                <a:lnTo>
                  <a:pt x="0" y="0"/>
                </a:lnTo>
                <a:lnTo>
                  <a:pt x="0" y="3461415"/>
                </a:lnTo>
                <a:lnTo>
                  <a:pt x="5518197" y="3461415"/>
                </a:lnTo>
                <a:lnTo>
                  <a:pt x="551819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9211117">
            <a:off x="12994095" y="-3160043"/>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61742">
            <a:off x="897666" y="8431935"/>
            <a:ext cx="5107940" cy="4950058"/>
          </a:xfrm>
          <a:custGeom>
            <a:avLst/>
            <a:gdLst/>
            <a:ahLst/>
            <a:cxnLst/>
            <a:rect r="r" b="b" t="t" l="l"/>
            <a:pathLst>
              <a:path h="4950058" w="5107940">
                <a:moveTo>
                  <a:pt x="0" y="0"/>
                </a:moveTo>
                <a:lnTo>
                  <a:pt x="5107940" y="0"/>
                </a:lnTo>
                <a:lnTo>
                  <a:pt x="5107940" y="4950059"/>
                </a:lnTo>
                <a:lnTo>
                  <a:pt x="0" y="49500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97926" y="631607"/>
            <a:ext cx="1861547" cy="1849042"/>
          </a:xfrm>
          <a:custGeom>
            <a:avLst/>
            <a:gdLst/>
            <a:ahLst/>
            <a:cxnLst/>
            <a:rect r="r" b="b" t="t" l="l"/>
            <a:pathLst>
              <a:path h="1849042" w="1861547">
                <a:moveTo>
                  <a:pt x="0" y="0"/>
                </a:moveTo>
                <a:lnTo>
                  <a:pt x="1861548" y="0"/>
                </a:lnTo>
                <a:lnTo>
                  <a:pt x="1861548" y="1849042"/>
                </a:lnTo>
                <a:lnTo>
                  <a:pt x="0" y="1849042"/>
                </a:lnTo>
                <a:lnTo>
                  <a:pt x="0" y="0"/>
                </a:lnTo>
                <a:close/>
              </a:path>
            </a:pathLst>
          </a:custGeom>
          <a:blipFill>
            <a:blip r:embed="rId10"/>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6033992">
            <a:off x="-1441195" y="501619"/>
            <a:ext cx="4167272" cy="2614016"/>
          </a:xfrm>
          <a:custGeom>
            <a:avLst/>
            <a:gdLst/>
            <a:ahLst/>
            <a:cxnLst/>
            <a:rect r="r" b="b" t="t" l="l"/>
            <a:pathLst>
              <a:path h="2614016" w="4167272">
                <a:moveTo>
                  <a:pt x="4167271" y="0"/>
                </a:moveTo>
                <a:lnTo>
                  <a:pt x="0" y="0"/>
                </a:lnTo>
                <a:lnTo>
                  <a:pt x="0" y="2614016"/>
                </a:lnTo>
                <a:lnTo>
                  <a:pt x="4167271" y="2614016"/>
                </a:lnTo>
                <a:lnTo>
                  <a:pt x="41672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5087498">
            <a:off x="15283940" y="-1075816"/>
            <a:ext cx="2672768" cy="3303421"/>
          </a:xfrm>
          <a:custGeom>
            <a:avLst/>
            <a:gdLst/>
            <a:ahLst/>
            <a:cxnLst/>
            <a:rect r="r" b="b" t="t" l="l"/>
            <a:pathLst>
              <a:path h="3303421" w="2672768">
                <a:moveTo>
                  <a:pt x="2672768" y="0"/>
                </a:moveTo>
                <a:lnTo>
                  <a:pt x="0" y="0"/>
                </a:lnTo>
                <a:lnTo>
                  <a:pt x="0" y="3303421"/>
                </a:lnTo>
                <a:lnTo>
                  <a:pt x="2672768" y="3303421"/>
                </a:lnTo>
                <a:lnTo>
                  <a:pt x="26727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221697">
            <a:off x="736519" y="8399935"/>
            <a:ext cx="2803047" cy="3464440"/>
          </a:xfrm>
          <a:custGeom>
            <a:avLst/>
            <a:gdLst/>
            <a:ahLst/>
            <a:cxnLst/>
            <a:rect r="r" b="b" t="t" l="l"/>
            <a:pathLst>
              <a:path h="3464440" w="2803047">
                <a:moveTo>
                  <a:pt x="0" y="0"/>
                </a:moveTo>
                <a:lnTo>
                  <a:pt x="2803047" y="0"/>
                </a:lnTo>
                <a:lnTo>
                  <a:pt x="2803047" y="3464440"/>
                </a:lnTo>
                <a:lnTo>
                  <a:pt x="0" y="34644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533221">
            <a:off x="13991363" y="8338797"/>
            <a:ext cx="5257921" cy="3298150"/>
          </a:xfrm>
          <a:custGeom>
            <a:avLst/>
            <a:gdLst/>
            <a:ahLst/>
            <a:cxnLst/>
            <a:rect r="r" b="b" t="t" l="l"/>
            <a:pathLst>
              <a:path h="3298150" w="5257921">
                <a:moveTo>
                  <a:pt x="5257922" y="0"/>
                </a:moveTo>
                <a:lnTo>
                  <a:pt x="0" y="0"/>
                </a:lnTo>
                <a:lnTo>
                  <a:pt x="0" y="3298150"/>
                </a:lnTo>
                <a:lnTo>
                  <a:pt x="5257922" y="3298150"/>
                </a:lnTo>
                <a:lnTo>
                  <a:pt x="52579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906175" y="3385378"/>
            <a:ext cx="11976003" cy="6159527"/>
          </a:xfrm>
          <a:prstGeom prst="rect">
            <a:avLst/>
          </a:prstGeom>
        </p:spPr>
        <p:txBody>
          <a:bodyPr anchor="t" rtlCol="false" tIns="0" lIns="0" bIns="0" rIns="0">
            <a:spAutoFit/>
          </a:bodyPr>
          <a:lstStyle/>
          <a:p>
            <a:pPr algn="just" marL="627155" indent="-313577" lvl="1">
              <a:lnSpc>
                <a:spcPts val="5054"/>
              </a:lnSpc>
              <a:buFont typeface="Arial"/>
              <a:buChar char="•"/>
            </a:pPr>
            <a:r>
              <a:rPr lang="en-US" sz="2904">
                <a:solidFill>
                  <a:srgbClr val="000000"/>
                </a:solidFill>
                <a:latin typeface="Belleza"/>
                <a:ea typeface="Belleza"/>
                <a:cs typeface="Belleza"/>
                <a:sym typeface="Belleza"/>
              </a:rPr>
              <a:t>S</a:t>
            </a:r>
            <a:r>
              <a:rPr lang="en-US" sz="2904">
                <a:solidFill>
                  <a:srgbClr val="000000"/>
                </a:solidFill>
                <a:latin typeface="Belleza"/>
                <a:ea typeface="Belleza"/>
                <a:cs typeface="Belleza"/>
                <a:sym typeface="Belleza"/>
              </a:rPr>
              <a:t>imple and EasyPython syntax is similar to English language.</a:t>
            </a:r>
          </a:p>
          <a:p>
            <a:pPr algn="just" marL="627155" indent="-313577" lvl="1">
              <a:lnSpc>
                <a:spcPts val="5054"/>
              </a:lnSpc>
              <a:buFont typeface="Arial"/>
              <a:buChar char="•"/>
            </a:pPr>
            <a:r>
              <a:rPr lang="en-US" sz="2904">
                <a:solidFill>
                  <a:srgbClr val="000000"/>
                </a:solidFill>
                <a:latin typeface="Belleza"/>
                <a:ea typeface="Belleza"/>
                <a:cs typeface="Belleza"/>
                <a:sym typeface="Belleza"/>
              </a:rPr>
              <a:t>Interpreted LanguagePython code is executed line by line.</a:t>
            </a:r>
          </a:p>
          <a:p>
            <a:pPr algn="just" marL="627155" indent="-313577" lvl="1">
              <a:lnSpc>
                <a:spcPts val="5054"/>
              </a:lnSpc>
              <a:buFont typeface="Arial"/>
              <a:buChar char="•"/>
            </a:pPr>
            <a:r>
              <a:rPr lang="en-US" sz="2904">
                <a:solidFill>
                  <a:srgbClr val="000000"/>
                </a:solidFill>
                <a:latin typeface="Belleza"/>
                <a:ea typeface="Belleza"/>
                <a:cs typeface="Belleza"/>
                <a:sym typeface="Belleza"/>
              </a:rPr>
              <a:t>PortablePrograms run on different operating systems without modification.</a:t>
            </a:r>
          </a:p>
          <a:p>
            <a:pPr algn="just" marL="627155" indent="-313577" lvl="1">
              <a:lnSpc>
                <a:spcPts val="5054"/>
              </a:lnSpc>
              <a:buFont typeface="Arial"/>
              <a:buChar char="•"/>
            </a:pPr>
            <a:r>
              <a:rPr lang="en-US" sz="2904">
                <a:solidFill>
                  <a:srgbClr val="000000"/>
                </a:solidFill>
                <a:latin typeface="Belleza"/>
                <a:ea typeface="Belleza"/>
                <a:cs typeface="Belleza"/>
                <a:sym typeface="Belleza"/>
              </a:rPr>
              <a:t>Open SourceFreely available to everyone.</a:t>
            </a:r>
          </a:p>
          <a:p>
            <a:pPr algn="just" marL="627155" indent="-313577" lvl="1">
              <a:lnSpc>
                <a:spcPts val="5054"/>
              </a:lnSpc>
              <a:buFont typeface="Arial"/>
              <a:buChar char="•"/>
            </a:pPr>
            <a:r>
              <a:rPr lang="en-US" sz="2904">
                <a:solidFill>
                  <a:srgbClr val="000000"/>
                </a:solidFill>
                <a:latin typeface="Belleza"/>
                <a:ea typeface="Belleza"/>
                <a:cs typeface="Belleza"/>
                <a:sym typeface="Belleza"/>
              </a:rPr>
              <a:t>Object-OrientedSupports classes and objects.</a:t>
            </a:r>
          </a:p>
          <a:p>
            <a:pPr algn="just" marL="627155" indent="-313577" lvl="1">
              <a:lnSpc>
                <a:spcPts val="5054"/>
              </a:lnSpc>
              <a:buFont typeface="Arial"/>
              <a:buChar char="•"/>
            </a:pPr>
            <a:r>
              <a:rPr lang="en-US" sz="2904">
                <a:solidFill>
                  <a:srgbClr val="000000"/>
                </a:solidFill>
                <a:latin typeface="Belleza"/>
                <a:ea typeface="Belleza"/>
                <a:cs typeface="Belleza"/>
                <a:sym typeface="Belleza"/>
              </a:rPr>
              <a:t>Large Standard LibraryProvides built-in modules and functions.</a:t>
            </a:r>
          </a:p>
          <a:p>
            <a:pPr algn="just" marL="627155" indent="-313577" lvl="1">
              <a:lnSpc>
                <a:spcPts val="5054"/>
              </a:lnSpc>
              <a:buFont typeface="Arial"/>
              <a:buChar char="•"/>
            </a:pPr>
            <a:r>
              <a:rPr lang="en-US" sz="2904">
                <a:solidFill>
                  <a:srgbClr val="000000"/>
                </a:solidFill>
                <a:latin typeface="Belleza"/>
                <a:ea typeface="Belleza"/>
                <a:cs typeface="Belleza"/>
                <a:sym typeface="Belleza"/>
              </a:rPr>
              <a:t>Dynamic TypingVariable type is decided during execution.</a:t>
            </a:r>
          </a:p>
          <a:p>
            <a:pPr algn="just" marL="627155" indent="-313577" lvl="1">
              <a:lnSpc>
                <a:spcPts val="5054"/>
              </a:lnSpc>
              <a:buFont typeface="Arial"/>
              <a:buChar char="•"/>
            </a:pPr>
            <a:r>
              <a:rPr lang="en-US" sz="2904">
                <a:solidFill>
                  <a:srgbClr val="000000"/>
                </a:solidFill>
                <a:latin typeface="Belleza"/>
                <a:ea typeface="Belleza"/>
                <a:cs typeface="Belleza"/>
                <a:sym typeface="Belleza"/>
              </a:rPr>
              <a:t>ExtensibleCan be combined with other languages like C and C++.</a:t>
            </a:r>
          </a:p>
          <a:p>
            <a:pPr algn="just">
              <a:lnSpc>
                <a:spcPts val="4066"/>
              </a:lnSpc>
            </a:pPr>
          </a:p>
          <a:p>
            <a:pPr algn="just">
              <a:lnSpc>
                <a:spcPts val="4066"/>
              </a:lnSpc>
              <a:spcBef>
                <a:spcPct val="0"/>
              </a:spcBef>
            </a:pPr>
          </a:p>
        </p:txBody>
      </p:sp>
      <p:sp>
        <p:nvSpPr>
          <p:cNvPr name="TextBox 8" id="8"/>
          <p:cNvSpPr txBox="true"/>
          <p:nvPr/>
        </p:nvSpPr>
        <p:spPr>
          <a:xfrm rot="0">
            <a:off x="3824007" y="1923350"/>
            <a:ext cx="8853385" cy="1251473"/>
          </a:xfrm>
          <a:prstGeom prst="rect">
            <a:avLst/>
          </a:prstGeom>
        </p:spPr>
        <p:txBody>
          <a:bodyPr anchor="t" rtlCol="false" tIns="0" lIns="0" bIns="0" rIns="0">
            <a:spAutoFit/>
          </a:bodyPr>
          <a:lstStyle/>
          <a:p>
            <a:pPr algn="l">
              <a:lnSpc>
                <a:spcPts val="10296"/>
              </a:lnSpc>
              <a:spcBef>
                <a:spcPct val="0"/>
              </a:spcBef>
            </a:pPr>
            <a:r>
              <a:rPr lang="en-US" sz="7354">
                <a:solidFill>
                  <a:srgbClr val="000000"/>
                </a:solidFill>
                <a:latin typeface="Genty"/>
                <a:ea typeface="Genty"/>
                <a:cs typeface="Genty"/>
                <a:sym typeface="Genty"/>
              </a:rPr>
              <a:t>Featu</a:t>
            </a:r>
            <a:r>
              <a:rPr lang="en-US" sz="7354">
                <a:solidFill>
                  <a:srgbClr val="000000"/>
                </a:solidFill>
                <a:latin typeface="Genty"/>
                <a:ea typeface="Genty"/>
                <a:cs typeface="Genty"/>
                <a:sym typeface="Genty"/>
              </a:rPr>
              <a:t>res of Python</a:t>
            </a:r>
          </a:p>
        </p:txBody>
      </p:sp>
      <p:sp>
        <p:nvSpPr>
          <p:cNvPr name="Freeform 9" id="9"/>
          <p:cNvSpPr/>
          <p:nvPr/>
        </p:nvSpPr>
        <p:spPr>
          <a:xfrm flipH="false" flipV="false" rot="0">
            <a:off x="-87732" y="766720"/>
            <a:ext cx="1861547" cy="1849042"/>
          </a:xfrm>
          <a:custGeom>
            <a:avLst/>
            <a:gdLst/>
            <a:ahLst/>
            <a:cxnLst/>
            <a:rect r="r" b="b" t="t" l="l"/>
            <a:pathLst>
              <a:path h="1849042" w="1861547">
                <a:moveTo>
                  <a:pt x="0" y="0"/>
                </a:moveTo>
                <a:lnTo>
                  <a:pt x="1861547" y="0"/>
                </a:lnTo>
                <a:lnTo>
                  <a:pt x="1861547" y="1849041"/>
                </a:lnTo>
                <a:lnTo>
                  <a:pt x="0" y="1849041"/>
                </a:lnTo>
                <a:lnTo>
                  <a:pt x="0" y="0"/>
                </a:lnTo>
                <a:close/>
              </a:path>
            </a:pathLst>
          </a:custGeom>
          <a:blipFill>
            <a:blip r:embed="rId8"/>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a:extLst>
              <a:ext uri="{C183D7F6-B498-43B3-948B-1728B52AA6E4}">
                <adec:decorative xmlns:adec="http://schemas.microsoft.com/office/drawing/2017/decorative" val="1"/>
              </a:ext>
            </a:extLst>
          </p:cNvPr>
          <p:cNvSpPr/>
          <p:nvPr/>
        </p:nvSpPr>
        <p:spPr>
          <a:xfrm flipH="false" flipV="false" rot="0">
            <a:off x="3824007" y="3547332"/>
            <a:ext cx="316295" cy="316295"/>
          </a:xfrm>
          <a:custGeom>
            <a:avLst/>
            <a:gdLst/>
            <a:ahLst/>
            <a:cxnLst/>
            <a:rect r="r" b="b" t="t" l="l"/>
            <a:pathLst>
              <a:path h="316295" w="316295">
                <a:moveTo>
                  <a:pt x="0" y="0"/>
                </a:moveTo>
                <a:lnTo>
                  <a:pt x="316295" y="0"/>
                </a:lnTo>
                <a:lnTo>
                  <a:pt x="316295" y="316295"/>
                </a:lnTo>
                <a:lnTo>
                  <a:pt x="0" y="3162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474831" y="3480657"/>
            <a:ext cx="10153500" cy="503031"/>
          </a:xfrm>
          <a:prstGeom prst="rect">
            <a:avLst/>
          </a:prstGeom>
        </p:spPr>
        <p:txBody>
          <a:bodyPr anchor="t" rtlCol="false" tIns="0" lIns="0" bIns="0" rIns="0">
            <a:spAutoFit/>
          </a:bodyPr>
          <a:lstStyle/>
          <a:p>
            <a:pPr algn="just">
              <a:lnSpc>
                <a:spcPts val="4066"/>
              </a:lnSpc>
              <a:spcBef>
                <a:spcPct val="0"/>
              </a:spcBef>
            </a:pPr>
            <a:r>
              <a:rPr lang="en-US" sz="2904">
                <a:solidFill>
                  <a:srgbClr val="000000"/>
                </a:solidFill>
                <a:latin typeface="Belleza"/>
                <a:ea typeface="Belleza"/>
                <a:cs typeface="Belleza"/>
                <a:sym typeface="Belleza"/>
              </a:rPr>
              <a:t>print("Hello World")</a:t>
            </a:r>
          </a:p>
        </p:txBody>
      </p:sp>
      <p:sp>
        <p:nvSpPr>
          <p:cNvPr name="TextBox 5" id="5"/>
          <p:cNvSpPr txBox="true"/>
          <p:nvPr/>
        </p:nvSpPr>
        <p:spPr>
          <a:xfrm rot="0">
            <a:off x="2445940" y="1924384"/>
            <a:ext cx="15454897" cy="1251473"/>
          </a:xfrm>
          <a:prstGeom prst="rect">
            <a:avLst/>
          </a:prstGeom>
        </p:spPr>
        <p:txBody>
          <a:bodyPr anchor="t" rtlCol="false" tIns="0" lIns="0" bIns="0" rIns="0">
            <a:spAutoFit/>
          </a:bodyPr>
          <a:lstStyle/>
          <a:p>
            <a:pPr algn="l">
              <a:lnSpc>
                <a:spcPts val="10296"/>
              </a:lnSpc>
              <a:spcBef>
                <a:spcPct val="0"/>
              </a:spcBef>
            </a:pPr>
            <a:r>
              <a:rPr lang="en-US" sz="7354">
                <a:solidFill>
                  <a:srgbClr val="000000"/>
                </a:solidFill>
                <a:latin typeface="Genty"/>
                <a:ea typeface="Genty"/>
                <a:cs typeface="Genty"/>
                <a:sym typeface="Genty"/>
              </a:rPr>
              <a:t>Executing a Simple Program</a:t>
            </a:r>
          </a:p>
        </p:txBody>
      </p:sp>
      <p:sp>
        <p:nvSpPr>
          <p:cNvPr name="Freeform 6" id="6">
            <a:extLst>
              <a:ext uri="{C183D7F6-B498-43B3-948B-1728B52AA6E4}">
                <adec:decorative xmlns:adec="http://schemas.microsoft.com/office/drawing/2017/decorative" val="1"/>
              </a:ext>
            </a:extLst>
          </p:cNvPr>
          <p:cNvSpPr/>
          <p:nvPr/>
        </p:nvSpPr>
        <p:spPr>
          <a:xfrm flipH="false" flipV="false" rot="0">
            <a:off x="3824007" y="4827205"/>
            <a:ext cx="316295" cy="316295"/>
          </a:xfrm>
          <a:custGeom>
            <a:avLst/>
            <a:gdLst/>
            <a:ahLst/>
            <a:cxnLst/>
            <a:rect r="r" b="b" t="t" l="l"/>
            <a:pathLst>
              <a:path h="316295" w="316295">
                <a:moveTo>
                  <a:pt x="0" y="0"/>
                </a:moveTo>
                <a:lnTo>
                  <a:pt x="316295" y="0"/>
                </a:lnTo>
                <a:lnTo>
                  <a:pt x="316295" y="316295"/>
                </a:lnTo>
                <a:lnTo>
                  <a:pt x="0" y="3162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474831" y="4739031"/>
            <a:ext cx="10153500" cy="2033448"/>
          </a:xfrm>
          <a:prstGeom prst="rect">
            <a:avLst/>
          </a:prstGeom>
        </p:spPr>
        <p:txBody>
          <a:bodyPr anchor="t" rtlCol="false" tIns="0" lIns="0" bIns="0" rIns="0">
            <a:spAutoFit/>
          </a:bodyPr>
          <a:lstStyle/>
          <a:p>
            <a:pPr algn="just">
              <a:lnSpc>
                <a:spcPts val="4066"/>
              </a:lnSpc>
            </a:pPr>
            <a:r>
              <a:rPr lang="en-US" sz="2904">
                <a:solidFill>
                  <a:srgbClr val="000000"/>
                </a:solidFill>
                <a:latin typeface="Belleza"/>
                <a:ea typeface="Belleza"/>
                <a:cs typeface="Belleza"/>
                <a:sym typeface="Belleza"/>
              </a:rPr>
              <a:t>Ex</a:t>
            </a:r>
            <a:r>
              <a:rPr lang="en-US" sz="2904">
                <a:solidFill>
                  <a:srgbClr val="000000"/>
                </a:solidFill>
                <a:latin typeface="Belleza"/>
                <a:ea typeface="Belleza"/>
                <a:cs typeface="Belleza"/>
                <a:sym typeface="Belleza"/>
              </a:rPr>
              <a:t>planation</a:t>
            </a:r>
          </a:p>
          <a:p>
            <a:pPr algn="just" marL="627154" indent="-313577" lvl="1">
              <a:lnSpc>
                <a:spcPts val="4066"/>
              </a:lnSpc>
              <a:buFont typeface="Arial"/>
              <a:buChar char="•"/>
            </a:pPr>
            <a:r>
              <a:rPr lang="en-US" sz="2904">
                <a:solidFill>
                  <a:srgbClr val="000000"/>
                </a:solidFill>
                <a:latin typeface="Belleza"/>
                <a:ea typeface="Belleza"/>
                <a:cs typeface="Belleza"/>
                <a:sym typeface="Belleza"/>
              </a:rPr>
              <a:t>print() is a built-in function used to display output on the screen.</a:t>
            </a:r>
          </a:p>
          <a:p>
            <a:pPr algn="just" marL="627154" indent="-313577" lvl="1">
              <a:lnSpc>
                <a:spcPts val="4066"/>
              </a:lnSpc>
              <a:buFont typeface="Arial"/>
              <a:buChar char="•"/>
            </a:pPr>
            <a:r>
              <a:rPr lang="en-US" sz="2904">
                <a:solidFill>
                  <a:srgbClr val="000000"/>
                </a:solidFill>
                <a:latin typeface="Belleza"/>
                <a:ea typeface="Belleza"/>
                <a:cs typeface="Belleza"/>
                <a:sym typeface="Belleza"/>
              </a:rPr>
              <a:t>"Hello World" is a string literal.</a:t>
            </a:r>
          </a:p>
          <a:p>
            <a:pPr algn="just">
              <a:lnSpc>
                <a:spcPts val="4066"/>
              </a:lnSpc>
              <a:spcBef>
                <a:spcPct val="0"/>
              </a:spcBef>
            </a:pPr>
          </a:p>
        </p:txBody>
      </p:sp>
      <p:sp>
        <p:nvSpPr>
          <p:cNvPr name="Freeform 8" id="8"/>
          <p:cNvSpPr/>
          <p:nvPr/>
        </p:nvSpPr>
        <p:spPr>
          <a:xfrm flipH="false" flipV="false" rot="0">
            <a:off x="13884533" y="1028700"/>
            <a:ext cx="1487595" cy="1966773"/>
          </a:xfrm>
          <a:custGeom>
            <a:avLst/>
            <a:gdLst/>
            <a:ahLst/>
            <a:cxnLst/>
            <a:rect r="r" b="b" t="t" l="l"/>
            <a:pathLst>
              <a:path h="1966773" w="1487595">
                <a:moveTo>
                  <a:pt x="0" y="0"/>
                </a:moveTo>
                <a:lnTo>
                  <a:pt x="1487596" y="0"/>
                </a:lnTo>
                <a:lnTo>
                  <a:pt x="1487596" y="1966773"/>
                </a:lnTo>
                <a:lnTo>
                  <a:pt x="0" y="19667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3834770">
            <a:off x="-935123" y="8901772"/>
            <a:ext cx="5518197" cy="3461415"/>
          </a:xfrm>
          <a:custGeom>
            <a:avLst/>
            <a:gdLst/>
            <a:ahLst/>
            <a:cxnLst/>
            <a:rect r="r" b="b" t="t" l="l"/>
            <a:pathLst>
              <a:path h="3461415" w="5518197">
                <a:moveTo>
                  <a:pt x="5518198" y="0"/>
                </a:moveTo>
                <a:lnTo>
                  <a:pt x="0" y="0"/>
                </a:lnTo>
                <a:lnTo>
                  <a:pt x="0" y="3461415"/>
                </a:lnTo>
                <a:lnTo>
                  <a:pt x="5518198" y="3461415"/>
                </a:lnTo>
                <a:lnTo>
                  <a:pt x="551819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7226869">
            <a:off x="14500201" y="-702007"/>
            <a:ext cx="5518197" cy="3461415"/>
          </a:xfrm>
          <a:custGeom>
            <a:avLst/>
            <a:gdLst/>
            <a:ahLst/>
            <a:cxnLst/>
            <a:rect r="r" b="b" t="t" l="l"/>
            <a:pathLst>
              <a:path h="3461415" w="5518197">
                <a:moveTo>
                  <a:pt x="5518198" y="0"/>
                </a:moveTo>
                <a:lnTo>
                  <a:pt x="0" y="0"/>
                </a:lnTo>
                <a:lnTo>
                  <a:pt x="0" y="3461414"/>
                </a:lnTo>
                <a:lnTo>
                  <a:pt x="5518198" y="3461414"/>
                </a:lnTo>
                <a:lnTo>
                  <a:pt x="551819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9211117">
            <a:off x="-108030" y="-3348560"/>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2146552">
            <a:off x="13568531" y="8319928"/>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2445940" y="7293849"/>
            <a:ext cx="1476502" cy="1952105"/>
          </a:xfrm>
          <a:custGeom>
            <a:avLst/>
            <a:gdLst/>
            <a:ahLst/>
            <a:cxnLst/>
            <a:rect r="r" b="b" t="t" l="l"/>
            <a:pathLst>
              <a:path h="1952105" w="1476502">
                <a:moveTo>
                  <a:pt x="0" y="0"/>
                </a:moveTo>
                <a:lnTo>
                  <a:pt x="1476502" y="0"/>
                </a:lnTo>
                <a:lnTo>
                  <a:pt x="1476502" y="1952105"/>
                </a:lnTo>
                <a:lnTo>
                  <a:pt x="0" y="19521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7926" y="1556128"/>
            <a:ext cx="1861547" cy="1849042"/>
          </a:xfrm>
          <a:custGeom>
            <a:avLst/>
            <a:gdLst/>
            <a:ahLst/>
            <a:cxnLst/>
            <a:rect r="r" b="b" t="t" l="l"/>
            <a:pathLst>
              <a:path h="1849042" w="1861547">
                <a:moveTo>
                  <a:pt x="0" y="0"/>
                </a:moveTo>
                <a:lnTo>
                  <a:pt x="1861548" y="0"/>
                </a:lnTo>
                <a:lnTo>
                  <a:pt x="1861548" y="1849042"/>
                </a:lnTo>
                <a:lnTo>
                  <a:pt x="0" y="1849042"/>
                </a:lnTo>
                <a:lnTo>
                  <a:pt x="0" y="0"/>
                </a:lnTo>
                <a:close/>
              </a:path>
            </a:pathLst>
          </a:custGeom>
          <a:blipFill>
            <a:blip r:embed="rId1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6033992">
            <a:off x="-1471489" y="275112"/>
            <a:ext cx="4470233" cy="2804055"/>
          </a:xfrm>
          <a:custGeom>
            <a:avLst/>
            <a:gdLst/>
            <a:ahLst/>
            <a:cxnLst/>
            <a:rect r="r" b="b" t="t" l="l"/>
            <a:pathLst>
              <a:path h="2804055" w="4470233">
                <a:moveTo>
                  <a:pt x="4470232" y="0"/>
                </a:moveTo>
                <a:lnTo>
                  <a:pt x="0" y="0"/>
                </a:lnTo>
                <a:lnTo>
                  <a:pt x="0" y="2804055"/>
                </a:lnTo>
                <a:lnTo>
                  <a:pt x="4470232" y="2804055"/>
                </a:lnTo>
                <a:lnTo>
                  <a:pt x="44702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3966373">
            <a:off x="15922916" y="-927416"/>
            <a:ext cx="2672768" cy="3303421"/>
          </a:xfrm>
          <a:custGeom>
            <a:avLst/>
            <a:gdLst/>
            <a:ahLst/>
            <a:cxnLst/>
            <a:rect r="r" b="b" t="t" l="l"/>
            <a:pathLst>
              <a:path h="3303421" w="2672768">
                <a:moveTo>
                  <a:pt x="2672768" y="0"/>
                </a:moveTo>
                <a:lnTo>
                  <a:pt x="0" y="0"/>
                </a:lnTo>
                <a:lnTo>
                  <a:pt x="0" y="3303421"/>
                </a:lnTo>
                <a:lnTo>
                  <a:pt x="2672768" y="3303421"/>
                </a:lnTo>
                <a:lnTo>
                  <a:pt x="26727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909181">
            <a:off x="-26207" y="8034782"/>
            <a:ext cx="3393931" cy="4194746"/>
          </a:xfrm>
          <a:custGeom>
            <a:avLst/>
            <a:gdLst/>
            <a:ahLst/>
            <a:cxnLst/>
            <a:rect r="r" b="b" t="t" l="l"/>
            <a:pathLst>
              <a:path h="4194746" w="3393931">
                <a:moveTo>
                  <a:pt x="0" y="0"/>
                </a:moveTo>
                <a:lnTo>
                  <a:pt x="3393931" y="0"/>
                </a:lnTo>
                <a:lnTo>
                  <a:pt x="3393931" y="4194746"/>
                </a:lnTo>
                <a:lnTo>
                  <a:pt x="0" y="4194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533221">
            <a:off x="13086788" y="6396834"/>
            <a:ext cx="7328912" cy="4597226"/>
          </a:xfrm>
          <a:custGeom>
            <a:avLst/>
            <a:gdLst/>
            <a:ahLst/>
            <a:cxnLst/>
            <a:rect r="r" b="b" t="t" l="l"/>
            <a:pathLst>
              <a:path h="4597226" w="7328912">
                <a:moveTo>
                  <a:pt x="7328912" y="0"/>
                </a:moveTo>
                <a:lnTo>
                  <a:pt x="0" y="0"/>
                </a:lnTo>
                <a:lnTo>
                  <a:pt x="0" y="4597227"/>
                </a:lnTo>
                <a:lnTo>
                  <a:pt x="7328912" y="4597227"/>
                </a:lnTo>
                <a:lnTo>
                  <a:pt x="732891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970595" y="7471336"/>
            <a:ext cx="1351595" cy="1786964"/>
          </a:xfrm>
          <a:custGeom>
            <a:avLst/>
            <a:gdLst/>
            <a:ahLst/>
            <a:cxnLst/>
            <a:rect r="r" b="b" t="t" l="l"/>
            <a:pathLst>
              <a:path h="1786964" w="1351595">
                <a:moveTo>
                  <a:pt x="0" y="0"/>
                </a:moveTo>
                <a:lnTo>
                  <a:pt x="1351595" y="0"/>
                </a:lnTo>
                <a:lnTo>
                  <a:pt x="1351595" y="1786964"/>
                </a:lnTo>
                <a:lnTo>
                  <a:pt x="0" y="17869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678172" y="2985357"/>
            <a:ext cx="10153500" cy="8155114"/>
          </a:xfrm>
          <a:prstGeom prst="rect">
            <a:avLst/>
          </a:prstGeom>
        </p:spPr>
        <p:txBody>
          <a:bodyPr anchor="t" rtlCol="false" tIns="0" lIns="0" bIns="0" rIns="0">
            <a:spAutoFit/>
          </a:bodyPr>
          <a:lstStyle/>
          <a:p>
            <a:pPr algn="just">
              <a:lnSpc>
                <a:spcPts val="4066"/>
              </a:lnSpc>
            </a:pPr>
            <a:r>
              <a:rPr lang="en-US" sz="2904">
                <a:solidFill>
                  <a:srgbClr val="000000"/>
                </a:solidFill>
                <a:latin typeface="Belleza"/>
                <a:ea typeface="Belleza"/>
                <a:cs typeface="Belleza"/>
                <a:sym typeface="Belleza"/>
              </a:rPr>
              <a:t>Pyth</a:t>
            </a:r>
            <a:r>
              <a:rPr lang="en-US" sz="2904">
                <a:solidFill>
                  <a:srgbClr val="000000"/>
                </a:solidFill>
                <a:latin typeface="Belleza"/>
                <a:ea typeface="Belleza"/>
                <a:cs typeface="Belleza"/>
                <a:sym typeface="Belleza"/>
              </a:rPr>
              <a:t>on programs can be executed in two modes:</a:t>
            </a:r>
          </a:p>
          <a:p>
            <a:pPr algn="just">
              <a:lnSpc>
                <a:spcPts val="4066"/>
              </a:lnSpc>
            </a:pPr>
            <a:r>
              <a:rPr lang="en-US" sz="2904">
                <a:solidFill>
                  <a:srgbClr val="000000"/>
                </a:solidFill>
                <a:latin typeface="Belleza"/>
                <a:ea typeface="Belleza"/>
                <a:cs typeface="Belleza"/>
                <a:sym typeface="Belleza"/>
              </a:rPr>
              <a:t>A. Interactive Mode</a:t>
            </a:r>
          </a:p>
          <a:p>
            <a:pPr algn="just" marL="627154" indent="-313577" lvl="1">
              <a:lnSpc>
                <a:spcPts val="4066"/>
              </a:lnSpc>
              <a:buFont typeface="Arial"/>
              <a:buChar char="•"/>
            </a:pPr>
            <a:r>
              <a:rPr lang="en-US" sz="2904">
                <a:solidFill>
                  <a:srgbClr val="000000"/>
                </a:solidFill>
                <a:latin typeface="Belleza"/>
                <a:ea typeface="Belleza"/>
                <a:cs typeface="Belleza"/>
                <a:sym typeface="Belleza"/>
              </a:rPr>
              <a:t>Commands are executed one by one immediately.</a:t>
            </a:r>
          </a:p>
          <a:p>
            <a:pPr algn="just" marL="627154" indent="-313577" lvl="1">
              <a:lnSpc>
                <a:spcPts val="4066"/>
              </a:lnSpc>
              <a:buFont typeface="Arial"/>
              <a:buChar char="•"/>
            </a:pPr>
            <a:r>
              <a:rPr lang="en-US" sz="2904">
                <a:solidFill>
                  <a:srgbClr val="000000"/>
                </a:solidFill>
                <a:latin typeface="Belleza"/>
                <a:ea typeface="Belleza"/>
                <a:cs typeface="Belleza"/>
                <a:sym typeface="Belleza"/>
              </a:rPr>
              <a:t>Useful for testing small code snippets.</a:t>
            </a:r>
          </a:p>
          <a:p>
            <a:pPr algn="just">
              <a:lnSpc>
                <a:spcPts val="4066"/>
              </a:lnSpc>
            </a:pPr>
            <a:r>
              <a:rPr lang="en-US" sz="2904">
                <a:solidFill>
                  <a:srgbClr val="000000"/>
                </a:solidFill>
                <a:latin typeface="Belleza"/>
                <a:ea typeface="Belleza"/>
                <a:cs typeface="Belleza"/>
                <a:sym typeface="Belleza"/>
              </a:rPr>
              <a:t>Example</a:t>
            </a:r>
          </a:p>
          <a:p>
            <a:pPr algn="just">
              <a:lnSpc>
                <a:spcPts val="4066"/>
              </a:lnSpc>
            </a:pPr>
            <a:r>
              <a:rPr lang="en-US" sz="2904">
                <a:solidFill>
                  <a:srgbClr val="000000"/>
                </a:solidFill>
                <a:latin typeface="Belleza"/>
                <a:ea typeface="Belleza"/>
                <a:cs typeface="Belleza"/>
                <a:sym typeface="Belleza"/>
              </a:rPr>
              <a:t>&gt;&gt;&gt; print("Hello")</a:t>
            </a:r>
          </a:p>
          <a:p>
            <a:pPr algn="just">
              <a:lnSpc>
                <a:spcPts val="4066"/>
              </a:lnSpc>
            </a:pPr>
            <a:r>
              <a:rPr lang="en-US" sz="2904">
                <a:solidFill>
                  <a:srgbClr val="000000"/>
                </a:solidFill>
                <a:latin typeface="Belleza"/>
                <a:ea typeface="Belleza"/>
                <a:cs typeface="Belleza"/>
                <a:sym typeface="Belleza"/>
              </a:rPr>
              <a:t>Hello</a:t>
            </a:r>
          </a:p>
          <a:p>
            <a:pPr algn="just">
              <a:lnSpc>
                <a:spcPts val="4066"/>
              </a:lnSpc>
            </a:pPr>
            <a:r>
              <a:rPr lang="en-US" sz="2904">
                <a:solidFill>
                  <a:srgbClr val="000000"/>
                </a:solidFill>
                <a:latin typeface="Belleza"/>
                <a:ea typeface="Belleza"/>
                <a:cs typeface="Belleza"/>
                <a:sym typeface="Belleza"/>
              </a:rPr>
              <a:t>Characteristics</a:t>
            </a:r>
          </a:p>
          <a:p>
            <a:pPr algn="just" marL="627154" indent="-313577" lvl="1">
              <a:lnSpc>
                <a:spcPts val="4066"/>
              </a:lnSpc>
              <a:buFont typeface="Arial"/>
              <a:buChar char="•"/>
            </a:pPr>
            <a:r>
              <a:rPr lang="en-US" sz="2904">
                <a:solidFill>
                  <a:srgbClr val="000000"/>
                </a:solidFill>
                <a:latin typeface="Belleza"/>
                <a:ea typeface="Belleza"/>
                <a:cs typeface="Belleza"/>
                <a:sym typeface="Belleza"/>
              </a:rPr>
              <a:t>Fast testing</a:t>
            </a:r>
          </a:p>
          <a:p>
            <a:pPr algn="just" marL="627154" indent="-313577" lvl="1">
              <a:lnSpc>
                <a:spcPts val="4066"/>
              </a:lnSpc>
              <a:buFont typeface="Arial"/>
              <a:buChar char="•"/>
            </a:pPr>
            <a:r>
              <a:rPr lang="en-US" sz="2904">
                <a:solidFill>
                  <a:srgbClr val="000000"/>
                </a:solidFill>
                <a:latin typeface="Belleza"/>
                <a:ea typeface="Belleza"/>
                <a:cs typeface="Belleza"/>
                <a:sym typeface="Belleza"/>
              </a:rPr>
              <a:t>Immediate output</a:t>
            </a:r>
          </a:p>
          <a:p>
            <a:pPr algn="just" marL="627154" indent="-313577" lvl="1">
              <a:lnSpc>
                <a:spcPts val="4066"/>
              </a:lnSpc>
              <a:buFont typeface="Arial"/>
              <a:buChar char="•"/>
            </a:pPr>
            <a:r>
              <a:rPr lang="en-US" sz="2904">
                <a:solidFill>
                  <a:srgbClr val="000000"/>
                </a:solidFill>
                <a:latin typeface="Belleza"/>
                <a:ea typeface="Belleza"/>
                <a:cs typeface="Belleza"/>
                <a:sym typeface="Belleza"/>
              </a:rPr>
              <a:t>No need to save the program</a:t>
            </a:r>
          </a:p>
          <a:p>
            <a:pPr algn="just">
              <a:lnSpc>
                <a:spcPts val="4066"/>
              </a:lnSpc>
            </a:pPr>
          </a:p>
          <a:p>
            <a:pPr algn="just">
              <a:lnSpc>
                <a:spcPts val="4066"/>
              </a:lnSpc>
            </a:pPr>
          </a:p>
          <a:p>
            <a:pPr algn="just">
              <a:lnSpc>
                <a:spcPts val="4066"/>
              </a:lnSpc>
            </a:pPr>
          </a:p>
          <a:p>
            <a:pPr algn="just">
              <a:lnSpc>
                <a:spcPts val="4066"/>
              </a:lnSpc>
            </a:pPr>
            <a:r>
              <a:rPr lang="en-US" sz="2904">
                <a:solidFill>
                  <a:srgbClr val="000000"/>
                </a:solidFill>
                <a:latin typeface="Belleza"/>
                <a:ea typeface="Belleza"/>
                <a:cs typeface="Belleza"/>
                <a:sym typeface="Belleza"/>
              </a:rPr>
              <a:t>Characteristics</a:t>
            </a:r>
          </a:p>
          <a:p>
            <a:pPr algn="just">
              <a:lnSpc>
                <a:spcPts val="4066"/>
              </a:lnSpc>
              <a:spcBef>
                <a:spcPct val="0"/>
              </a:spcBef>
            </a:pPr>
          </a:p>
        </p:txBody>
      </p:sp>
      <p:sp>
        <p:nvSpPr>
          <p:cNvPr name="TextBox 9" id="9"/>
          <p:cNvSpPr txBox="true"/>
          <p:nvPr/>
        </p:nvSpPr>
        <p:spPr>
          <a:xfrm rot="0">
            <a:off x="2551749" y="1932274"/>
            <a:ext cx="9535680" cy="1062024"/>
          </a:xfrm>
          <a:prstGeom prst="rect">
            <a:avLst/>
          </a:prstGeom>
        </p:spPr>
        <p:txBody>
          <a:bodyPr anchor="t" rtlCol="false" tIns="0" lIns="0" bIns="0" rIns="0">
            <a:spAutoFit/>
          </a:bodyPr>
          <a:lstStyle/>
          <a:p>
            <a:pPr algn="l">
              <a:lnSpc>
                <a:spcPts val="8639"/>
              </a:lnSpc>
              <a:spcBef>
                <a:spcPct val="0"/>
              </a:spcBef>
            </a:pPr>
            <a:r>
              <a:rPr lang="en-US" sz="6170">
                <a:solidFill>
                  <a:srgbClr val="000000"/>
                </a:solidFill>
                <a:latin typeface="Genty"/>
                <a:ea typeface="Genty"/>
                <a:cs typeface="Genty"/>
                <a:sym typeface="Genty"/>
              </a:rPr>
              <a:t>Execution Modes in Python</a:t>
            </a:r>
          </a:p>
        </p:txBody>
      </p:sp>
      <p:sp>
        <p:nvSpPr>
          <p:cNvPr name="Freeform 10" id="10"/>
          <p:cNvSpPr/>
          <p:nvPr/>
        </p:nvSpPr>
        <p:spPr>
          <a:xfrm flipH="false" flipV="false" rot="0">
            <a:off x="11817045" y="1265068"/>
            <a:ext cx="1351595" cy="1786964"/>
          </a:xfrm>
          <a:custGeom>
            <a:avLst/>
            <a:gdLst/>
            <a:ahLst/>
            <a:cxnLst/>
            <a:rect r="r" b="b" t="t" l="l"/>
            <a:pathLst>
              <a:path h="1786964" w="1351595">
                <a:moveTo>
                  <a:pt x="0" y="0"/>
                </a:moveTo>
                <a:lnTo>
                  <a:pt x="1351595" y="0"/>
                </a:lnTo>
                <a:lnTo>
                  <a:pt x="1351595" y="1786964"/>
                </a:lnTo>
                <a:lnTo>
                  <a:pt x="0" y="17869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0" y="766119"/>
            <a:ext cx="1861547" cy="1849042"/>
          </a:xfrm>
          <a:custGeom>
            <a:avLst/>
            <a:gdLst/>
            <a:ahLst/>
            <a:cxnLst/>
            <a:rect r="r" b="b" t="t" l="l"/>
            <a:pathLst>
              <a:path h="1849042" w="1861547">
                <a:moveTo>
                  <a:pt x="0" y="0"/>
                </a:moveTo>
                <a:lnTo>
                  <a:pt x="1861547" y="0"/>
                </a:lnTo>
                <a:lnTo>
                  <a:pt x="1861547" y="1849041"/>
                </a:lnTo>
                <a:lnTo>
                  <a:pt x="0" y="1849041"/>
                </a:lnTo>
                <a:lnTo>
                  <a:pt x="0" y="0"/>
                </a:lnTo>
                <a:close/>
              </a:path>
            </a:pathLst>
          </a:custGeom>
          <a:blipFill>
            <a:blip r:embed="rId10"/>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6033992">
            <a:off x="-1471489" y="275112"/>
            <a:ext cx="4470233" cy="2804055"/>
          </a:xfrm>
          <a:custGeom>
            <a:avLst/>
            <a:gdLst/>
            <a:ahLst/>
            <a:cxnLst/>
            <a:rect r="r" b="b" t="t" l="l"/>
            <a:pathLst>
              <a:path h="2804055" w="4470233">
                <a:moveTo>
                  <a:pt x="4470232" y="0"/>
                </a:moveTo>
                <a:lnTo>
                  <a:pt x="0" y="0"/>
                </a:lnTo>
                <a:lnTo>
                  <a:pt x="0" y="2804055"/>
                </a:lnTo>
                <a:lnTo>
                  <a:pt x="4470232" y="2804055"/>
                </a:lnTo>
                <a:lnTo>
                  <a:pt x="44702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3966373">
            <a:off x="15922916" y="-927416"/>
            <a:ext cx="2672768" cy="3303421"/>
          </a:xfrm>
          <a:custGeom>
            <a:avLst/>
            <a:gdLst/>
            <a:ahLst/>
            <a:cxnLst/>
            <a:rect r="r" b="b" t="t" l="l"/>
            <a:pathLst>
              <a:path h="3303421" w="2672768">
                <a:moveTo>
                  <a:pt x="2672768" y="0"/>
                </a:moveTo>
                <a:lnTo>
                  <a:pt x="0" y="0"/>
                </a:lnTo>
                <a:lnTo>
                  <a:pt x="0" y="3303421"/>
                </a:lnTo>
                <a:lnTo>
                  <a:pt x="2672768" y="3303421"/>
                </a:lnTo>
                <a:lnTo>
                  <a:pt x="26727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909181">
            <a:off x="-26207" y="8034782"/>
            <a:ext cx="3393931" cy="4194746"/>
          </a:xfrm>
          <a:custGeom>
            <a:avLst/>
            <a:gdLst/>
            <a:ahLst/>
            <a:cxnLst/>
            <a:rect r="r" b="b" t="t" l="l"/>
            <a:pathLst>
              <a:path h="4194746" w="3393931">
                <a:moveTo>
                  <a:pt x="0" y="0"/>
                </a:moveTo>
                <a:lnTo>
                  <a:pt x="3393931" y="0"/>
                </a:lnTo>
                <a:lnTo>
                  <a:pt x="3393931" y="4194746"/>
                </a:lnTo>
                <a:lnTo>
                  <a:pt x="0" y="4194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2533221">
            <a:off x="13086788" y="6396834"/>
            <a:ext cx="7328912" cy="4597226"/>
          </a:xfrm>
          <a:custGeom>
            <a:avLst/>
            <a:gdLst/>
            <a:ahLst/>
            <a:cxnLst/>
            <a:rect r="r" b="b" t="t" l="l"/>
            <a:pathLst>
              <a:path h="4597226" w="7328912">
                <a:moveTo>
                  <a:pt x="7328912" y="0"/>
                </a:moveTo>
                <a:lnTo>
                  <a:pt x="0" y="0"/>
                </a:lnTo>
                <a:lnTo>
                  <a:pt x="0" y="4597227"/>
                </a:lnTo>
                <a:lnTo>
                  <a:pt x="7328912" y="4597227"/>
                </a:lnTo>
                <a:lnTo>
                  <a:pt x="732891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970595" y="7471336"/>
            <a:ext cx="1351595" cy="1786964"/>
          </a:xfrm>
          <a:custGeom>
            <a:avLst/>
            <a:gdLst/>
            <a:ahLst/>
            <a:cxnLst/>
            <a:rect r="r" b="b" t="t" l="l"/>
            <a:pathLst>
              <a:path h="1786964" w="1351595">
                <a:moveTo>
                  <a:pt x="0" y="0"/>
                </a:moveTo>
                <a:lnTo>
                  <a:pt x="1351595" y="0"/>
                </a:lnTo>
                <a:lnTo>
                  <a:pt x="1351595" y="1786964"/>
                </a:lnTo>
                <a:lnTo>
                  <a:pt x="0" y="17869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420119" y="2937148"/>
            <a:ext cx="10948115" cy="7128405"/>
          </a:xfrm>
          <a:prstGeom prst="rect">
            <a:avLst/>
          </a:prstGeom>
        </p:spPr>
        <p:txBody>
          <a:bodyPr anchor="t" rtlCol="false" tIns="0" lIns="0" bIns="0" rIns="0">
            <a:spAutoFit/>
          </a:bodyPr>
          <a:lstStyle/>
          <a:p>
            <a:pPr algn="just">
              <a:lnSpc>
                <a:spcPts val="4385"/>
              </a:lnSpc>
            </a:pPr>
            <a:r>
              <a:rPr lang="en-US" sz="3132">
                <a:solidFill>
                  <a:srgbClr val="000000"/>
                </a:solidFill>
                <a:latin typeface="Belleza"/>
                <a:ea typeface="Belleza"/>
                <a:cs typeface="Belleza"/>
                <a:sym typeface="Belleza"/>
              </a:rPr>
              <a:t>B. Script Mode</a:t>
            </a:r>
          </a:p>
          <a:p>
            <a:pPr algn="just" marL="676235" indent="-338118" lvl="1">
              <a:lnSpc>
                <a:spcPts val="4385"/>
              </a:lnSpc>
              <a:buFont typeface="Arial"/>
              <a:buChar char="•"/>
            </a:pPr>
            <a:r>
              <a:rPr lang="en-US" sz="3132">
                <a:solidFill>
                  <a:srgbClr val="000000"/>
                </a:solidFill>
                <a:latin typeface="Belleza"/>
                <a:ea typeface="Belleza"/>
                <a:cs typeface="Belleza"/>
                <a:sym typeface="Belleza"/>
              </a:rPr>
              <a:t>Python code is written in a file with .py extension.</a:t>
            </a:r>
          </a:p>
          <a:p>
            <a:pPr algn="just" marL="676235" indent="-338118" lvl="1">
              <a:lnSpc>
                <a:spcPts val="4385"/>
              </a:lnSpc>
              <a:buFont typeface="Arial"/>
              <a:buChar char="•"/>
            </a:pPr>
            <a:r>
              <a:rPr lang="en-US" sz="3132">
                <a:solidFill>
                  <a:srgbClr val="000000"/>
                </a:solidFill>
                <a:latin typeface="Belleza"/>
                <a:ea typeface="Belleza"/>
                <a:cs typeface="Belleza"/>
                <a:sym typeface="Belleza"/>
              </a:rPr>
              <a:t>Entire program executes together.</a:t>
            </a:r>
          </a:p>
          <a:p>
            <a:pPr algn="just">
              <a:lnSpc>
                <a:spcPts val="4385"/>
              </a:lnSpc>
            </a:pPr>
            <a:r>
              <a:rPr lang="en-US" sz="3132">
                <a:solidFill>
                  <a:srgbClr val="000000"/>
                </a:solidFill>
                <a:latin typeface="Belleza"/>
                <a:ea typeface="Belleza"/>
                <a:cs typeface="Belleza"/>
                <a:sym typeface="Belleza"/>
              </a:rPr>
              <a:t>Example</a:t>
            </a:r>
          </a:p>
          <a:p>
            <a:pPr algn="just">
              <a:lnSpc>
                <a:spcPts val="4385"/>
              </a:lnSpc>
            </a:pPr>
            <a:r>
              <a:rPr lang="en-US" sz="3132">
                <a:solidFill>
                  <a:srgbClr val="000000"/>
                </a:solidFill>
                <a:latin typeface="Belleza"/>
                <a:ea typeface="Belleza"/>
                <a:cs typeface="Belleza"/>
                <a:sym typeface="Belleza"/>
              </a:rPr>
              <a:t>File: hello.py</a:t>
            </a:r>
          </a:p>
          <a:p>
            <a:pPr algn="just">
              <a:lnSpc>
                <a:spcPts val="4385"/>
              </a:lnSpc>
            </a:pPr>
            <a:r>
              <a:rPr lang="en-US" sz="3132">
                <a:solidFill>
                  <a:srgbClr val="000000"/>
                </a:solidFill>
                <a:latin typeface="Belleza"/>
                <a:ea typeface="Belleza"/>
                <a:cs typeface="Belleza"/>
                <a:sym typeface="Belleza"/>
              </a:rPr>
              <a:t>print("Hello World")</a:t>
            </a:r>
          </a:p>
          <a:p>
            <a:pPr algn="just">
              <a:lnSpc>
                <a:spcPts val="4385"/>
              </a:lnSpc>
            </a:pPr>
            <a:r>
              <a:rPr lang="en-US" sz="3132">
                <a:solidFill>
                  <a:srgbClr val="000000"/>
                </a:solidFill>
                <a:latin typeface="Belleza"/>
                <a:ea typeface="Belleza"/>
                <a:cs typeface="Belleza"/>
                <a:sym typeface="Belleza"/>
              </a:rPr>
              <a:t>Execution</a:t>
            </a:r>
          </a:p>
          <a:p>
            <a:pPr algn="just">
              <a:lnSpc>
                <a:spcPts val="4385"/>
              </a:lnSpc>
            </a:pPr>
            <a:r>
              <a:rPr lang="en-US" sz="3132">
                <a:solidFill>
                  <a:srgbClr val="000000"/>
                </a:solidFill>
                <a:latin typeface="Belleza"/>
                <a:ea typeface="Belleza"/>
                <a:cs typeface="Belleza"/>
                <a:sym typeface="Belleza"/>
              </a:rPr>
              <a:t>python hello.py</a:t>
            </a:r>
          </a:p>
          <a:p>
            <a:pPr algn="just">
              <a:lnSpc>
                <a:spcPts val="4385"/>
              </a:lnSpc>
            </a:pPr>
            <a:r>
              <a:rPr lang="en-US" sz="3132">
                <a:solidFill>
                  <a:srgbClr val="000000"/>
                </a:solidFill>
                <a:latin typeface="Belleza"/>
                <a:ea typeface="Belleza"/>
                <a:cs typeface="Belleza"/>
                <a:sym typeface="Belleza"/>
              </a:rPr>
              <a:t>Characteristics</a:t>
            </a:r>
          </a:p>
          <a:p>
            <a:pPr algn="just" marL="676235" indent="-338118" lvl="1">
              <a:lnSpc>
                <a:spcPts val="4385"/>
              </a:lnSpc>
              <a:buFont typeface="Arial"/>
              <a:buChar char="•"/>
            </a:pPr>
            <a:r>
              <a:rPr lang="en-US" sz="3132">
                <a:solidFill>
                  <a:srgbClr val="000000"/>
                </a:solidFill>
                <a:latin typeface="Belleza"/>
                <a:ea typeface="Belleza"/>
                <a:cs typeface="Belleza"/>
                <a:sym typeface="Belleza"/>
              </a:rPr>
              <a:t>Suitable for large programs</a:t>
            </a:r>
          </a:p>
          <a:p>
            <a:pPr algn="just" marL="676235" indent="-338118" lvl="1">
              <a:lnSpc>
                <a:spcPts val="4385"/>
              </a:lnSpc>
              <a:buFont typeface="Arial"/>
              <a:buChar char="•"/>
            </a:pPr>
            <a:r>
              <a:rPr lang="en-US" sz="3132">
                <a:solidFill>
                  <a:srgbClr val="000000"/>
                </a:solidFill>
                <a:latin typeface="Belleza"/>
                <a:ea typeface="Belleza"/>
                <a:cs typeface="Belleza"/>
                <a:sym typeface="Belleza"/>
              </a:rPr>
              <a:t>Easy to edit and save</a:t>
            </a:r>
          </a:p>
          <a:p>
            <a:pPr algn="just" marL="676235" indent="-338118" lvl="1">
              <a:lnSpc>
                <a:spcPts val="4385"/>
              </a:lnSpc>
              <a:buFont typeface="Arial"/>
              <a:buChar char="•"/>
            </a:pPr>
            <a:r>
              <a:rPr lang="en-US" sz="3132">
                <a:solidFill>
                  <a:srgbClr val="000000"/>
                </a:solidFill>
                <a:latin typeface="Belleza"/>
                <a:ea typeface="Belleza"/>
                <a:cs typeface="Belleza"/>
                <a:sym typeface="Belleza"/>
              </a:rPr>
              <a:t>Reusable code</a:t>
            </a:r>
          </a:p>
          <a:p>
            <a:pPr algn="just">
              <a:lnSpc>
                <a:spcPts val="4385"/>
              </a:lnSpc>
              <a:spcBef>
                <a:spcPct val="0"/>
              </a:spcBef>
            </a:pPr>
          </a:p>
        </p:txBody>
      </p:sp>
      <p:sp>
        <p:nvSpPr>
          <p:cNvPr name="TextBox 9" id="9"/>
          <p:cNvSpPr txBox="true"/>
          <p:nvPr/>
        </p:nvSpPr>
        <p:spPr>
          <a:xfrm rot="0">
            <a:off x="2551749" y="1932274"/>
            <a:ext cx="9535680" cy="1062024"/>
          </a:xfrm>
          <a:prstGeom prst="rect">
            <a:avLst/>
          </a:prstGeom>
        </p:spPr>
        <p:txBody>
          <a:bodyPr anchor="t" rtlCol="false" tIns="0" lIns="0" bIns="0" rIns="0">
            <a:spAutoFit/>
          </a:bodyPr>
          <a:lstStyle/>
          <a:p>
            <a:pPr algn="l">
              <a:lnSpc>
                <a:spcPts val="8639"/>
              </a:lnSpc>
              <a:spcBef>
                <a:spcPct val="0"/>
              </a:spcBef>
            </a:pPr>
            <a:r>
              <a:rPr lang="en-US" sz="6170">
                <a:solidFill>
                  <a:srgbClr val="000000"/>
                </a:solidFill>
                <a:latin typeface="Genty"/>
                <a:ea typeface="Genty"/>
                <a:cs typeface="Genty"/>
                <a:sym typeface="Genty"/>
              </a:rPr>
              <a:t>Execution Modes in Python</a:t>
            </a:r>
          </a:p>
        </p:txBody>
      </p:sp>
      <p:sp>
        <p:nvSpPr>
          <p:cNvPr name="Freeform 10" id="10"/>
          <p:cNvSpPr/>
          <p:nvPr/>
        </p:nvSpPr>
        <p:spPr>
          <a:xfrm flipH="false" flipV="false" rot="0">
            <a:off x="11817045" y="1265068"/>
            <a:ext cx="1351595" cy="1786964"/>
          </a:xfrm>
          <a:custGeom>
            <a:avLst/>
            <a:gdLst/>
            <a:ahLst/>
            <a:cxnLst/>
            <a:rect r="r" b="b" t="t" l="l"/>
            <a:pathLst>
              <a:path h="1786964" w="1351595">
                <a:moveTo>
                  <a:pt x="0" y="0"/>
                </a:moveTo>
                <a:lnTo>
                  <a:pt x="1351595" y="0"/>
                </a:lnTo>
                <a:lnTo>
                  <a:pt x="1351595" y="1786964"/>
                </a:lnTo>
                <a:lnTo>
                  <a:pt x="0" y="17869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97926" y="543273"/>
            <a:ext cx="1861547" cy="1849042"/>
          </a:xfrm>
          <a:custGeom>
            <a:avLst/>
            <a:gdLst/>
            <a:ahLst/>
            <a:cxnLst/>
            <a:rect r="r" b="b" t="t" l="l"/>
            <a:pathLst>
              <a:path h="1849042" w="1861547">
                <a:moveTo>
                  <a:pt x="0" y="0"/>
                </a:moveTo>
                <a:lnTo>
                  <a:pt x="1861548" y="0"/>
                </a:lnTo>
                <a:lnTo>
                  <a:pt x="1861548" y="1849042"/>
                </a:lnTo>
                <a:lnTo>
                  <a:pt x="0" y="1849042"/>
                </a:lnTo>
                <a:lnTo>
                  <a:pt x="0" y="0"/>
                </a:lnTo>
                <a:close/>
              </a:path>
            </a:pathLst>
          </a:custGeom>
          <a:blipFill>
            <a:blip r:embed="rId10"/>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7066958">
            <a:off x="-2134294" y="2698138"/>
            <a:ext cx="4323811" cy="2712209"/>
          </a:xfrm>
          <a:custGeom>
            <a:avLst/>
            <a:gdLst/>
            <a:ahLst/>
            <a:cxnLst/>
            <a:rect r="r" b="b" t="t" l="l"/>
            <a:pathLst>
              <a:path h="2712209" w="4323811">
                <a:moveTo>
                  <a:pt x="4323811" y="0"/>
                </a:moveTo>
                <a:lnTo>
                  <a:pt x="0" y="0"/>
                </a:lnTo>
                <a:lnTo>
                  <a:pt x="0" y="2712209"/>
                </a:lnTo>
                <a:lnTo>
                  <a:pt x="4323811" y="2712209"/>
                </a:lnTo>
                <a:lnTo>
                  <a:pt x="432381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5219731">
            <a:off x="15391390" y="6814730"/>
            <a:ext cx="4657115" cy="2921281"/>
          </a:xfrm>
          <a:custGeom>
            <a:avLst/>
            <a:gdLst/>
            <a:ahLst/>
            <a:cxnLst/>
            <a:rect r="r" b="b" t="t" l="l"/>
            <a:pathLst>
              <a:path h="2921281" w="4657115">
                <a:moveTo>
                  <a:pt x="4657114" y="0"/>
                </a:moveTo>
                <a:lnTo>
                  <a:pt x="0" y="0"/>
                </a:lnTo>
                <a:lnTo>
                  <a:pt x="0" y="2921281"/>
                </a:lnTo>
                <a:lnTo>
                  <a:pt x="4657114" y="2921281"/>
                </a:lnTo>
                <a:lnTo>
                  <a:pt x="46571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9457613">
            <a:off x="12670895" y="-3066190"/>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714059">
            <a:off x="368612" y="7811971"/>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076496" y="3565503"/>
            <a:ext cx="8205722" cy="6027150"/>
          </a:xfrm>
          <a:prstGeom prst="rect">
            <a:avLst/>
          </a:prstGeom>
        </p:spPr>
        <p:txBody>
          <a:bodyPr anchor="t" rtlCol="false" tIns="0" lIns="0" bIns="0" rIns="0">
            <a:spAutoFit/>
          </a:bodyPr>
          <a:lstStyle/>
          <a:p>
            <a:pPr algn="just">
              <a:lnSpc>
                <a:spcPts val="5348"/>
              </a:lnSpc>
            </a:pPr>
            <a:r>
              <a:rPr lang="en-US" sz="3820">
                <a:solidFill>
                  <a:srgbClr val="000000"/>
                </a:solidFill>
                <a:latin typeface="Belleza"/>
                <a:ea typeface="Belleza"/>
                <a:cs typeface="Belleza"/>
                <a:sym typeface="Belleza"/>
              </a:rPr>
              <a:t>Th</a:t>
            </a:r>
            <a:r>
              <a:rPr lang="en-US" sz="3820">
                <a:solidFill>
                  <a:srgbClr val="000000"/>
                </a:solidFill>
                <a:latin typeface="Belleza"/>
                <a:ea typeface="Belleza"/>
                <a:cs typeface="Belleza"/>
                <a:sym typeface="Belleza"/>
              </a:rPr>
              <a:t>e character set in Python includes all valid characters used to write programs.</a:t>
            </a:r>
          </a:p>
          <a:p>
            <a:pPr algn="just">
              <a:lnSpc>
                <a:spcPts val="5348"/>
              </a:lnSpc>
            </a:pPr>
            <a:r>
              <a:rPr lang="en-US" sz="3820">
                <a:solidFill>
                  <a:srgbClr val="000000"/>
                </a:solidFill>
                <a:latin typeface="Belleza"/>
                <a:ea typeface="Belleza"/>
                <a:cs typeface="Belleza"/>
                <a:sym typeface="Belleza"/>
              </a:rPr>
              <a:t>Types of Characters</a:t>
            </a:r>
          </a:p>
          <a:p>
            <a:pPr algn="just" marL="1649681" indent="-549894" lvl="2">
              <a:lnSpc>
                <a:spcPts val="5348"/>
              </a:lnSpc>
              <a:buFont typeface="Arial"/>
              <a:buChar char="⚬"/>
            </a:pPr>
            <a:r>
              <a:rPr lang="en-US" sz="3820">
                <a:solidFill>
                  <a:srgbClr val="000000"/>
                </a:solidFill>
                <a:latin typeface="Belleza"/>
                <a:ea typeface="Belleza"/>
                <a:cs typeface="Belleza"/>
                <a:sym typeface="Belleza"/>
              </a:rPr>
              <a:t>LettersA–Z, a–z</a:t>
            </a:r>
          </a:p>
          <a:p>
            <a:pPr algn="just" marL="1649681" indent="-549894" lvl="2">
              <a:lnSpc>
                <a:spcPts val="5348"/>
              </a:lnSpc>
              <a:buFont typeface="Arial"/>
              <a:buChar char="⚬"/>
            </a:pPr>
            <a:r>
              <a:rPr lang="en-US" sz="3820">
                <a:solidFill>
                  <a:srgbClr val="000000"/>
                </a:solidFill>
                <a:latin typeface="Belleza"/>
                <a:ea typeface="Belleza"/>
                <a:cs typeface="Belleza"/>
                <a:sym typeface="Belleza"/>
              </a:rPr>
              <a:t>Digits0–9</a:t>
            </a:r>
          </a:p>
          <a:p>
            <a:pPr algn="just" marL="1649681" indent="-549894" lvl="2">
              <a:lnSpc>
                <a:spcPts val="5348"/>
              </a:lnSpc>
              <a:buFont typeface="Arial"/>
              <a:buChar char="⚬"/>
            </a:pPr>
            <a:r>
              <a:rPr lang="en-US" sz="3820">
                <a:solidFill>
                  <a:srgbClr val="000000"/>
                </a:solidFill>
                <a:latin typeface="Belleza"/>
                <a:ea typeface="Belleza"/>
                <a:cs typeface="Belleza"/>
                <a:sym typeface="Belleza"/>
              </a:rPr>
              <a:t>Special Symbols+ - * / % = &lt; &gt; !</a:t>
            </a:r>
          </a:p>
          <a:p>
            <a:pPr algn="just" marL="1649681" indent="-549894" lvl="2">
              <a:lnSpc>
                <a:spcPts val="5348"/>
              </a:lnSpc>
              <a:buFont typeface="Arial"/>
              <a:buChar char="⚬"/>
            </a:pPr>
            <a:r>
              <a:rPr lang="en-US" sz="3820">
                <a:solidFill>
                  <a:srgbClr val="000000"/>
                </a:solidFill>
                <a:latin typeface="Belleza"/>
                <a:ea typeface="Belleza"/>
                <a:cs typeface="Belleza"/>
                <a:sym typeface="Belleza"/>
              </a:rPr>
              <a:t>Whitespace CharactersSpace, tab, newline</a:t>
            </a:r>
          </a:p>
          <a:p>
            <a:pPr algn="just">
              <a:lnSpc>
                <a:spcPts val="5348"/>
              </a:lnSpc>
              <a:spcBef>
                <a:spcPct val="0"/>
              </a:spcBef>
            </a:pPr>
          </a:p>
        </p:txBody>
      </p:sp>
      <p:sp>
        <p:nvSpPr>
          <p:cNvPr name="TextBox 8" id="8"/>
          <p:cNvSpPr txBox="true"/>
          <p:nvPr/>
        </p:nvSpPr>
        <p:spPr>
          <a:xfrm rot="0">
            <a:off x="2922582" y="2399755"/>
            <a:ext cx="9359636" cy="1251473"/>
          </a:xfrm>
          <a:prstGeom prst="rect">
            <a:avLst/>
          </a:prstGeom>
        </p:spPr>
        <p:txBody>
          <a:bodyPr anchor="t" rtlCol="false" tIns="0" lIns="0" bIns="0" rIns="0">
            <a:spAutoFit/>
          </a:bodyPr>
          <a:lstStyle/>
          <a:p>
            <a:pPr algn="l">
              <a:lnSpc>
                <a:spcPts val="10296"/>
              </a:lnSpc>
              <a:spcBef>
                <a:spcPct val="0"/>
              </a:spcBef>
            </a:pPr>
            <a:r>
              <a:rPr lang="en-US" sz="7354">
                <a:solidFill>
                  <a:srgbClr val="000000"/>
                </a:solidFill>
                <a:latin typeface="Genty"/>
                <a:ea typeface="Genty"/>
                <a:cs typeface="Genty"/>
                <a:sym typeface="Genty"/>
              </a:rPr>
              <a:t>Pytho</a:t>
            </a:r>
            <a:r>
              <a:rPr lang="en-US" sz="7354">
                <a:solidFill>
                  <a:srgbClr val="000000"/>
                </a:solidFill>
                <a:latin typeface="Genty"/>
                <a:ea typeface="Genty"/>
                <a:cs typeface="Genty"/>
                <a:sym typeface="Genty"/>
              </a:rPr>
              <a:t>n Character Set</a:t>
            </a:r>
          </a:p>
        </p:txBody>
      </p:sp>
      <p:sp>
        <p:nvSpPr>
          <p:cNvPr name="Freeform 9" id="9"/>
          <p:cNvSpPr/>
          <p:nvPr/>
        </p:nvSpPr>
        <p:spPr>
          <a:xfrm flipH="false" flipV="false" rot="0">
            <a:off x="97926" y="154845"/>
            <a:ext cx="1861547" cy="1849042"/>
          </a:xfrm>
          <a:custGeom>
            <a:avLst/>
            <a:gdLst/>
            <a:ahLst/>
            <a:cxnLst/>
            <a:rect r="r" b="b" t="t" l="l"/>
            <a:pathLst>
              <a:path h="1849042" w="1861547">
                <a:moveTo>
                  <a:pt x="0" y="0"/>
                </a:moveTo>
                <a:lnTo>
                  <a:pt x="1861548" y="0"/>
                </a:lnTo>
                <a:lnTo>
                  <a:pt x="1861548" y="1849041"/>
                </a:lnTo>
                <a:lnTo>
                  <a:pt x="0" y="1849041"/>
                </a:lnTo>
                <a:lnTo>
                  <a:pt x="0" y="0"/>
                </a:lnTo>
                <a:close/>
              </a:path>
            </a:pathLst>
          </a:custGeom>
          <a:blipFill>
            <a:blip r:embed="rId8"/>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54919" y="792439"/>
            <a:ext cx="1709074" cy="2259593"/>
          </a:xfrm>
          <a:custGeom>
            <a:avLst/>
            <a:gdLst/>
            <a:ahLst/>
            <a:cxnLst/>
            <a:rect r="r" b="b" t="t" l="l"/>
            <a:pathLst>
              <a:path h="2259593" w="1709074">
                <a:moveTo>
                  <a:pt x="0" y="0"/>
                </a:moveTo>
                <a:lnTo>
                  <a:pt x="1709074" y="0"/>
                </a:lnTo>
                <a:lnTo>
                  <a:pt x="1709074" y="2259593"/>
                </a:lnTo>
                <a:lnTo>
                  <a:pt x="0" y="2259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6033992">
            <a:off x="-1537752" y="-220330"/>
            <a:ext cx="5132905" cy="3219731"/>
          </a:xfrm>
          <a:custGeom>
            <a:avLst/>
            <a:gdLst/>
            <a:ahLst/>
            <a:cxnLst/>
            <a:rect r="r" b="b" t="t" l="l"/>
            <a:pathLst>
              <a:path h="3219731" w="5132905">
                <a:moveTo>
                  <a:pt x="5132904" y="0"/>
                </a:moveTo>
                <a:lnTo>
                  <a:pt x="0" y="0"/>
                </a:lnTo>
                <a:lnTo>
                  <a:pt x="0" y="3219731"/>
                </a:lnTo>
                <a:lnTo>
                  <a:pt x="5132904" y="3219731"/>
                </a:lnTo>
                <a:lnTo>
                  <a:pt x="51329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2898869">
            <a:off x="16364293" y="-623011"/>
            <a:ext cx="2672768" cy="3303421"/>
          </a:xfrm>
          <a:custGeom>
            <a:avLst/>
            <a:gdLst/>
            <a:ahLst/>
            <a:cxnLst/>
            <a:rect r="r" b="b" t="t" l="l"/>
            <a:pathLst>
              <a:path h="3303421" w="2672768">
                <a:moveTo>
                  <a:pt x="2672768" y="0"/>
                </a:moveTo>
                <a:lnTo>
                  <a:pt x="0" y="0"/>
                </a:lnTo>
                <a:lnTo>
                  <a:pt x="0" y="3303422"/>
                </a:lnTo>
                <a:lnTo>
                  <a:pt x="2672768" y="3303422"/>
                </a:lnTo>
                <a:lnTo>
                  <a:pt x="267276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370383">
            <a:off x="-462014" y="7526080"/>
            <a:ext cx="2803047" cy="3464440"/>
          </a:xfrm>
          <a:custGeom>
            <a:avLst/>
            <a:gdLst/>
            <a:ahLst/>
            <a:cxnLst/>
            <a:rect r="r" b="b" t="t" l="l"/>
            <a:pathLst>
              <a:path h="3464440" w="2803047">
                <a:moveTo>
                  <a:pt x="0" y="0"/>
                </a:moveTo>
                <a:lnTo>
                  <a:pt x="2803046" y="0"/>
                </a:lnTo>
                <a:lnTo>
                  <a:pt x="2803046" y="3464440"/>
                </a:lnTo>
                <a:lnTo>
                  <a:pt x="0" y="3464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2533221">
            <a:off x="13554237" y="7206557"/>
            <a:ext cx="6541791" cy="4103487"/>
          </a:xfrm>
          <a:custGeom>
            <a:avLst/>
            <a:gdLst/>
            <a:ahLst/>
            <a:cxnLst/>
            <a:rect r="r" b="b" t="t" l="l"/>
            <a:pathLst>
              <a:path h="4103487" w="6541791">
                <a:moveTo>
                  <a:pt x="6541791" y="0"/>
                </a:moveTo>
                <a:lnTo>
                  <a:pt x="0" y="0"/>
                </a:lnTo>
                <a:lnTo>
                  <a:pt x="0" y="4103486"/>
                </a:lnTo>
                <a:lnTo>
                  <a:pt x="6541791" y="4103486"/>
                </a:lnTo>
                <a:lnTo>
                  <a:pt x="654179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067250" y="3406992"/>
            <a:ext cx="10153500" cy="5136392"/>
          </a:xfrm>
          <a:prstGeom prst="rect">
            <a:avLst/>
          </a:prstGeom>
        </p:spPr>
        <p:txBody>
          <a:bodyPr anchor="t" rtlCol="false" tIns="0" lIns="0" bIns="0" rIns="0">
            <a:spAutoFit/>
          </a:bodyPr>
          <a:lstStyle/>
          <a:p>
            <a:pPr algn="l" marL="627155" indent="-313577" lvl="1">
              <a:lnSpc>
                <a:spcPts val="4066"/>
              </a:lnSpc>
              <a:buFont typeface="Arial"/>
              <a:buChar char="•"/>
            </a:pPr>
            <a:r>
              <a:rPr lang="en-US" sz="2904">
                <a:solidFill>
                  <a:srgbClr val="000000"/>
                </a:solidFill>
                <a:latin typeface="Belleza"/>
                <a:ea typeface="Belleza"/>
                <a:cs typeface="Belleza"/>
                <a:sym typeface="Belleza"/>
              </a:rPr>
              <a:t>T</a:t>
            </a:r>
            <a:r>
              <a:rPr lang="en-US" sz="2904">
                <a:solidFill>
                  <a:srgbClr val="000000"/>
                </a:solidFill>
                <a:latin typeface="Belleza"/>
                <a:ea typeface="Belleza"/>
                <a:cs typeface="Belleza"/>
                <a:sym typeface="Belleza"/>
              </a:rPr>
              <a:t>okens are the smallest individual units in a Python program.</a:t>
            </a:r>
          </a:p>
          <a:p>
            <a:pPr algn="just">
              <a:lnSpc>
                <a:spcPts val="4066"/>
              </a:lnSpc>
            </a:pPr>
            <a:r>
              <a:rPr lang="en-US" sz="2904">
                <a:solidFill>
                  <a:srgbClr val="000000"/>
                </a:solidFill>
                <a:latin typeface="Belleza"/>
                <a:ea typeface="Belleza"/>
                <a:cs typeface="Belleza"/>
                <a:sym typeface="Belleza"/>
              </a:rPr>
              <a:t>Types of Tokens</a:t>
            </a:r>
          </a:p>
          <a:p>
            <a:pPr algn="l">
              <a:lnSpc>
                <a:spcPts val="4066"/>
              </a:lnSpc>
            </a:pPr>
            <a:r>
              <a:rPr lang="en-US" sz="2904">
                <a:solidFill>
                  <a:srgbClr val="000000"/>
                </a:solidFill>
                <a:latin typeface="Belleza"/>
                <a:ea typeface="Belleza"/>
                <a:cs typeface="Belleza"/>
                <a:sym typeface="Belleza"/>
              </a:rPr>
              <a:t>A. Keywords</a:t>
            </a:r>
          </a:p>
          <a:p>
            <a:pPr algn="l" marL="627155" indent="-313577" lvl="1">
              <a:lnSpc>
                <a:spcPts val="4066"/>
              </a:lnSpc>
              <a:buFont typeface="Arial"/>
              <a:buChar char="•"/>
            </a:pPr>
            <a:r>
              <a:rPr lang="en-US" sz="2904">
                <a:solidFill>
                  <a:srgbClr val="000000"/>
                </a:solidFill>
                <a:latin typeface="Belleza"/>
                <a:ea typeface="Belleza"/>
                <a:cs typeface="Belleza"/>
                <a:sym typeface="Belleza"/>
              </a:rPr>
              <a:t>Keywords are reserved words with special meanings.</a:t>
            </a:r>
          </a:p>
          <a:p>
            <a:pPr algn="just">
              <a:lnSpc>
                <a:spcPts val="4066"/>
              </a:lnSpc>
            </a:pPr>
            <a:r>
              <a:rPr lang="en-US" sz="2904">
                <a:solidFill>
                  <a:srgbClr val="000000"/>
                </a:solidFill>
                <a:latin typeface="Belleza"/>
                <a:ea typeface="Belleza"/>
                <a:cs typeface="Belleza"/>
                <a:sym typeface="Belleza"/>
              </a:rPr>
              <a:t>Examples</a:t>
            </a:r>
          </a:p>
          <a:p>
            <a:pPr algn="just">
              <a:lnSpc>
                <a:spcPts val="4066"/>
              </a:lnSpc>
            </a:pPr>
            <a:r>
              <a:rPr lang="en-US" sz="2904">
                <a:solidFill>
                  <a:srgbClr val="000000"/>
                </a:solidFill>
                <a:latin typeface="Belleza"/>
                <a:ea typeface="Belleza"/>
                <a:cs typeface="Belleza"/>
                <a:sym typeface="Belleza"/>
              </a:rPr>
              <a:t>if, else, while, for, break, continue, class</a:t>
            </a:r>
          </a:p>
          <a:p>
            <a:pPr algn="just">
              <a:lnSpc>
                <a:spcPts val="4066"/>
              </a:lnSpc>
            </a:pPr>
            <a:r>
              <a:rPr lang="en-US" sz="2904">
                <a:solidFill>
                  <a:srgbClr val="000000"/>
                </a:solidFill>
                <a:latin typeface="Belleza"/>
                <a:ea typeface="Belleza"/>
                <a:cs typeface="Belleza"/>
                <a:sym typeface="Belleza"/>
              </a:rPr>
              <a:t>Characteristics</a:t>
            </a:r>
          </a:p>
          <a:p>
            <a:pPr algn="just" marL="627155" indent="-313577" lvl="1">
              <a:lnSpc>
                <a:spcPts val="4066"/>
              </a:lnSpc>
              <a:buFont typeface="Arial"/>
              <a:buChar char="•"/>
            </a:pPr>
            <a:r>
              <a:rPr lang="en-US" sz="2904">
                <a:solidFill>
                  <a:srgbClr val="000000"/>
                </a:solidFill>
                <a:latin typeface="Belleza"/>
                <a:ea typeface="Belleza"/>
                <a:cs typeface="Belleza"/>
                <a:sym typeface="Belleza"/>
              </a:rPr>
              <a:t>Cannot be used as variable names</a:t>
            </a:r>
          </a:p>
          <a:p>
            <a:pPr algn="just" marL="627155" indent="-313577" lvl="1">
              <a:lnSpc>
                <a:spcPts val="4066"/>
              </a:lnSpc>
              <a:buFont typeface="Arial"/>
              <a:buChar char="•"/>
            </a:pPr>
            <a:r>
              <a:rPr lang="en-US" sz="2904">
                <a:solidFill>
                  <a:srgbClr val="000000"/>
                </a:solidFill>
                <a:latin typeface="Belleza"/>
                <a:ea typeface="Belleza"/>
                <a:cs typeface="Belleza"/>
                <a:sym typeface="Belleza"/>
              </a:rPr>
              <a:t>Predefined by Python</a:t>
            </a:r>
          </a:p>
          <a:p>
            <a:pPr algn="just">
              <a:lnSpc>
                <a:spcPts val="4066"/>
              </a:lnSpc>
              <a:spcBef>
                <a:spcPct val="0"/>
              </a:spcBef>
            </a:pPr>
          </a:p>
        </p:txBody>
      </p:sp>
      <p:sp>
        <p:nvSpPr>
          <p:cNvPr name="TextBox 9" id="9"/>
          <p:cNvSpPr txBox="true"/>
          <p:nvPr/>
        </p:nvSpPr>
        <p:spPr>
          <a:xfrm rot="0">
            <a:off x="3659669" y="1874905"/>
            <a:ext cx="6463880" cy="1250271"/>
          </a:xfrm>
          <a:prstGeom prst="rect">
            <a:avLst/>
          </a:prstGeom>
        </p:spPr>
        <p:txBody>
          <a:bodyPr anchor="t" rtlCol="false" tIns="0" lIns="0" bIns="0" rIns="0">
            <a:spAutoFit/>
          </a:bodyPr>
          <a:lstStyle/>
          <a:p>
            <a:pPr algn="ctr">
              <a:lnSpc>
                <a:spcPts val="10296"/>
              </a:lnSpc>
              <a:spcBef>
                <a:spcPct val="0"/>
              </a:spcBef>
            </a:pPr>
            <a:r>
              <a:rPr lang="en-US" sz="7354">
                <a:solidFill>
                  <a:srgbClr val="000000"/>
                </a:solidFill>
                <a:latin typeface="Genty"/>
                <a:ea typeface="Genty"/>
                <a:cs typeface="Genty"/>
                <a:sym typeface="Genty"/>
              </a:rPr>
              <a:t>Python Tokens</a:t>
            </a:r>
          </a:p>
        </p:txBody>
      </p:sp>
      <p:sp>
        <p:nvSpPr>
          <p:cNvPr name="Freeform 10" id="10"/>
          <p:cNvSpPr/>
          <p:nvPr/>
        </p:nvSpPr>
        <p:spPr>
          <a:xfrm flipH="false" flipV="false" rot="0">
            <a:off x="97926" y="465014"/>
            <a:ext cx="1861547" cy="1849042"/>
          </a:xfrm>
          <a:custGeom>
            <a:avLst/>
            <a:gdLst/>
            <a:ahLst/>
            <a:cxnLst/>
            <a:rect r="r" b="b" t="t" l="l"/>
            <a:pathLst>
              <a:path h="1849042" w="1861547">
                <a:moveTo>
                  <a:pt x="0" y="0"/>
                </a:moveTo>
                <a:lnTo>
                  <a:pt x="1861548" y="0"/>
                </a:lnTo>
                <a:lnTo>
                  <a:pt x="1861548" y="1849042"/>
                </a:lnTo>
                <a:lnTo>
                  <a:pt x="0" y="1849042"/>
                </a:lnTo>
                <a:lnTo>
                  <a:pt x="0" y="0"/>
                </a:lnTo>
                <a:close/>
              </a:path>
            </a:pathLst>
          </a:custGeom>
          <a:blipFill>
            <a:blip r:embed="rId10"/>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54919" y="792439"/>
            <a:ext cx="1709074" cy="2259593"/>
          </a:xfrm>
          <a:custGeom>
            <a:avLst/>
            <a:gdLst/>
            <a:ahLst/>
            <a:cxnLst/>
            <a:rect r="r" b="b" t="t" l="l"/>
            <a:pathLst>
              <a:path h="2259593" w="1709074">
                <a:moveTo>
                  <a:pt x="0" y="0"/>
                </a:moveTo>
                <a:lnTo>
                  <a:pt x="1709074" y="0"/>
                </a:lnTo>
                <a:lnTo>
                  <a:pt x="1709074" y="2259593"/>
                </a:lnTo>
                <a:lnTo>
                  <a:pt x="0" y="2259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6033992">
            <a:off x="-1537752" y="-220330"/>
            <a:ext cx="5132905" cy="3219731"/>
          </a:xfrm>
          <a:custGeom>
            <a:avLst/>
            <a:gdLst/>
            <a:ahLst/>
            <a:cxnLst/>
            <a:rect r="r" b="b" t="t" l="l"/>
            <a:pathLst>
              <a:path h="3219731" w="5132905">
                <a:moveTo>
                  <a:pt x="5132904" y="0"/>
                </a:moveTo>
                <a:lnTo>
                  <a:pt x="0" y="0"/>
                </a:lnTo>
                <a:lnTo>
                  <a:pt x="0" y="3219731"/>
                </a:lnTo>
                <a:lnTo>
                  <a:pt x="5132904" y="3219731"/>
                </a:lnTo>
                <a:lnTo>
                  <a:pt x="51329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2898869">
            <a:off x="16364293" y="-623011"/>
            <a:ext cx="2672768" cy="3303421"/>
          </a:xfrm>
          <a:custGeom>
            <a:avLst/>
            <a:gdLst/>
            <a:ahLst/>
            <a:cxnLst/>
            <a:rect r="r" b="b" t="t" l="l"/>
            <a:pathLst>
              <a:path h="3303421" w="2672768">
                <a:moveTo>
                  <a:pt x="2672768" y="0"/>
                </a:moveTo>
                <a:lnTo>
                  <a:pt x="0" y="0"/>
                </a:lnTo>
                <a:lnTo>
                  <a:pt x="0" y="3303422"/>
                </a:lnTo>
                <a:lnTo>
                  <a:pt x="2672768" y="3303422"/>
                </a:lnTo>
                <a:lnTo>
                  <a:pt x="267276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370383">
            <a:off x="-462014" y="7526080"/>
            <a:ext cx="2803047" cy="3464440"/>
          </a:xfrm>
          <a:custGeom>
            <a:avLst/>
            <a:gdLst/>
            <a:ahLst/>
            <a:cxnLst/>
            <a:rect r="r" b="b" t="t" l="l"/>
            <a:pathLst>
              <a:path h="3464440" w="2803047">
                <a:moveTo>
                  <a:pt x="0" y="0"/>
                </a:moveTo>
                <a:lnTo>
                  <a:pt x="2803046" y="0"/>
                </a:lnTo>
                <a:lnTo>
                  <a:pt x="2803046" y="3464440"/>
                </a:lnTo>
                <a:lnTo>
                  <a:pt x="0" y="3464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2533221">
            <a:off x="13554237" y="7206557"/>
            <a:ext cx="6541791" cy="4103487"/>
          </a:xfrm>
          <a:custGeom>
            <a:avLst/>
            <a:gdLst/>
            <a:ahLst/>
            <a:cxnLst/>
            <a:rect r="r" b="b" t="t" l="l"/>
            <a:pathLst>
              <a:path h="4103487" w="6541791">
                <a:moveTo>
                  <a:pt x="6541791" y="0"/>
                </a:moveTo>
                <a:lnTo>
                  <a:pt x="0" y="0"/>
                </a:lnTo>
                <a:lnTo>
                  <a:pt x="0" y="4103486"/>
                </a:lnTo>
                <a:lnTo>
                  <a:pt x="6541791" y="4103486"/>
                </a:lnTo>
                <a:lnTo>
                  <a:pt x="654179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074525" y="3620217"/>
            <a:ext cx="12098048" cy="4891133"/>
          </a:xfrm>
          <a:prstGeom prst="rect">
            <a:avLst/>
          </a:prstGeom>
        </p:spPr>
        <p:txBody>
          <a:bodyPr anchor="t" rtlCol="false" tIns="0" lIns="0" bIns="0" rIns="0">
            <a:spAutoFit/>
          </a:bodyPr>
          <a:lstStyle/>
          <a:p>
            <a:pPr algn="l">
              <a:lnSpc>
                <a:spcPts val="4845"/>
              </a:lnSpc>
            </a:pPr>
            <a:r>
              <a:rPr lang="en-US" sz="3461">
                <a:solidFill>
                  <a:srgbClr val="000000"/>
                </a:solidFill>
                <a:latin typeface="Belleza"/>
                <a:ea typeface="Belleza"/>
                <a:cs typeface="Belleza"/>
                <a:sym typeface="Belleza"/>
              </a:rPr>
              <a:t>B. Id</a:t>
            </a:r>
            <a:r>
              <a:rPr lang="en-US" sz="3461">
                <a:solidFill>
                  <a:srgbClr val="000000"/>
                </a:solidFill>
                <a:latin typeface="Belleza"/>
                <a:ea typeface="Belleza"/>
                <a:cs typeface="Belleza"/>
                <a:sym typeface="Belleza"/>
              </a:rPr>
              <a:t>entifiers</a:t>
            </a:r>
          </a:p>
          <a:p>
            <a:pPr algn="l" marL="747265" indent="-373632" lvl="1">
              <a:lnSpc>
                <a:spcPts val="4845"/>
              </a:lnSpc>
              <a:buFont typeface="Arial"/>
              <a:buChar char="•"/>
            </a:pPr>
            <a:r>
              <a:rPr lang="en-US" sz="3461">
                <a:solidFill>
                  <a:srgbClr val="000000"/>
                </a:solidFill>
                <a:latin typeface="Belleza"/>
                <a:ea typeface="Belleza"/>
                <a:cs typeface="Belleza"/>
                <a:sym typeface="Belleza"/>
              </a:rPr>
              <a:t>Identifiers are names given to variables, functions, classes, etc</a:t>
            </a:r>
          </a:p>
          <a:p>
            <a:pPr algn="l">
              <a:lnSpc>
                <a:spcPts val="4845"/>
              </a:lnSpc>
            </a:pPr>
            <a:r>
              <a:rPr lang="en-US" sz="3461">
                <a:solidFill>
                  <a:srgbClr val="000000"/>
                </a:solidFill>
                <a:latin typeface="Belleza"/>
                <a:ea typeface="Belleza"/>
                <a:cs typeface="Belleza"/>
                <a:sym typeface="Belleza"/>
              </a:rPr>
              <a:t>Rul</a:t>
            </a:r>
            <a:r>
              <a:rPr lang="en-US" sz="3461">
                <a:solidFill>
                  <a:srgbClr val="000000"/>
                </a:solidFill>
                <a:latin typeface="Belleza"/>
                <a:ea typeface="Belleza"/>
                <a:cs typeface="Belleza"/>
                <a:sym typeface="Belleza"/>
              </a:rPr>
              <a:t>es for Identifi</a:t>
            </a:r>
            <a:r>
              <a:rPr lang="en-US" sz="3461">
                <a:solidFill>
                  <a:srgbClr val="000000"/>
                </a:solidFill>
                <a:latin typeface="Belleza"/>
                <a:ea typeface="Belleza"/>
                <a:cs typeface="Belleza"/>
                <a:sym typeface="Belleza"/>
              </a:rPr>
              <a:t>ers</a:t>
            </a:r>
          </a:p>
          <a:p>
            <a:pPr algn="l" marL="747265" indent="-373632" lvl="1">
              <a:lnSpc>
                <a:spcPts val="4845"/>
              </a:lnSpc>
              <a:buFont typeface="Arial"/>
              <a:buChar char="•"/>
            </a:pPr>
            <a:r>
              <a:rPr lang="en-US" sz="3461">
                <a:solidFill>
                  <a:srgbClr val="000000"/>
                </a:solidFill>
                <a:latin typeface="Belleza"/>
                <a:ea typeface="Belleza"/>
                <a:cs typeface="Belleza"/>
                <a:sym typeface="Belleza"/>
              </a:rPr>
              <a:t>Must b</a:t>
            </a:r>
            <a:r>
              <a:rPr lang="en-US" sz="3461">
                <a:solidFill>
                  <a:srgbClr val="000000"/>
                </a:solidFill>
                <a:latin typeface="Belleza"/>
                <a:ea typeface="Belleza"/>
                <a:cs typeface="Belleza"/>
                <a:sym typeface="Belleza"/>
              </a:rPr>
              <a:t>egin with a letter or underscore _</a:t>
            </a:r>
          </a:p>
          <a:p>
            <a:pPr algn="l" marL="747265" indent="-373632" lvl="1">
              <a:lnSpc>
                <a:spcPts val="4845"/>
              </a:lnSpc>
              <a:buFont typeface="Arial"/>
              <a:buChar char="•"/>
            </a:pPr>
            <a:r>
              <a:rPr lang="en-US" sz="3461">
                <a:solidFill>
                  <a:srgbClr val="000000"/>
                </a:solidFill>
                <a:latin typeface="Belleza"/>
                <a:ea typeface="Belleza"/>
                <a:cs typeface="Belleza"/>
                <a:sym typeface="Belleza"/>
              </a:rPr>
              <a:t>Cannot start with a digit</a:t>
            </a:r>
          </a:p>
          <a:p>
            <a:pPr algn="l" marL="747265" indent="-373632" lvl="1">
              <a:lnSpc>
                <a:spcPts val="4845"/>
              </a:lnSpc>
              <a:buFont typeface="Arial"/>
              <a:buChar char="•"/>
            </a:pPr>
            <a:r>
              <a:rPr lang="en-US" sz="3461">
                <a:solidFill>
                  <a:srgbClr val="000000"/>
                </a:solidFill>
                <a:latin typeface="Belleza"/>
                <a:ea typeface="Belleza"/>
                <a:cs typeface="Belleza"/>
                <a:sym typeface="Belleza"/>
              </a:rPr>
              <a:t>C</a:t>
            </a:r>
            <a:r>
              <a:rPr lang="en-US" sz="3461">
                <a:solidFill>
                  <a:srgbClr val="000000"/>
                </a:solidFill>
                <a:latin typeface="Belleza"/>
                <a:ea typeface="Belleza"/>
                <a:cs typeface="Belleza"/>
                <a:sym typeface="Belleza"/>
              </a:rPr>
              <a:t>annot contain spaces</a:t>
            </a:r>
          </a:p>
          <a:p>
            <a:pPr algn="l" marL="747265" indent="-373632" lvl="1">
              <a:lnSpc>
                <a:spcPts val="4845"/>
              </a:lnSpc>
              <a:buFont typeface="Arial"/>
              <a:buChar char="•"/>
            </a:pPr>
            <a:r>
              <a:rPr lang="en-US" sz="3461">
                <a:solidFill>
                  <a:srgbClr val="000000"/>
                </a:solidFill>
                <a:latin typeface="Belleza"/>
                <a:ea typeface="Belleza"/>
                <a:cs typeface="Belleza"/>
                <a:sym typeface="Belleza"/>
              </a:rPr>
              <a:t>Cannot use keywords</a:t>
            </a:r>
          </a:p>
          <a:p>
            <a:pPr algn="just">
              <a:lnSpc>
                <a:spcPts val="4845"/>
              </a:lnSpc>
              <a:spcBef>
                <a:spcPct val="0"/>
              </a:spcBef>
            </a:pPr>
          </a:p>
        </p:txBody>
      </p:sp>
      <p:sp>
        <p:nvSpPr>
          <p:cNvPr name="TextBox 9" id="9"/>
          <p:cNvSpPr txBox="true"/>
          <p:nvPr/>
        </p:nvSpPr>
        <p:spPr>
          <a:xfrm rot="0">
            <a:off x="3659669" y="1874905"/>
            <a:ext cx="6463880" cy="1250271"/>
          </a:xfrm>
          <a:prstGeom prst="rect">
            <a:avLst/>
          </a:prstGeom>
        </p:spPr>
        <p:txBody>
          <a:bodyPr anchor="t" rtlCol="false" tIns="0" lIns="0" bIns="0" rIns="0">
            <a:spAutoFit/>
          </a:bodyPr>
          <a:lstStyle/>
          <a:p>
            <a:pPr algn="ctr">
              <a:lnSpc>
                <a:spcPts val="10296"/>
              </a:lnSpc>
              <a:spcBef>
                <a:spcPct val="0"/>
              </a:spcBef>
            </a:pPr>
            <a:r>
              <a:rPr lang="en-US" sz="7354">
                <a:solidFill>
                  <a:srgbClr val="000000"/>
                </a:solidFill>
                <a:latin typeface="Genty"/>
                <a:ea typeface="Genty"/>
                <a:cs typeface="Genty"/>
                <a:sym typeface="Genty"/>
              </a:rPr>
              <a:t>Python Tokens</a:t>
            </a:r>
          </a:p>
        </p:txBody>
      </p:sp>
      <p:sp>
        <p:nvSpPr>
          <p:cNvPr name="Freeform 10" id="10"/>
          <p:cNvSpPr/>
          <p:nvPr/>
        </p:nvSpPr>
        <p:spPr>
          <a:xfrm flipH="false" flipV="false" rot="0">
            <a:off x="0" y="465014"/>
            <a:ext cx="1861547" cy="1849042"/>
          </a:xfrm>
          <a:custGeom>
            <a:avLst/>
            <a:gdLst/>
            <a:ahLst/>
            <a:cxnLst/>
            <a:rect r="r" b="b" t="t" l="l"/>
            <a:pathLst>
              <a:path h="1849042" w="1861547">
                <a:moveTo>
                  <a:pt x="0" y="0"/>
                </a:moveTo>
                <a:lnTo>
                  <a:pt x="1861547" y="0"/>
                </a:lnTo>
                <a:lnTo>
                  <a:pt x="1861547" y="1849042"/>
                </a:lnTo>
                <a:lnTo>
                  <a:pt x="0" y="1849042"/>
                </a:lnTo>
                <a:lnTo>
                  <a:pt x="0" y="0"/>
                </a:lnTo>
                <a:close/>
              </a:path>
            </a:pathLst>
          </a:custGeom>
          <a:blipFill>
            <a:blip r:embed="rId10"/>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309689"/>
            <a:ext cx="16730246" cy="9977311"/>
          </a:xfrm>
          <a:custGeom>
            <a:avLst/>
            <a:gdLst/>
            <a:ahLst/>
            <a:cxnLst/>
            <a:rect r="r" b="b" t="t" l="l"/>
            <a:pathLst>
              <a:path h="9977311" w="16730246">
                <a:moveTo>
                  <a:pt x="0" y="0"/>
                </a:moveTo>
                <a:lnTo>
                  <a:pt x="16730246" y="0"/>
                </a:lnTo>
                <a:lnTo>
                  <a:pt x="16730246" y="9977311"/>
                </a:lnTo>
                <a:lnTo>
                  <a:pt x="0" y="9977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54919" y="792439"/>
            <a:ext cx="1709074" cy="2259593"/>
          </a:xfrm>
          <a:custGeom>
            <a:avLst/>
            <a:gdLst/>
            <a:ahLst/>
            <a:cxnLst/>
            <a:rect r="r" b="b" t="t" l="l"/>
            <a:pathLst>
              <a:path h="2259593" w="1709074">
                <a:moveTo>
                  <a:pt x="0" y="0"/>
                </a:moveTo>
                <a:lnTo>
                  <a:pt x="1709074" y="0"/>
                </a:lnTo>
                <a:lnTo>
                  <a:pt x="1709074" y="2259593"/>
                </a:lnTo>
                <a:lnTo>
                  <a:pt x="0" y="2259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6033992">
            <a:off x="-1537752" y="-220330"/>
            <a:ext cx="5132905" cy="3219731"/>
          </a:xfrm>
          <a:custGeom>
            <a:avLst/>
            <a:gdLst/>
            <a:ahLst/>
            <a:cxnLst/>
            <a:rect r="r" b="b" t="t" l="l"/>
            <a:pathLst>
              <a:path h="3219731" w="5132905">
                <a:moveTo>
                  <a:pt x="5132904" y="0"/>
                </a:moveTo>
                <a:lnTo>
                  <a:pt x="0" y="0"/>
                </a:lnTo>
                <a:lnTo>
                  <a:pt x="0" y="3219731"/>
                </a:lnTo>
                <a:lnTo>
                  <a:pt x="5132904" y="3219731"/>
                </a:lnTo>
                <a:lnTo>
                  <a:pt x="51329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2898869">
            <a:off x="16364293" y="-623011"/>
            <a:ext cx="2672768" cy="3303421"/>
          </a:xfrm>
          <a:custGeom>
            <a:avLst/>
            <a:gdLst/>
            <a:ahLst/>
            <a:cxnLst/>
            <a:rect r="r" b="b" t="t" l="l"/>
            <a:pathLst>
              <a:path h="3303421" w="2672768">
                <a:moveTo>
                  <a:pt x="2672768" y="0"/>
                </a:moveTo>
                <a:lnTo>
                  <a:pt x="0" y="0"/>
                </a:lnTo>
                <a:lnTo>
                  <a:pt x="0" y="3303422"/>
                </a:lnTo>
                <a:lnTo>
                  <a:pt x="2672768" y="3303422"/>
                </a:lnTo>
                <a:lnTo>
                  <a:pt x="267276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370383">
            <a:off x="-462014" y="7526080"/>
            <a:ext cx="2803047" cy="3464440"/>
          </a:xfrm>
          <a:custGeom>
            <a:avLst/>
            <a:gdLst/>
            <a:ahLst/>
            <a:cxnLst/>
            <a:rect r="r" b="b" t="t" l="l"/>
            <a:pathLst>
              <a:path h="3464440" w="2803047">
                <a:moveTo>
                  <a:pt x="0" y="0"/>
                </a:moveTo>
                <a:lnTo>
                  <a:pt x="2803046" y="0"/>
                </a:lnTo>
                <a:lnTo>
                  <a:pt x="2803046" y="3464440"/>
                </a:lnTo>
                <a:lnTo>
                  <a:pt x="0" y="3464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2533221">
            <a:off x="13554237" y="7206557"/>
            <a:ext cx="6541791" cy="4103487"/>
          </a:xfrm>
          <a:custGeom>
            <a:avLst/>
            <a:gdLst/>
            <a:ahLst/>
            <a:cxnLst/>
            <a:rect r="r" b="b" t="t" l="l"/>
            <a:pathLst>
              <a:path h="4103487" w="6541791">
                <a:moveTo>
                  <a:pt x="6541791" y="0"/>
                </a:moveTo>
                <a:lnTo>
                  <a:pt x="0" y="0"/>
                </a:lnTo>
                <a:lnTo>
                  <a:pt x="0" y="4103486"/>
                </a:lnTo>
                <a:lnTo>
                  <a:pt x="6541791" y="4103486"/>
                </a:lnTo>
                <a:lnTo>
                  <a:pt x="654179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074525" y="3883468"/>
            <a:ext cx="12098048" cy="3665421"/>
          </a:xfrm>
          <a:prstGeom prst="rect">
            <a:avLst/>
          </a:prstGeom>
        </p:spPr>
        <p:txBody>
          <a:bodyPr anchor="t" rtlCol="false" tIns="0" lIns="0" bIns="0" rIns="0">
            <a:spAutoFit/>
          </a:bodyPr>
          <a:lstStyle/>
          <a:p>
            <a:pPr algn="l">
              <a:lnSpc>
                <a:spcPts val="4845"/>
              </a:lnSpc>
            </a:pPr>
            <a:r>
              <a:rPr lang="en-US" sz="3461">
                <a:solidFill>
                  <a:srgbClr val="000000"/>
                </a:solidFill>
                <a:latin typeface="Belleza"/>
                <a:ea typeface="Belleza"/>
                <a:cs typeface="Belleza"/>
                <a:sym typeface="Belleza"/>
              </a:rPr>
              <a:t>C. L</a:t>
            </a:r>
            <a:r>
              <a:rPr lang="en-US" sz="3461">
                <a:solidFill>
                  <a:srgbClr val="000000"/>
                </a:solidFill>
                <a:latin typeface="Belleza"/>
                <a:ea typeface="Belleza"/>
                <a:cs typeface="Belleza"/>
                <a:sym typeface="Belleza"/>
              </a:rPr>
              <a:t>iterals</a:t>
            </a:r>
          </a:p>
          <a:p>
            <a:pPr algn="l">
              <a:lnSpc>
                <a:spcPts val="4845"/>
              </a:lnSpc>
            </a:pPr>
            <a:r>
              <a:rPr lang="en-US" sz="3461">
                <a:solidFill>
                  <a:srgbClr val="000000"/>
                </a:solidFill>
                <a:latin typeface="Belleza"/>
                <a:ea typeface="Belleza"/>
                <a:cs typeface="Belleza"/>
                <a:sym typeface="Belleza"/>
              </a:rPr>
              <a:t>Literals are </a:t>
            </a:r>
            <a:r>
              <a:rPr lang="en-US" sz="3461">
                <a:solidFill>
                  <a:srgbClr val="000000"/>
                </a:solidFill>
                <a:latin typeface="Belleza"/>
                <a:ea typeface="Belleza"/>
                <a:cs typeface="Belleza"/>
                <a:sym typeface="Belleza"/>
              </a:rPr>
              <a:t>fix</a:t>
            </a:r>
            <a:r>
              <a:rPr lang="en-US" sz="3461">
                <a:solidFill>
                  <a:srgbClr val="000000"/>
                </a:solidFill>
                <a:latin typeface="Belleza"/>
                <a:ea typeface="Belleza"/>
                <a:cs typeface="Belleza"/>
                <a:sym typeface="Belleza"/>
              </a:rPr>
              <a:t>ed values used</a:t>
            </a:r>
            <a:r>
              <a:rPr lang="en-US" sz="3461">
                <a:solidFill>
                  <a:srgbClr val="000000"/>
                </a:solidFill>
                <a:latin typeface="Belleza"/>
                <a:ea typeface="Belleza"/>
                <a:cs typeface="Belleza"/>
                <a:sym typeface="Belleza"/>
              </a:rPr>
              <a:t> in programs.</a:t>
            </a:r>
          </a:p>
          <a:p>
            <a:pPr algn="just">
              <a:lnSpc>
                <a:spcPts val="4845"/>
              </a:lnSpc>
            </a:pPr>
            <a:r>
              <a:rPr lang="en-US" sz="3461">
                <a:solidFill>
                  <a:srgbClr val="000000"/>
                </a:solidFill>
                <a:latin typeface="Belleza"/>
                <a:ea typeface="Belleza"/>
                <a:cs typeface="Belleza"/>
                <a:sym typeface="Belleza"/>
              </a:rPr>
              <a:t>D. Operators</a:t>
            </a:r>
          </a:p>
          <a:p>
            <a:pPr algn="just">
              <a:lnSpc>
                <a:spcPts val="4845"/>
              </a:lnSpc>
            </a:pPr>
            <a:r>
              <a:rPr lang="en-US" sz="3461">
                <a:solidFill>
                  <a:srgbClr val="000000"/>
                </a:solidFill>
                <a:latin typeface="Belleza"/>
                <a:ea typeface="Belleza"/>
                <a:cs typeface="Belleza"/>
                <a:sym typeface="Belleza"/>
              </a:rPr>
              <a:t>Operators perform operations on variables and values.</a:t>
            </a:r>
          </a:p>
          <a:p>
            <a:pPr algn="just">
              <a:lnSpc>
                <a:spcPts val="4845"/>
              </a:lnSpc>
            </a:pPr>
          </a:p>
          <a:p>
            <a:pPr algn="just">
              <a:lnSpc>
                <a:spcPts val="4845"/>
              </a:lnSpc>
              <a:spcBef>
                <a:spcPct val="0"/>
              </a:spcBef>
            </a:pPr>
          </a:p>
        </p:txBody>
      </p:sp>
      <p:sp>
        <p:nvSpPr>
          <p:cNvPr name="TextBox 9" id="9"/>
          <p:cNvSpPr txBox="true"/>
          <p:nvPr/>
        </p:nvSpPr>
        <p:spPr>
          <a:xfrm rot="0">
            <a:off x="3659669" y="1874905"/>
            <a:ext cx="6463880" cy="1250271"/>
          </a:xfrm>
          <a:prstGeom prst="rect">
            <a:avLst/>
          </a:prstGeom>
        </p:spPr>
        <p:txBody>
          <a:bodyPr anchor="t" rtlCol="false" tIns="0" lIns="0" bIns="0" rIns="0">
            <a:spAutoFit/>
          </a:bodyPr>
          <a:lstStyle/>
          <a:p>
            <a:pPr algn="ctr">
              <a:lnSpc>
                <a:spcPts val="10296"/>
              </a:lnSpc>
              <a:spcBef>
                <a:spcPct val="0"/>
              </a:spcBef>
            </a:pPr>
            <a:r>
              <a:rPr lang="en-US" sz="7354">
                <a:solidFill>
                  <a:srgbClr val="000000"/>
                </a:solidFill>
                <a:latin typeface="Genty"/>
                <a:ea typeface="Genty"/>
                <a:cs typeface="Genty"/>
                <a:sym typeface="Genty"/>
              </a:rPr>
              <a:t>Python Tokens</a:t>
            </a:r>
          </a:p>
        </p:txBody>
      </p:sp>
      <p:sp>
        <p:nvSpPr>
          <p:cNvPr name="Freeform 10" id="10"/>
          <p:cNvSpPr/>
          <p:nvPr/>
        </p:nvSpPr>
        <p:spPr>
          <a:xfrm flipH="false" flipV="false" rot="0">
            <a:off x="0" y="465014"/>
            <a:ext cx="1861547" cy="1849042"/>
          </a:xfrm>
          <a:custGeom>
            <a:avLst/>
            <a:gdLst/>
            <a:ahLst/>
            <a:cxnLst/>
            <a:rect r="r" b="b" t="t" l="l"/>
            <a:pathLst>
              <a:path h="1849042" w="1861547">
                <a:moveTo>
                  <a:pt x="0" y="0"/>
                </a:moveTo>
                <a:lnTo>
                  <a:pt x="1861547" y="0"/>
                </a:lnTo>
                <a:lnTo>
                  <a:pt x="1861547" y="1849042"/>
                </a:lnTo>
                <a:lnTo>
                  <a:pt x="0" y="1849042"/>
                </a:lnTo>
                <a:lnTo>
                  <a:pt x="0" y="0"/>
                </a:lnTo>
                <a:close/>
              </a:path>
            </a:pathLst>
          </a:custGeom>
          <a:blipFill>
            <a:blip r:embed="rId10"/>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a:extLst>
              <a:ext uri="{C183D7F6-B498-43B3-948B-1728B52AA6E4}">
                <adec:decorative xmlns:adec="http://schemas.microsoft.com/office/drawing/2017/decorative" val="1"/>
              </a:ext>
            </a:extLst>
          </p:cNvPr>
          <p:cNvSpPr/>
          <p:nvPr/>
        </p:nvSpPr>
        <p:spPr>
          <a:xfrm flipH="false" flipV="false" rot="0">
            <a:off x="2840653" y="3638294"/>
            <a:ext cx="316295" cy="316295"/>
          </a:xfrm>
          <a:custGeom>
            <a:avLst/>
            <a:gdLst/>
            <a:ahLst/>
            <a:cxnLst/>
            <a:rect r="r" b="b" t="t" l="l"/>
            <a:pathLst>
              <a:path h="316295" w="316295">
                <a:moveTo>
                  <a:pt x="0" y="0"/>
                </a:moveTo>
                <a:lnTo>
                  <a:pt x="316295" y="0"/>
                </a:lnTo>
                <a:lnTo>
                  <a:pt x="316295" y="316295"/>
                </a:lnTo>
                <a:lnTo>
                  <a:pt x="0" y="3162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91028" y="3314444"/>
            <a:ext cx="12202527" cy="3678989"/>
          </a:xfrm>
          <a:prstGeom prst="rect">
            <a:avLst/>
          </a:prstGeom>
        </p:spPr>
        <p:txBody>
          <a:bodyPr anchor="t" rtlCol="false" tIns="0" lIns="0" bIns="0" rIns="0">
            <a:spAutoFit/>
          </a:bodyPr>
          <a:lstStyle/>
          <a:p>
            <a:pPr algn="just">
              <a:lnSpc>
                <a:spcPts val="7470"/>
              </a:lnSpc>
            </a:pPr>
            <a:r>
              <a:rPr lang="en-US" sz="3491">
                <a:solidFill>
                  <a:srgbClr val="000000"/>
                </a:solidFill>
                <a:latin typeface="Belleza"/>
                <a:ea typeface="Belleza"/>
                <a:cs typeface="Belleza"/>
                <a:sym typeface="Belleza"/>
              </a:rPr>
              <a:t>Pyth</a:t>
            </a:r>
            <a:r>
              <a:rPr lang="en-US" sz="3491">
                <a:solidFill>
                  <a:srgbClr val="000000"/>
                </a:solidFill>
                <a:latin typeface="Belleza"/>
                <a:ea typeface="Belleza"/>
                <a:cs typeface="Belleza"/>
                <a:sym typeface="Belleza"/>
              </a:rPr>
              <a:t>on is a simple and powerful programming language. Understanding basic concepts like tokens, variables, execution modes, and comments helps beginners build a strong foundation in programming.</a:t>
            </a:r>
          </a:p>
        </p:txBody>
      </p:sp>
      <p:sp>
        <p:nvSpPr>
          <p:cNvPr name="TextBox 5" id="5"/>
          <p:cNvSpPr txBox="true"/>
          <p:nvPr/>
        </p:nvSpPr>
        <p:spPr>
          <a:xfrm rot="0">
            <a:off x="3575574" y="1871403"/>
            <a:ext cx="4945127" cy="1250271"/>
          </a:xfrm>
          <a:prstGeom prst="rect">
            <a:avLst/>
          </a:prstGeom>
        </p:spPr>
        <p:txBody>
          <a:bodyPr anchor="t" rtlCol="false" tIns="0" lIns="0" bIns="0" rIns="0">
            <a:spAutoFit/>
          </a:bodyPr>
          <a:lstStyle/>
          <a:p>
            <a:pPr algn="ctr">
              <a:lnSpc>
                <a:spcPts val="10296"/>
              </a:lnSpc>
              <a:spcBef>
                <a:spcPct val="0"/>
              </a:spcBef>
            </a:pPr>
            <a:r>
              <a:rPr lang="en-US" sz="7354">
                <a:solidFill>
                  <a:srgbClr val="000000"/>
                </a:solidFill>
                <a:latin typeface="Genty"/>
                <a:ea typeface="Genty"/>
                <a:cs typeface="Genty"/>
                <a:sym typeface="Genty"/>
              </a:rPr>
              <a:t>Conclusions </a:t>
            </a:r>
          </a:p>
        </p:txBody>
      </p:sp>
      <p:sp>
        <p:nvSpPr>
          <p:cNvPr name="Freeform 6" id="6"/>
          <p:cNvSpPr/>
          <p:nvPr/>
        </p:nvSpPr>
        <p:spPr>
          <a:xfrm flipH="false" flipV="false" rot="0">
            <a:off x="2840653" y="7977081"/>
            <a:ext cx="1469840" cy="1943298"/>
          </a:xfrm>
          <a:custGeom>
            <a:avLst/>
            <a:gdLst/>
            <a:ahLst/>
            <a:cxnLst/>
            <a:rect r="r" b="b" t="t" l="l"/>
            <a:pathLst>
              <a:path h="1943298" w="1469840">
                <a:moveTo>
                  <a:pt x="0" y="0"/>
                </a:moveTo>
                <a:lnTo>
                  <a:pt x="1469841" y="0"/>
                </a:lnTo>
                <a:lnTo>
                  <a:pt x="1469841" y="1943298"/>
                </a:lnTo>
                <a:lnTo>
                  <a:pt x="0" y="19432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3834770">
            <a:off x="-935123" y="8901772"/>
            <a:ext cx="5518197" cy="3461415"/>
          </a:xfrm>
          <a:custGeom>
            <a:avLst/>
            <a:gdLst/>
            <a:ahLst/>
            <a:cxnLst/>
            <a:rect r="r" b="b" t="t" l="l"/>
            <a:pathLst>
              <a:path h="3461415" w="5518197">
                <a:moveTo>
                  <a:pt x="5518198" y="0"/>
                </a:moveTo>
                <a:lnTo>
                  <a:pt x="0" y="0"/>
                </a:lnTo>
                <a:lnTo>
                  <a:pt x="0" y="3461415"/>
                </a:lnTo>
                <a:lnTo>
                  <a:pt x="5518198" y="3461415"/>
                </a:lnTo>
                <a:lnTo>
                  <a:pt x="551819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7226869">
            <a:off x="14500201" y="-702007"/>
            <a:ext cx="5518197" cy="3461415"/>
          </a:xfrm>
          <a:custGeom>
            <a:avLst/>
            <a:gdLst/>
            <a:ahLst/>
            <a:cxnLst/>
            <a:rect r="r" b="b" t="t" l="l"/>
            <a:pathLst>
              <a:path h="3461415" w="5518197">
                <a:moveTo>
                  <a:pt x="5518198" y="0"/>
                </a:moveTo>
                <a:lnTo>
                  <a:pt x="0" y="0"/>
                </a:lnTo>
                <a:lnTo>
                  <a:pt x="0" y="3461414"/>
                </a:lnTo>
                <a:lnTo>
                  <a:pt x="5518198" y="3461414"/>
                </a:lnTo>
                <a:lnTo>
                  <a:pt x="551819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9211117">
            <a:off x="-108030" y="-3348560"/>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2146552">
            <a:off x="11186327" y="8376960"/>
            <a:ext cx="5107940" cy="4950058"/>
          </a:xfrm>
          <a:custGeom>
            <a:avLst/>
            <a:gdLst/>
            <a:ahLst/>
            <a:cxnLst/>
            <a:rect r="r" b="b" t="t" l="l"/>
            <a:pathLst>
              <a:path h="4950058" w="5107940">
                <a:moveTo>
                  <a:pt x="0" y="0"/>
                </a:moveTo>
                <a:lnTo>
                  <a:pt x="5107940" y="0"/>
                </a:lnTo>
                <a:lnTo>
                  <a:pt x="5107940" y="4950058"/>
                </a:lnTo>
                <a:lnTo>
                  <a:pt x="0" y="49500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3014912" y="1028700"/>
            <a:ext cx="1476502" cy="1952105"/>
          </a:xfrm>
          <a:custGeom>
            <a:avLst/>
            <a:gdLst/>
            <a:ahLst/>
            <a:cxnLst/>
            <a:rect r="r" b="b" t="t" l="l"/>
            <a:pathLst>
              <a:path h="1952105" w="1476502">
                <a:moveTo>
                  <a:pt x="0" y="0"/>
                </a:moveTo>
                <a:lnTo>
                  <a:pt x="1476501" y="0"/>
                </a:lnTo>
                <a:lnTo>
                  <a:pt x="1476501" y="1952105"/>
                </a:lnTo>
                <a:lnTo>
                  <a:pt x="0" y="19521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37571" y="1556128"/>
            <a:ext cx="1861547" cy="1849042"/>
          </a:xfrm>
          <a:custGeom>
            <a:avLst/>
            <a:gdLst/>
            <a:ahLst/>
            <a:cxnLst/>
            <a:rect r="r" b="b" t="t" l="l"/>
            <a:pathLst>
              <a:path h="1849042" w="1861547">
                <a:moveTo>
                  <a:pt x="0" y="0"/>
                </a:moveTo>
                <a:lnTo>
                  <a:pt x="1861547" y="0"/>
                </a:lnTo>
                <a:lnTo>
                  <a:pt x="1861547" y="1849042"/>
                </a:lnTo>
                <a:lnTo>
                  <a:pt x="0" y="1849042"/>
                </a:lnTo>
                <a:lnTo>
                  <a:pt x="0" y="0"/>
                </a:lnTo>
                <a:close/>
              </a:path>
            </a:pathLst>
          </a:custGeom>
          <a:blipFill>
            <a:blip r:embed="rId1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C6CA"/>
        </a:solidFill>
      </p:bgPr>
    </p:bg>
    <p:spTree>
      <p:nvGrpSpPr>
        <p:cNvPr id="1" name=""/>
        <p:cNvGrpSpPr/>
        <p:nvPr/>
      </p:nvGrpSpPr>
      <p:grpSpPr>
        <a:xfrm>
          <a:off x="0" y="0"/>
          <a:ext cx="0" cy="0"/>
          <a:chOff x="0" y="0"/>
          <a:chExt cx="0" cy="0"/>
        </a:xfrm>
      </p:grpSpPr>
      <p:sp>
        <p:nvSpPr>
          <p:cNvPr name="Freeform 2" id="2"/>
          <p:cNvSpPr/>
          <p:nvPr/>
        </p:nvSpPr>
        <p:spPr>
          <a:xfrm flipH="false" flipV="false" rot="0">
            <a:off x="529054" y="154845"/>
            <a:ext cx="16730246" cy="9977311"/>
          </a:xfrm>
          <a:custGeom>
            <a:avLst/>
            <a:gdLst/>
            <a:ahLst/>
            <a:cxnLst/>
            <a:rect r="r" b="b" t="t" l="l"/>
            <a:pathLst>
              <a:path h="9977311" w="16730246">
                <a:moveTo>
                  <a:pt x="0" y="0"/>
                </a:moveTo>
                <a:lnTo>
                  <a:pt x="16730246" y="0"/>
                </a:lnTo>
                <a:lnTo>
                  <a:pt x="16730246" y="9977310"/>
                </a:lnTo>
                <a:lnTo>
                  <a:pt x="0" y="997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97266" y="4045202"/>
            <a:ext cx="12093468" cy="3517900"/>
          </a:xfrm>
          <a:prstGeom prst="rect">
            <a:avLst/>
          </a:prstGeom>
        </p:spPr>
        <p:txBody>
          <a:bodyPr anchor="t" rtlCol="false" tIns="0" lIns="0" bIns="0" rIns="0">
            <a:spAutoFit/>
          </a:bodyPr>
          <a:lstStyle/>
          <a:p>
            <a:pPr algn="just">
              <a:lnSpc>
                <a:spcPts val="5600"/>
              </a:lnSpc>
              <a:spcBef>
                <a:spcPct val="0"/>
              </a:spcBef>
            </a:pPr>
            <a:r>
              <a:rPr lang="en-US" sz="4000">
                <a:solidFill>
                  <a:srgbClr val="000000"/>
                </a:solidFill>
                <a:latin typeface="Belleza"/>
                <a:ea typeface="Belleza"/>
                <a:cs typeface="Belleza"/>
                <a:sym typeface="Belleza"/>
              </a:rPr>
              <a:t>Lorem ipsum dolor sit amet, consectetur adipiscing elit. Maecenas scelerisque sapien quam, et ornare tortor faucibus at. Nullam elementum dolor quis mollis eleifend. Sed in tempus quam. Donec augue tortor, suscipit sit amet cursus in, maximus sit amet tortor</a:t>
            </a:r>
          </a:p>
        </p:txBody>
      </p:sp>
      <p:sp>
        <p:nvSpPr>
          <p:cNvPr name="TextBox 4" id="4"/>
          <p:cNvSpPr txBox="true"/>
          <p:nvPr/>
        </p:nvSpPr>
        <p:spPr>
          <a:xfrm rot="0">
            <a:off x="3153151" y="2347299"/>
            <a:ext cx="6221363" cy="1251473"/>
          </a:xfrm>
          <a:prstGeom prst="rect">
            <a:avLst/>
          </a:prstGeom>
        </p:spPr>
        <p:txBody>
          <a:bodyPr anchor="t" rtlCol="false" tIns="0" lIns="0" bIns="0" rIns="0">
            <a:spAutoFit/>
          </a:bodyPr>
          <a:lstStyle/>
          <a:p>
            <a:pPr algn="l">
              <a:lnSpc>
                <a:spcPts val="10296"/>
              </a:lnSpc>
              <a:spcBef>
                <a:spcPct val="0"/>
              </a:spcBef>
            </a:pPr>
            <a:r>
              <a:rPr lang="en-US" sz="7354">
                <a:solidFill>
                  <a:srgbClr val="000000"/>
                </a:solidFill>
                <a:latin typeface="Genty"/>
                <a:ea typeface="Genty"/>
                <a:cs typeface="Genty"/>
                <a:sym typeface="Genty"/>
              </a:rPr>
              <a:t>Introduction</a:t>
            </a:r>
          </a:p>
        </p:txBody>
      </p:sp>
      <p:sp>
        <p:nvSpPr>
          <p:cNvPr name="Freeform 5" id="5"/>
          <p:cNvSpPr/>
          <p:nvPr/>
        </p:nvSpPr>
        <p:spPr>
          <a:xfrm flipH="false" flipV="false" rot="0">
            <a:off x="13289629" y="1350852"/>
            <a:ext cx="1709074" cy="2259593"/>
          </a:xfrm>
          <a:custGeom>
            <a:avLst/>
            <a:gdLst/>
            <a:ahLst/>
            <a:cxnLst/>
            <a:rect r="r" b="b" t="t" l="l"/>
            <a:pathLst>
              <a:path h="2259593" w="1709074">
                <a:moveTo>
                  <a:pt x="0" y="0"/>
                </a:moveTo>
                <a:lnTo>
                  <a:pt x="1709074" y="0"/>
                </a:lnTo>
                <a:lnTo>
                  <a:pt x="1709074" y="2259593"/>
                </a:lnTo>
                <a:lnTo>
                  <a:pt x="0" y="22595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5916863">
            <a:off x="-1730399" y="425588"/>
            <a:ext cx="5518197" cy="3461415"/>
          </a:xfrm>
          <a:custGeom>
            <a:avLst/>
            <a:gdLst/>
            <a:ahLst/>
            <a:cxnLst/>
            <a:rect r="r" b="b" t="t" l="l"/>
            <a:pathLst>
              <a:path h="3461415" w="5518197">
                <a:moveTo>
                  <a:pt x="5518198" y="0"/>
                </a:moveTo>
                <a:lnTo>
                  <a:pt x="0" y="0"/>
                </a:lnTo>
                <a:lnTo>
                  <a:pt x="0" y="3461415"/>
                </a:lnTo>
                <a:lnTo>
                  <a:pt x="5518198" y="3461415"/>
                </a:lnTo>
                <a:lnTo>
                  <a:pt x="551819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700000">
            <a:off x="14920684" y="-1283964"/>
            <a:ext cx="2672768" cy="3303421"/>
          </a:xfrm>
          <a:custGeom>
            <a:avLst/>
            <a:gdLst/>
            <a:ahLst/>
            <a:cxnLst/>
            <a:rect r="r" b="b" t="t" l="l"/>
            <a:pathLst>
              <a:path h="3303421" w="2672768">
                <a:moveTo>
                  <a:pt x="0" y="0"/>
                </a:moveTo>
                <a:lnTo>
                  <a:pt x="2672768" y="0"/>
                </a:lnTo>
                <a:lnTo>
                  <a:pt x="2672768" y="3303422"/>
                </a:lnTo>
                <a:lnTo>
                  <a:pt x="0" y="33034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700000">
            <a:off x="814368" y="8399935"/>
            <a:ext cx="2803047" cy="3464440"/>
          </a:xfrm>
          <a:custGeom>
            <a:avLst/>
            <a:gdLst/>
            <a:ahLst/>
            <a:cxnLst/>
            <a:rect r="r" b="b" t="t" l="l"/>
            <a:pathLst>
              <a:path h="3464440" w="2803047">
                <a:moveTo>
                  <a:pt x="0" y="0"/>
                </a:moveTo>
                <a:lnTo>
                  <a:pt x="2803046" y="0"/>
                </a:lnTo>
                <a:lnTo>
                  <a:pt x="2803046" y="3464440"/>
                </a:lnTo>
                <a:lnTo>
                  <a:pt x="0" y="3464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907600">
            <a:off x="13089206" y="7527593"/>
            <a:ext cx="5518197" cy="3461415"/>
          </a:xfrm>
          <a:custGeom>
            <a:avLst/>
            <a:gdLst/>
            <a:ahLst/>
            <a:cxnLst/>
            <a:rect r="r" b="b" t="t" l="l"/>
            <a:pathLst>
              <a:path h="3461415" w="5518197">
                <a:moveTo>
                  <a:pt x="5518197" y="0"/>
                </a:moveTo>
                <a:lnTo>
                  <a:pt x="0" y="0"/>
                </a:lnTo>
                <a:lnTo>
                  <a:pt x="0" y="3461414"/>
                </a:lnTo>
                <a:lnTo>
                  <a:pt x="5518197" y="3461414"/>
                </a:lnTo>
                <a:lnTo>
                  <a:pt x="551819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97926" y="1190669"/>
            <a:ext cx="1861547" cy="1849042"/>
          </a:xfrm>
          <a:custGeom>
            <a:avLst/>
            <a:gdLst/>
            <a:ahLst/>
            <a:cxnLst/>
            <a:rect r="r" b="b" t="t" l="l"/>
            <a:pathLst>
              <a:path h="1849042" w="1861547">
                <a:moveTo>
                  <a:pt x="0" y="0"/>
                </a:moveTo>
                <a:lnTo>
                  <a:pt x="1861548" y="0"/>
                </a:lnTo>
                <a:lnTo>
                  <a:pt x="1861548" y="1849041"/>
                </a:lnTo>
                <a:lnTo>
                  <a:pt x="0" y="1849041"/>
                </a:lnTo>
                <a:lnTo>
                  <a:pt x="0" y="0"/>
                </a:lnTo>
                <a:close/>
              </a:path>
            </a:pathLst>
          </a:custGeom>
          <a:blipFill>
            <a:blip r:embed="rId10"/>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p:cSld>
    <p:bg>
      <p:bgPr>
        <a:solidFill>
          <a:srgbClr val="00C6CA"/>
        </a:solidFill>
      </p:bgPr>
    </p:bg>
    <p:spTree>
      <p:nvGrpSpPr>
        <p:cNvPr id="1" name=""/>
        <p:cNvGrpSpPr/>
        <p:nvPr/>
      </p:nvGrpSpPr>
      <p:grpSpPr>
        <a:xfrm>
          <a:off x="0" y="0"/>
          <a:ext cx="0" cy="0"/>
          <a:chOff x="0" y="0"/>
          <a:chExt cx="0" cy="0"/>
        </a:xfrm>
      </p:grpSpPr>
      <p:grpSp>
        <p:nvGrpSpPr>
          <p:cNvPr name="Group 2" id="2"/>
          <p:cNvGrpSpPr/>
          <p:nvPr/>
        </p:nvGrpSpPr>
        <p:grpSpPr>
          <a:xfrm rot="0">
            <a:off x="4883058" y="3024738"/>
            <a:ext cx="8521883" cy="4237523"/>
            <a:chOff x="0" y="0"/>
            <a:chExt cx="11362511" cy="5650031"/>
          </a:xfrm>
        </p:grpSpPr>
        <p:sp>
          <p:nvSpPr>
            <p:cNvPr name="TextBox 3" id="3"/>
            <p:cNvSpPr txBox="true"/>
            <p:nvPr/>
          </p:nvSpPr>
          <p:spPr>
            <a:xfrm rot="0">
              <a:off x="0" y="-304800"/>
              <a:ext cx="9553360" cy="3626287"/>
            </a:xfrm>
            <a:prstGeom prst="rect">
              <a:avLst/>
            </a:prstGeom>
          </p:spPr>
          <p:txBody>
            <a:bodyPr anchor="t" rtlCol="false" tIns="0" lIns="0" bIns="0" rIns="0">
              <a:spAutoFit/>
            </a:bodyPr>
            <a:lstStyle/>
            <a:p>
              <a:pPr algn="just">
                <a:lnSpc>
                  <a:spcPts val="22819"/>
                </a:lnSpc>
              </a:pPr>
              <a:r>
                <a:rPr lang="en-US" b="true" sz="16299" i="true" spc="-570">
                  <a:solidFill>
                    <a:srgbClr val="005AE0"/>
                  </a:solidFill>
                  <a:latin typeface="Cooper BT Bold Italics"/>
                  <a:ea typeface="Cooper BT Bold Italics"/>
                  <a:cs typeface="Cooper BT Bold Italics"/>
                  <a:sym typeface="Cooper BT Bold Italics"/>
                </a:rPr>
                <a:t>Thank </a:t>
              </a:r>
            </a:p>
          </p:txBody>
        </p:sp>
        <p:sp>
          <p:nvSpPr>
            <p:cNvPr name="TextBox 4" id="4"/>
            <p:cNvSpPr txBox="true"/>
            <p:nvPr/>
          </p:nvSpPr>
          <p:spPr>
            <a:xfrm rot="0">
              <a:off x="1138778" y="2023744"/>
              <a:ext cx="10223733" cy="3626287"/>
            </a:xfrm>
            <a:prstGeom prst="rect">
              <a:avLst/>
            </a:prstGeom>
          </p:spPr>
          <p:txBody>
            <a:bodyPr anchor="t" rtlCol="false" tIns="0" lIns="0" bIns="0" rIns="0">
              <a:spAutoFit/>
            </a:bodyPr>
            <a:lstStyle/>
            <a:p>
              <a:pPr algn="r">
                <a:lnSpc>
                  <a:spcPts val="22819"/>
                </a:lnSpc>
              </a:pPr>
              <a:r>
                <a:rPr lang="en-US" b="true" sz="16299" i="true" spc="-570">
                  <a:solidFill>
                    <a:srgbClr val="005AE0"/>
                  </a:solidFill>
                  <a:latin typeface="Cooper BT Bold Italics"/>
                  <a:ea typeface="Cooper BT Bold Italics"/>
                  <a:cs typeface="Cooper BT Bold Italics"/>
                  <a:sym typeface="Cooper BT Bold Italics"/>
                </a:rPr>
                <a:t>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DAHKAhlX7oQ</dc:identifier>
  <dcterms:modified xsi:type="dcterms:W3CDTF">2011-08-01T06:04:30Z</dcterms:modified>
  <cp:revision>1</cp:revision>
  <dc:title>Python - Tour</dc:title>
</cp:coreProperties>
</file>