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E8554E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365760"/>
            <a:ext cx="1828800" cy="1828800"/>
          </a:xfrm>
          <a:prstGeom prst="ellipse">
            <a:avLst/>
          </a:prstGeom>
          <a:solidFill>
            <a:srgbClr val="F6C34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3474720"/>
            <a:ext cx="3200400" cy="3200400"/>
          </a:xfrm>
          <a:prstGeom prst="ellipse">
            <a:avLst/>
          </a:prstGeom>
          <a:solidFill>
            <a:srgbClr val="3ECFA0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457200"/>
            <a:ext cx="2011680" cy="411480"/>
          </a:xfrm>
          <a:prstGeom prst="roundRect">
            <a:avLst>
              <a:gd name="adj" fmla="val 22222"/>
            </a:avLst>
          </a:prstGeom>
          <a:solidFill>
            <a:srgbClr val="E8554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57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CLASS 6 • CBSE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0" y="457200"/>
            <a:ext cx="1828800" cy="411480"/>
          </a:xfrm>
          <a:prstGeom prst="roundRect">
            <a:avLst>
              <a:gd name="adj" fmla="val 22222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743200" y="457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6C343"/>
                </a:solidFill>
              </a:rPr>
              <a:t>ENGLISH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Writing Skills</a:t>
            </a:r>
            <a:endParaRPr lang="en-US" sz="54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2286000" cy="457200"/>
          </a:xfrm>
          <a:prstGeom prst="roundRect">
            <a:avLst>
              <a:gd name="adj" fmla="val 24000"/>
            </a:avLst>
          </a:prstGeom>
          <a:solidFill>
            <a:srgbClr val="E8554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31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5A"/>
                </a:solidFill>
              </a:rPr>
              <a:t>📝 Article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017520" y="2331720"/>
            <a:ext cx="2286000" cy="457200"/>
          </a:xfrm>
          <a:prstGeom prst="roundRect">
            <a:avLst>
              <a:gd name="adj" fmla="val 24000"/>
            </a:avLst>
          </a:prstGeom>
          <a:solidFill>
            <a:srgbClr val="3ECFA0"/>
          </a:solidFill>
          <a:ln/>
        </p:spPr>
      </p:sp>
      <p:sp>
        <p:nvSpPr>
          <p:cNvPr id="13" name="Text 11"/>
          <p:cNvSpPr/>
          <p:nvPr/>
        </p:nvSpPr>
        <p:spPr>
          <a:xfrm>
            <a:off x="3017520" y="2331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5A"/>
                </a:solidFill>
              </a:rPr>
              <a:t>🎤 Speech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577840" y="2331720"/>
            <a:ext cx="2286000" cy="457200"/>
          </a:xfrm>
          <a:prstGeom prst="roundRect">
            <a:avLst>
              <a:gd name="adj" fmla="val 24000"/>
            </a:avLst>
          </a:prstGeom>
          <a:solidFill>
            <a:srgbClr val="F6C343"/>
          </a:solidFill>
          <a:ln/>
        </p:spPr>
      </p:sp>
      <p:sp>
        <p:nvSpPr>
          <p:cNvPr id="15" name="Text 13"/>
          <p:cNvSpPr/>
          <p:nvPr/>
        </p:nvSpPr>
        <p:spPr>
          <a:xfrm>
            <a:off x="5577840" y="2331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5A"/>
                </a:solidFill>
              </a:rPr>
              <a:t>⚔️ Debate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words can change the world!"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BB4"/>
                </a:solidFill>
              </a:rPr>
              <a:t>Duration: 40 minutes  |  Interactive + Activity + Quiz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0" y="4297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✏️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B2A5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3657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🌟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82880" y="12801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C343"/>
                </a:solidFill>
              </a:rPr>
              <a:t>WARM UP!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82880" y="19202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Let's Begin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our Journey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840480" y="365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Story to Start With…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840480" y="960120"/>
            <a:ext cx="5029200" cy="2560320"/>
          </a:xfrm>
          <a:prstGeom prst="rect">
            <a:avLst/>
          </a:prstGeom>
          <a:solidFill>
            <a:srgbClr val="D6E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023360" y="105156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142"/>
                </a:solidFill>
              </a:rPr>
              <a:t>Meera is a Class 6 student. One day, her school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142"/>
                </a:solidFill>
              </a:rPr>
              <a:t>announced a competition — ARTICLE writing,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142"/>
                </a:solidFill>
              </a:rPr>
              <a:t>SPEECH, and DEBATE.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142"/>
                </a:solidFill>
              </a:rPr>
              <a:t>She was scared. She didn't know how to begin!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142"/>
                </a:solidFill>
              </a:rPr>
              <a:t>Today — WE will teach Meera… and ourselves! 🚀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40480" y="3749040"/>
            <a:ext cx="5029200" cy="1005840"/>
          </a:xfrm>
          <a:prstGeom prst="roundRect">
            <a:avLst>
              <a:gd name="adj" fmla="val 10909"/>
            </a:avLst>
          </a:prstGeom>
          <a:solidFill>
            <a:srgbClr val="E8554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931920" y="37947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💬 Quick Question: Have YOU ever written an article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or given a speech? Tell the class!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8554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📰  WRITING SKILLS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an ARTICLE?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8412480" cy="73152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72768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3142"/>
                </a:solidFill>
              </a:rPr>
              <a:t>An article is a piece of writing for a newspaper, magazine, or website that informs, educates, or entertains readers.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2011680" cy="2286000"/>
          </a:xfrm>
          <a:prstGeom prst="rect">
            <a:avLst/>
          </a:prstGeom>
          <a:solidFill>
            <a:srgbClr val="E8554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514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1️⃣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" y="3154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Catchy Heading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61188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Grabs attention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e.g. 'Why Trees Are Our Best Friends'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2468880"/>
            <a:ext cx="2011680" cy="2286000"/>
          </a:xfrm>
          <a:prstGeom prst="rect">
            <a:avLst/>
          </a:prstGeom>
          <a:solidFill>
            <a:srgbClr val="1B2A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14600" y="2514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2️⃣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60320" y="3154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Introduction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361188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Hook the reader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with a question or fact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468880"/>
            <a:ext cx="2011680" cy="2286000"/>
          </a:xfrm>
          <a:prstGeom prst="rect">
            <a:avLst/>
          </a:prstGeom>
          <a:solidFill>
            <a:srgbClr val="3ECFA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2514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3️⃣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709160" y="3154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Body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09160" y="361188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3-4 paragraphs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with ideas &amp; examples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2468880"/>
            <a:ext cx="2011680" cy="2286000"/>
          </a:xfrm>
          <a:prstGeom prst="rect">
            <a:avLst/>
          </a:prstGeom>
          <a:solidFill>
            <a:srgbClr val="F6C34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12280" y="2514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4️⃣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858000" y="3154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0" y="361188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Summarise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call to action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BB4"/>
                </a:solidFill>
              </a:rPr>
              <a:t>✅ Real-life example: Articles in NDTV, Hindustan Times, Bal Bharati magazine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5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6C343"/>
                </a:solidFill>
              </a:rPr>
              <a:t>📰  ARTICLE WRITING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 &amp; Golden Tips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08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54E"/>
                </a:solidFill>
              </a:rPr>
              <a:t>CBSE FORMAT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</a:rPr>
              <a:t>Title / Heading (Bold, Centred)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4048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</a:rPr>
              <a:t>By: [Your Name]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84378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28269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</a:rPr>
              <a:t>Introduction (1 para)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7216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</a:rPr>
              <a:t>Body (2–3 paras)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41605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</a:rPr>
              <a:t>Conclusion (1 para)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1463040"/>
            <a:ext cx="4206240" cy="3291840"/>
          </a:xfrm>
          <a:prstGeom prst="rect">
            <a:avLst/>
          </a:prstGeom>
          <a:solidFill>
            <a:srgbClr val="1B2A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1508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C343"/>
                </a:solidFill>
              </a:rPr>
              <a:t>✨ GOLDEN TIPS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09160" y="1965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🎯 Stay on topic always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09160" y="247802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📖 Use simple, clear language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9160" y="29900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💡 Include facts &amp; examples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09160" y="35021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📌 No first person (I/We) in formal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09160" y="401421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⏱️ Word limit: 100–150 words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4754880"/>
            <a:ext cx="8412480" cy="320040"/>
          </a:xfrm>
          <a:prstGeom prst="roundRect">
            <a:avLst>
              <a:gd name="adj" fmla="val 22857"/>
            </a:avLst>
          </a:prstGeom>
          <a:solidFill>
            <a:srgbClr val="E8554E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💬 Class: Can you think of a catchy heading for an article on 'Mobile Phones and Students'?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ECFA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B2A5A"/>
                </a:solidFill>
              </a:rPr>
              <a:t>🎤  SPEECH WRITING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SPEECH?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206240" cy="320040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600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A"/>
                </a:solidFill>
              </a:rPr>
              <a:t>📖 Meera's Story…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</a:rPr>
              <a:t>Meera was chosen to speak at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</a:rPr>
              <a:t>Independence Day. She was nervous!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</a:rPr>
              <a:t>Her teacher said: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</a:rPr>
              <a:t>"A speech is like a conversation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</a:rPr>
              <a:t>with many people at once."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</a:rPr>
              <a:t>She practised in front of the mirror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</a:rPr>
              <a:t>— and WON first prize! 🏆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508760"/>
            <a:ext cx="3931920" cy="713232"/>
          </a:xfrm>
          <a:prstGeom prst="rect">
            <a:avLst/>
          </a:prstGeom>
          <a:solidFill>
            <a:srgbClr val="E8554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5361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👋 Greeting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86537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Good morning, Respected...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2313432"/>
            <a:ext cx="3931920" cy="713232"/>
          </a:xfrm>
          <a:prstGeom prst="rect">
            <a:avLst/>
          </a:prstGeom>
          <a:solidFill>
            <a:srgbClr val="3ECFA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234086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🗣️ Introduction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26700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State the topic clearly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3118104"/>
            <a:ext cx="3931920" cy="713232"/>
          </a:xfrm>
          <a:prstGeom prst="rect">
            <a:avLst/>
          </a:prstGeom>
          <a:solidFill>
            <a:srgbClr val="1B2A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314553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📌 Main Points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3474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2-3 key ideas with examples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3922776"/>
            <a:ext cx="3931920" cy="713232"/>
          </a:xfrm>
          <a:prstGeom prst="rect">
            <a:avLst/>
          </a:prstGeom>
          <a:solidFill>
            <a:srgbClr val="F6C34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395020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🙏 Closing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42793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Thank you + memorable line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754880"/>
            <a:ext cx="8412480" cy="320040"/>
          </a:xfrm>
          <a:prstGeom prst="roundRect">
            <a:avLst>
              <a:gd name="adj" fmla="val 22857"/>
            </a:avLst>
          </a:prstGeom>
          <a:solidFill>
            <a:srgbClr val="3ECFA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5A"/>
                </a:solidFill>
              </a:rPr>
              <a:t>💬 Class: What is the first thing you say when you begin a speech?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🎤 Speech: Delivery Tips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188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👁️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554E"/>
                </a:solidFill>
              </a:rPr>
              <a:t>Eye Contact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9933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Look at your audience,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not the paper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188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🎵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91840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CFA0"/>
                </a:solidFill>
              </a:rPr>
              <a:t>Voice Modulation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0" y="19933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Vary your tone 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don't be monotone!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0972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188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⏸️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126480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C343"/>
                </a:solidFill>
              </a:rPr>
              <a:t>Pause Wisely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0" y="19933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Pause for effect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after key points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29260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🧘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720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554E"/>
                </a:solidFill>
              </a:rPr>
              <a:t>Stay Calm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7307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Deep breath before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you start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283464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00400" y="29260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👐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29184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CFA0"/>
                </a:solidFill>
              </a:rPr>
              <a:t>Body Language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91840" y="37307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Stand tall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use gestures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283464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035040" y="29260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💥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12648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C343"/>
                </a:solidFill>
              </a:rPr>
              <a:t>Power Opening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26480" y="37307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Start with a quote,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fact, or question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BB4"/>
                </a:solidFill>
              </a:rPr>
              <a:t>Visual: Image of a student speaking confidently on stage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⚔️  DEBATE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DEBATE?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3142"/>
                </a:solidFill>
              </a:rPr>
              <a:t>A debate is a formal discussion where two sides argue FOR and AGAINST a topic using facts, logic, and persuasion.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3931920" cy="2560320"/>
          </a:xfrm>
          <a:prstGeom prst="rect">
            <a:avLst/>
          </a:prstGeom>
          <a:solidFill>
            <a:srgbClr val="3ECFA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148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✅ FOR (Proposition)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6517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Support the motion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14553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Give 2–3 strong reasons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63931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Use facts &amp; examples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413308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End with a confident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2103120"/>
            <a:ext cx="3931920" cy="2560320"/>
          </a:xfrm>
          <a:prstGeom prst="rect">
            <a:avLst/>
          </a:prstGeom>
          <a:solidFill>
            <a:srgbClr val="E8554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2148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❌ AGAINST (Opposition)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83480" y="26517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Oppose the motion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314553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Challenge the other side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363931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Use counter-arguments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413308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End with a confident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60520" y="2834640"/>
            <a:ext cx="640080" cy="640080"/>
          </a:xfrm>
          <a:prstGeom prst="ellipse">
            <a:avLst/>
          </a:prstGeom>
          <a:solidFill>
            <a:srgbClr val="1B2A5A"/>
          </a:solidFill>
          <a:ln/>
        </p:spPr>
      </p:sp>
      <p:sp>
        <p:nvSpPr>
          <p:cNvPr id="19" name="Text 17"/>
          <p:cNvSpPr/>
          <p:nvPr/>
        </p:nvSpPr>
        <p:spPr>
          <a:xfrm>
            <a:off x="416052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C343"/>
                </a:solidFill>
              </a:rPr>
              <a:t>VS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4754880"/>
            <a:ext cx="8412480" cy="320040"/>
          </a:xfrm>
          <a:prstGeom prst="roundRect">
            <a:avLst>
              <a:gd name="adj" fmla="val 22857"/>
            </a:avLst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💬 Motion: 'Homework should be banned.' — Are you FOR or AGAINST?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⚔️  DEBATE LANGUAGE &amp; FORMAT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Useful Phrases &amp; Structure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1828800" cy="530352"/>
          </a:xfrm>
          <a:prstGeom prst="rect">
            <a:avLst/>
          </a:prstGeom>
          <a:solidFill>
            <a:srgbClr val="E8554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55448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40280" y="1554480"/>
            <a:ext cx="6537960" cy="530352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8" name="Text 6"/>
          <p:cNvSpPr/>
          <p:nvPr/>
        </p:nvSpPr>
        <p:spPr>
          <a:xfrm>
            <a:off x="2331720" y="155448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3142"/>
                </a:solidFill>
              </a:rPr>
              <a:t>"I firmly believe that…" / "The motion states that…"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1828800" cy="530352"/>
          </a:xfrm>
          <a:prstGeom prst="rect">
            <a:avLst/>
          </a:prstGeom>
          <a:solidFill>
            <a:srgbClr val="1B2A5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14884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Adding Points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40280" y="2148840"/>
            <a:ext cx="6537960" cy="530352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2" name="Text 10"/>
          <p:cNvSpPr/>
          <p:nvPr/>
        </p:nvSpPr>
        <p:spPr>
          <a:xfrm>
            <a:off x="2331720" y="214884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3142"/>
                </a:solidFill>
              </a:rPr>
              <a:t>"Furthermore…" / "In addition to this…"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743200"/>
            <a:ext cx="1828800" cy="530352"/>
          </a:xfrm>
          <a:prstGeom prst="rect">
            <a:avLst/>
          </a:prstGeom>
          <a:solidFill>
            <a:srgbClr val="3ECFA0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74320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Counter-argue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40280" y="2743200"/>
            <a:ext cx="6537960" cy="530352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6" name="Text 14"/>
          <p:cNvSpPr/>
          <p:nvPr/>
        </p:nvSpPr>
        <p:spPr>
          <a:xfrm>
            <a:off x="2331720" y="274320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3142"/>
                </a:solidFill>
              </a:rPr>
              <a:t>"My opponent claims… however…"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337560"/>
            <a:ext cx="1828800" cy="530352"/>
          </a:xfrm>
          <a:prstGeom prst="rect">
            <a:avLst/>
          </a:prstGeom>
          <a:solidFill>
            <a:srgbClr val="F6C343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33756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Statistics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40280" y="3337560"/>
            <a:ext cx="6537960" cy="530352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0" name="Text 18"/>
          <p:cNvSpPr/>
          <p:nvPr/>
        </p:nvSpPr>
        <p:spPr>
          <a:xfrm>
            <a:off x="2331720" y="333756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3142"/>
                </a:solidFill>
              </a:rPr>
              <a:t>"According to… / Studies show that…"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931920"/>
            <a:ext cx="1828800" cy="5303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93192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Closing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240280" y="3931920"/>
            <a:ext cx="6537960" cy="530352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4" name="Text 22"/>
          <p:cNvSpPr/>
          <p:nvPr/>
        </p:nvSpPr>
        <p:spPr>
          <a:xfrm>
            <a:off x="2331720" y="393192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3142"/>
                </a:solidFill>
              </a:rPr>
              <a:t>"Therefore, I urge you to…" / "In conclusion…"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solidFill>
            <a:srgbClr val="1B2A5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C343"/>
                </a:solidFill>
              </a:rPr>
              <a:t>⚡ Key Rules: Be respectful • Stick to facts • No personal attacks • Listen to the other side!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C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5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400" kern="0" dirty="0">
                <a:solidFill>
                  <a:srgbClr val="F6C343"/>
                </a:solidFill>
              </a:rPr>
              <a:t>🎯  CLASSROOM ACTIVITY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"Meera's Challenge" – You Choose!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783080"/>
            <a:ext cx="2651760" cy="2926080"/>
          </a:xfrm>
          <a:prstGeom prst="rect">
            <a:avLst/>
          </a:prstGeom>
          <a:solidFill>
            <a:srgbClr val="E8554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8745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📰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5420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Write an Article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999232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Topic: 'The Importance of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Planting Trees'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Word limit: 100 words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Time: 10 minutes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783080"/>
            <a:ext cx="2651760" cy="2926080"/>
          </a:xfrm>
          <a:prstGeom prst="rect">
            <a:avLst/>
          </a:prstGeom>
          <a:solidFill>
            <a:srgbClr val="3ECFA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8745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🎤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337560" y="25420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Give a Mini Speech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37560" y="2999232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Topic: 'My Favourite Hobby'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Duration: 1 minute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Present to the class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783080"/>
            <a:ext cx="2651760" cy="2926080"/>
          </a:xfrm>
          <a:prstGeom prst="rect">
            <a:avLst/>
          </a:prstGeom>
          <a:solidFill>
            <a:srgbClr val="1B2A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8745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⚔️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217920" y="25420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Mini Debate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17920" y="2999232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Motion: 'Online learning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is better than offline'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Group: 2 FOR, 2 AGAINST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D3142"/>
                </a:solidFill>
              </a:rPr>
              <a:t>✏️ Teacher picks one activity based on time. Students work individually or in groups.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</a:rPr>
              <a:t>📊  QUICK COMPARISON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Article vs Speech vs Debate – At a Glance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44752"/>
            <a:ext cx="2011680" cy="4572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4447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Feature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14600" y="1444752"/>
            <a:ext cx="2011680" cy="457200"/>
          </a:xfrm>
          <a:prstGeom prst="rect">
            <a:avLst/>
          </a:prstGeom>
          <a:solidFill>
            <a:srgbClr val="E8554E"/>
          </a:solidFill>
          <a:ln/>
        </p:spPr>
      </p:sp>
      <p:sp>
        <p:nvSpPr>
          <p:cNvPr id="8" name="Text 6"/>
          <p:cNvSpPr/>
          <p:nvPr/>
        </p:nvSpPr>
        <p:spPr>
          <a:xfrm>
            <a:off x="2514600" y="14447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Article 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444752"/>
            <a:ext cx="2011680" cy="457200"/>
          </a:xfrm>
          <a:prstGeom prst="rect">
            <a:avLst/>
          </a:prstGeom>
          <a:solidFill>
            <a:srgbClr val="3ECFA0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4447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Speech 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12280" y="1444752"/>
            <a:ext cx="201168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6812280" y="14447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Debate ⚔️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1947672"/>
            <a:ext cx="2011680" cy="4572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9476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5A"/>
                </a:solidFill>
              </a:rPr>
              <a:t>Format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14600" y="1947672"/>
            <a:ext cx="20116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2514600" y="19476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142"/>
                </a:solidFill>
              </a:rPr>
              <a:t>Written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1947672"/>
            <a:ext cx="20116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9476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142"/>
                </a:solidFill>
              </a:rPr>
              <a:t>Spoken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12280" y="1947672"/>
            <a:ext cx="20116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812280" y="19476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142"/>
                </a:solidFill>
              </a:rPr>
              <a:t>Spoken (2 sides)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459736"/>
            <a:ext cx="2011680" cy="4572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45973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5A"/>
                </a:solidFill>
              </a:rPr>
              <a:t>Audience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14600" y="2459736"/>
            <a:ext cx="2011680" cy="4572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4" name="Text 22"/>
          <p:cNvSpPr/>
          <p:nvPr/>
        </p:nvSpPr>
        <p:spPr>
          <a:xfrm>
            <a:off x="2514600" y="245973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142"/>
                </a:solidFill>
              </a:rPr>
              <a:t>Readers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2459736"/>
            <a:ext cx="2011680" cy="4572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245973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142"/>
                </a:solidFill>
              </a:rPr>
              <a:t>Listeners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12280" y="2459736"/>
            <a:ext cx="2011680" cy="4572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8" name="Text 26"/>
          <p:cNvSpPr/>
          <p:nvPr/>
        </p:nvSpPr>
        <p:spPr>
          <a:xfrm>
            <a:off x="6812280" y="245973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142"/>
                </a:solidFill>
              </a:rPr>
              <a:t>Judges/Audience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2971800"/>
            <a:ext cx="2011680" cy="4572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2971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5A"/>
                </a:solidFill>
              </a:rPr>
              <a:t>Purpose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514600" y="2971800"/>
            <a:ext cx="20116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2514600" y="2971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142"/>
                </a:solidFill>
              </a:rPr>
              <a:t>Inform/educate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63440" y="2971800"/>
            <a:ext cx="20116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4663440" y="2971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142"/>
                </a:solidFill>
              </a:rPr>
              <a:t>Persuade/inform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12280" y="2971800"/>
            <a:ext cx="20116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6812280" y="2971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142"/>
                </a:solidFill>
              </a:rPr>
              <a:t>Persuade/argue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5760" y="3483864"/>
            <a:ext cx="2011680" cy="4572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348386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5A"/>
                </a:solidFill>
              </a:rPr>
              <a:t>Length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514600" y="3483864"/>
            <a:ext cx="2011680" cy="4572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40" name="Text 38"/>
          <p:cNvSpPr/>
          <p:nvPr/>
        </p:nvSpPr>
        <p:spPr>
          <a:xfrm>
            <a:off x="2514600" y="348386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142"/>
                </a:solidFill>
              </a:rPr>
              <a:t>100–150 words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663440" y="3483864"/>
            <a:ext cx="2011680" cy="4572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42" name="Text 40"/>
          <p:cNvSpPr/>
          <p:nvPr/>
        </p:nvSpPr>
        <p:spPr>
          <a:xfrm>
            <a:off x="4663440" y="348386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142"/>
                </a:solidFill>
              </a:rPr>
              <a:t>1–2 minutes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812280" y="3483864"/>
            <a:ext cx="2011680" cy="4572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44" name="Text 42"/>
          <p:cNvSpPr/>
          <p:nvPr/>
        </p:nvSpPr>
        <p:spPr>
          <a:xfrm>
            <a:off x="6812280" y="348386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142"/>
                </a:solidFill>
              </a:rPr>
              <a:t>2–3 minutes/side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65760" y="3995928"/>
            <a:ext cx="2011680" cy="4572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39959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5A"/>
                </a:solidFill>
              </a:rPr>
              <a:t>Tone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514600" y="3995928"/>
            <a:ext cx="20116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2514600" y="39959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142"/>
                </a:solidFill>
              </a:rPr>
              <a:t>Formal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663440" y="3995928"/>
            <a:ext cx="20116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4663440" y="39959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142"/>
                </a:solidFill>
              </a:rPr>
              <a:t>Friendly, formal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812280" y="3995928"/>
            <a:ext cx="20116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6812280" y="39959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142"/>
                </a:solidFill>
              </a:rPr>
              <a:t>Formal, confident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65760" y="4754880"/>
            <a:ext cx="8412480" cy="320040"/>
          </a:xfrm>
          <a:prstGeom prst="roundRect">
            <a:avLst>
              <a:gd name="adj" fmla="val 22857"/>
            </a:avLst>
          </a:prstGeom>
          <a:solidFill>
            <a:srgbClr val="F6C343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5A"/>
                </a:solidFill>
              </a:rPr>
              <a:t>💬 Class: Which form of writing do you find most interesting? Why?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F6C343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E8554E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6C3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🎮  QUIZ TIME!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6E4FF"/>
                </a:solidFill>
              </a:rPr>
              <a:t>Raise your hand for the correct answer!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8412480" cy="41148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44168"/>
            <a:ext cx="8229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C343"/>
                </a:solidFill>
              </a:rPr>
              <a:t>Q1. Which part of an article comes FIRST?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393192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288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A) Conclusion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828800"/>
            <a:ext cx="393192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8288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B) Heading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67712"/>
            <a:ext cx="393192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2677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C) Body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267712"/>
            <a:ext cx="393192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22677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D) Introduction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566160"/>
            <a:ext cx="8412480" cy="41148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584448"/>
            <a:ext cx="8229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C343"/>
                </a:solidFill>
              </a:rPr>
              <a:t>Q2. In a speech, what should you do to grab attention at the start?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069080"/>
            <a:ext cx="393192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0690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A) Read from paper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4069080"/>
            <a:ext cx="393192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40690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B) Say 'umm' a lot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507992"/>
            <a:ext cx="393192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5079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C) Start with a question/quote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4507992"/>
            <a:ext cx="393192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45079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D) Whisper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3ECF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6C3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🎮  QUIZ TIME! (Round 2)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36576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052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C343"/>
                </a:solidFill>
              </a:rPr>
              <a:t>Q3. In a debate, who speaks FIRST?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31920" cy="338328"/>
          </a:xfrm>
          <a:prstGeom prst="roundRect">
            <a:avLst>
              <a:gd name="adj" fmla="val 18919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25880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A) Opposition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3931920" cy="338328"/>
          </a:xfrm>
          <a:prstGeom prst="roundRect">
            <a:avLst>
              <a:gd name="adj" fmla="val 18919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325880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B) The judge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709928"/>
            <a:ext cx="3931920" cy="338328"/>
          </a:xfrm>
          <a:prstGeom prst="roundRect">
            <a:avLst>
              <a:gd name="adj" fmla="val 18919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709928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C) Proposition (FOR side)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709928"/>
            <a:ext cx="3931920" cy="338328"/>
          </a:xfrm>
          <a:prstGeom prst="roundRect">
            <a:avLst>
              <a:gd name="adj" fmla="val 18919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709928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D) The audience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496312"/>
            <a:ext cx="8412480" cy="36576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5054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C343"/>
                </a:solidFill>
              </a:rPr>
              <a:t>Q4. Which phrase is BEST for closing a debate?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3931920" cy="338328"/>
          </a:xfrm>
          <a:prstGeom prst="roundRect">
            <a:avLst>
              <a:gd name="adj" fmla="val 18919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926080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A) 'Whatever, bye!'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926080"/>
            <a:ext cx="3931920" cy="338328"/>
          </a:xfrm>
          <a:prstGeom prst="roundRect">
            <a:avLst>
              <a:gd name="adj" fmla="val 18919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2926080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B) 'Therefore, I urge you to…'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310128"/>
            <a:ext cx="3931920" cy="338328"/>
          </a:xfrm>
          <a:prstGeom prst="roundRect">
            <a:avLst>
              <a:gd name="adj" fmla="val 18919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310128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C) 'I don't know…'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310128"/>
            <a:ext cx="3931920" cy="338328"/>
          </a:xfrm>
          <a:prstGeom prst="roundRect">
            <a:avLst>
              <a:gd name="adj" fmla="val 18919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3310128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D) 'My teacher told me…'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096512"/>
            <a:ext cx="8412480" cy="36576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1056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C343"/>
                </a:solidFill>
              </a:rPr>
              <a:t>Q5. Word limit for a CBSE article (Class 6) is usually: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4526280"/>
            <a:ext cx="3931920" cy="338328"/>
          </a:xfrm>
          <a:prstGeom prst="roundRect">
            <a:avLst>
              <a:gd name="adj" fmla="val 18919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526280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A) 50 words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4526280"/>
            <a:ext cx="3931920" cy="338328"/>
          </a:xfrm>
          <a:prstGeom prst="roundRect">
            <a:avLst>
              <a:gd name="adj" fmla="val 18919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4526280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B) 300 words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910328"/>
            <a:ext cx="3931920" cy="338328"/>
          </a:xfrm>
          <a:prstGeom prst="roundRect">
            <a:avLst>
              <a:gd name="adj" fmla="val 18919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910328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C) 100–150 words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4910328"/>
            <a:ext cx="3931920" cy="338328"/>
          </a:xfrm>
          <a:prstGeom prst="roundRect">
            <a:avLst>
              <a:gd name="adj" fmla="val 18919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4910328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D) 500 words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ECF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5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300" kern="0" dirty="0">
                <a:solidFill>
                  <a:srgbClr val="F6C343"/>
                </a:solidFill>
              </a:rPr>
              <a:t>✅  QUIZ ANSWERS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48640" cy="658368"/>
          </a:xfrm>
          <a:prstGeom prst="rect">
            <a:avLst/>
          </a:prstGeom>
          <a:solidFill>
            <a:srgbClr val="1B2A5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6C343"/>
                </a:solidFill>
              </a:rPr>
              <a:t>Q1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60120" y="1005840"/>
            <a:ext cx="23774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0058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54E"/>
                </a:solidFill>
              </a:rPr>
              <a:t>B) Heading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005840"/>
            <a:ext cx="5394960" cy="658368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00584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142"/>
                </a:solidFill>
              </a:rPr>
              <a:t>The heading is always written first — it's the title of your article!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773936"/>
            <a:ext cx="548640" cy="658368"/>
          </a:xfrm>
          <a:prstGeom prst="rect">
            <a:avLst/>
          </a:prstGeom>
          <a:solidFill>
            <a:srgbClr val="1B2A5A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773936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6C343"/>
                </a:solidFill>
              </a:rPr>
              <a:t>Q2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60120" y="1773936"/>
            <a:ext cx="23774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77393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54E"/>
                </a:solidFill>
              </a:rPr>
              <a:t>C) Start with a question/quote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83280" y="1773936"/>
            <a:ext cx="5394960" cy="658368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1773936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142"/>
                </a:solidFill>
              </a:rPr>
              <a:t>A powerful opening grabs the audience's attention immediately.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542032"/>
            <a:ext cx="548640" cy="658368"/>
          </a:xfrm>
          <a:prstGeom prst="rect">
            <a:avLst/>
          </a:prstGeom>
          <a:solidFill>
            <a:srgbClr val="1B2A5A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54203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6C343"/>
                </a:solidFill>
              </a:rPr>
              <a:t>Q3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0120" y="2542032"/>
            <a:ext cx="23774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254203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54E"/>
                </a:solidFill>
              </a:rPr>
              <a:t>C) Proposition (FOR side)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83280" y="2542032"/>
            <a:ext cx="5394960" cy="658368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2542032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142"/>
                </a:solidFill>
              </a:rPr>
              <a:t>The FOR side always speaks first in a formal debate.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310128"/>
            <a:ext cx="548640" cy="658368"/>
          </a:xfrm>
          <a:prstGeom prst="rect">
            <a:avLst/>
          </a:prstGeom>
          <a:solidFill>
            <a:srgbClr val="1B2A5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31012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6C343"/>
                </a:solidFill>
              </a:rPr>
              <a:t>Q4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60120" y="3310128"/>
            <a:ext cx="23774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331012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54E"/>
                </a:solidFill>
              </a:rPr>
              <a:t>B) 'Therefore, I urge you to…'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83280" y="3310128"/>
            <a:ext cx="5394960" cy="658368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0" y="3310128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142"/>
                </a:solidFill>
              </a:rPr>
              <a:t>This is a formal, persuasive closing phrase used in debates.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78224"/>
            <a:ext cx="548640" cy="658368"/>
          </a:xfrm>
          <a:prstGeom prst="rect">
            <a:avLst/>
          </a:prstGeom>
          <a:solidFill>
            <a:srgbClr val="1B2A5A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4078224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6C343"/>
                </a:solidFill>
              </a:rPr>
              <a:t>Q5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60120" y="4078224"/>
            <a:ext cx="23774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005840" y="407822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54E"/>
                </a:solidFill>
              </a:rPr>
              <a:t>C) 100–150 words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383280" y="4078224"/>
            <a:ext cx="5394960" cy="658368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474720" y="4078224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142"/>
                </a:solidFill>
              </a:rPr>
              <a:t>CBSE Class 6 articles should stay within this word limit.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6C34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B2A5A"/>
                </a:solidFill>
              </a:rPr>
              <a:t>📚  KEY VOCABULARY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Words to Know &amp; Use!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1463040" cy="685800"/>
          </a:xfrm>
          <a:prstGeom prst="rect">
            <a:avLst/>
          </a:prstGeom>
          <a:solidFill>
            <a:srgbClr val="E8554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4630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Proposition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74520" y="1463040"/>
            <a:ext cx="2834640" cy="6858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8" name="Text 6"/>
          <p:cNvSpPr/>
          <p:nvPr/>
        </p:nvSpPr>
        <p:spPr>
          <a:xfrm>
            <a:off x="1920240" y="14630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142"/>
                </a:solidFill>
              </a:rPr>
              <a:t>The team arguing FOR the motion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463040"/>
            <a:ext cx="1463040" cy="685800"/>
          </a:xfrm>
          <a:prstGeom prst="rect">
            <a:avLst/>
          </a:prstGeom>
          <a:solidFill>
            <a:srgbClr val="1B2A5A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4630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Opposition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55080" y="1463040"/>
            <a:ext cx="2834640" cy="6858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4630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142"/>
                </a:solidFill>
              </a:rPr>
              <a:t>The team arguing AGAINST the motion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267712"/>
            <a:ext cx="1463040" cy="685800"/>
          </a:xfrm>
          <a:prstGeom prst="rect">
            <a:avLst/>
          </a:prstGeom>
          <a:solidFill>
            <a:srgbClr val="3ECFA0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26771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74520" y="2267712"/>
            <a:ext cx="2834640" cy="6858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6" name="Text 14"/>
          <p:cNvSpPr/>
          <p:nvPr/>
        </p:nvSpPr>
        <p:spPr>
          <a:xfrm>
            <a:off x="1920240" y="226771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142"/>
                </a:solidFill>
              </a:rPr>
              <a:t>The topic/statement being debated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2267712"/>
            <a:ext cx="1463040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26771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Rebuttal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55080" y="2267712"/>
            <a:ext cx="2834640" cy="6858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226771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142"/>
                </a:solidFill>
              </a:rPr>
              <a:t>Countering the other side's argument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072384"/>
            <a:ext cx="1463040" cy="685800"/>
          </a:xfrm>
          <a:prstGeom prst="rect">
            <a:avLst/>
          </a:prstGeom>
          <a:solidFill>
            <a:srgbClr val="F6C343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072384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Persuade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74520" y="3072384"/>
            <a:ext cx="2834640" cy="6858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4" name="Text 22"/>
          <p:cNvSpPr/>
          <p:nvPr/>
        </p:nvSpPr>
        <p:spPr>
          <a:xfrm>
            <a:off x="1920240" y="3072384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142"/>
                </a:solidFill>
              </a:rPr>
              <a:t>Convince someone to agree with you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3072384"/>
            <a:ext cx="1463040" cy="685800"/>
          </a:xfrm>
          <a:prstGeom prst="rect">
            <a:avLst/>
          </a:prstGeom>
          <a:solidFill>
            <a:srgbClr val="E8554E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072384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55080" y="3072384"/>
            <a:ext cx="2834640" cy="6858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3072384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142"/>
                </a:solidFill>
              </a:rPr>
              <a:t>The final summarising paragraph/statement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877056"/>
            <a:ext cx="1463040" cy="685800"/>
          </a:xfrm>
          <a:prstGeom prst="rect">
            <a:avLst/>
          </a:prstGeom>
          <a:solidFill>
            <a:srgbClr val="3ECFA0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3877056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Anecdote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3877056"/>
            <a:ext cx="2834640" cy="6858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2" name="Text 30"/>
          <p:cNvSpPr/>
          <p:nvPr/>
        </p:nvSpPr>
        <p:spPr>
          <a:xfrm>
            <a:off x="1920240" y="3877056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142"/>
                </a:solidFill>
              </a:rPr>
              <a:t>A short personal story used as an example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46320" y="3877056"/>
            <a:ext cx="1463040" cy="685800"/>
          </a:xfrm>
          <a:prstGeom prst="rect">
            <a:avLst/>
          </a:prstGeom>
          <a:solidFill>
            <a:srgbClr val="1B2A5A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877056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Audience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55080" y="3877056"/>
            <a:ext cx="2834640" cy="6858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3877056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142"/>
                </a:solidFill>
              </a:rPr>
              <a:t>The people listening to your speech/debate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457200"/>
            <a:ext cx="3200400" cy="3200400"/>
          </a:xfrm>
          <a:prstGeom prst="ellipse">
            <a:avLst/>
          </a:prstGeom>
          <a:solidFill>
            <a:srgbClr val="E8554E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2743200"/>
            <a:ext cx="2743200" cy="2743200"/>
          </a:xfrm>
          <a:prstGeom prst="ellipse">
            <a:avLst/>
          </a:prstGeom>
          <a:solidFill>
            <a:srgbClr val="F6C343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What Did We Learn Today?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51760" cy="292608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43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📰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2651760" cy="365760"/>
          </a:xfrm>
          <a:prstGeom prst="rect">
            <a:avLst/>
          </a:prstGeom>
          <a:solidFill>
            <a:srgbClr val="E8554E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691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ARTICLE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Written format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Heading → Intro → Body → Conclusion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100–150 words, formal tone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097280"/>
            <a:ext cx="2651760" cy="292608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1143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🎤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3200400" y="1691640"/>
            <a:ext cx="2651760" cy="365760"/>
          </a:xfrm>
          <a:prstGeom prst="rect">
            <a:avLst/>
          </a:prstGeom>
          <a:solidFill>
            <a:srgbClr val="3ECFA0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1691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SPEECH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Spoken format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Greeting → Intro → Points → Closing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3154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Eye contact, voice, confidence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1097280"/>
            <a:ext cx="2651760" cy="292608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35040" y="1143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⚔️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6035040" y="1691640"/>
            <a:ext cx="265176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0" y="1691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DEBATE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26480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2 sides: FOR vs AGAINST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2648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Use evidence &amp; persuasion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26480" y="3154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Respectful, logical, formal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18182"/>
            </a:avLst>
          </a:prstGeom>
          <a:solidFill>
            <a:srgbClr val="F6C343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A"/>
                </a:solidFill>
              </a:rPr>
              <a:t>📝 Homework: Write a 120-word article on 'My School Library' — due next class!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BB4"/>
                </a:solidFill>
              </a:rPr>
              <a:t>"Every great writer was once a beginner who simply picked up the pen."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855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4572000" cy="4572000"/>
          </a:xfrm>
          <a:prstGeom prst="ellipse">
            <a:avLst/>
          </a:prstGeom>
          <a:solidFill>
            <a:srgbClr val="1B2A5A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286000"/>
            <a:ext cx="3657600" cy="3657600"/>
          </a:xfrm>
          <a:prstGeom prst="ellipse">
            <a:avLst/>
          </a:prstGeom>
          <a:solidFill>
            <a:srgbClr val="F6C34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4572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🎉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365760" y="164592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Great Work, Class 6!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5A"/>
                </a:solidFill>
              </a:rPr>
              <a:t>You are now ready to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B2A5A"/>
                </a:solidFill>
              </a:rPr>
              <a:t>Write ✍️  •  Speak 🎤  •  Debate ⚔️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3474720"/>
            <a:ext cx="2286000" cy="411480"/>
          </a:xfrm>
          <a:prstGeom prst="roundRect">
            <a:avLst>
              <a:gd name="adj" fmla="val 22222"/>
            </a:avLst>
          </a:prstGeom>
          <a:solidFill>
            <a:srgbClr val="1B2A5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474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Article: Inform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0" y="3474720"/>
            <a:ext cx="2286000" cy="411480"/>
          </a:xfrm>
          <a:prstGeom prst="roundRect">
            <a:avLst>
              <a:gd name="adj" fmla="val 22222"/>
            </a:avLst>
          </a:prstGeom>
          <a:solidFill>
            <a:srgbClr val="1B2A5A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3474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Speech: Inspire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3474720"/>
            <a:ext cx="2286000" cy="411480"/>
          </a:xfrm>
          <a:prstGeom prst="roundRect">
            <a:avLst>
              <a:gd name="adj" fmla="val 22222"/>
            </a:avLst>
          </a:prstGeom>
          <a:solidFill>
            <a:srgbClr val="1B2A5A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3474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Debate: Persuade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Prepared for CBSE Class 6 | English | 40-Minute Session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Writing Skills – Article, Speech &amp; Debate | Class 6 CBSE</dc:title>
  <dc:subject>PptxGenJS Presentation</dc:subject>
  <dc:creator>PptxGenJS</dc:creator>
  <cp:lastModifiedBy>PptxGenJS</cp:lastModifiedBy>
  <cp:revision>1</cp:revision>
  <dcterms:created xsi:type="dcterms:W3CDTF">2026-05-14T18:27:53Z</dcterms:created>
  <dcterms:modified xsi:type="dcterms:W3CDTF">2026-05-14T18:27:53Z</dcterms:modified>
</cp:coreProperties>
</file>